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2"/>
  </p:notesMasterIdLst>
  <p:sldIdLst>
    <p:sldId id="256" r:id="rId5"/>
    <p:sldId id="301" r:id="rId6"/>
    <p:sldId id="302" r:id="rId7"/>
    <p:sldId id="303" r:id="rId8"/>
    <p:sldId id="309" r:id="rId9"/>
    <p:sldId id="310" r:id="rId10"/>
    <p:sldId id="311" r:id="rId11"/>
    <p:sldId id="312" r:id="rId12"/>
    <p:sldId id="313" r:id="rId13"/>
    <p:sldId id="257" r:id="rId14"/>
    <p:sldId id="263" r:id="rId15"/>
    <p:sldId id="316" r:id="rId16"/>
    <p:sldId id="329" r:id="rId17"/>
    <p:sldId id="318" r:id="rId18"/>
    <p:sldId id="262" r:id="rId19"/>
    <p:sldId id="259" r:id="rId20"/>
    <p:sldId id="260" r:id="rId21"/>
    <p:sldId id="264" r:id="rId22"/>
    <p:sldId id="266" r:id="rId23"/>
    <p:sldId id="268"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17" r:id="rId49"/>
    <p:sldId id="319" r:id="rId50"/>
    <p:sldId id="258" r:id="rId51"/>
    <p:sldId id="320" r:id="rId52"/>
    <p:sldId id="321" r:id="rId53"/>
    <p:sldId id="261" r:id="rId54"/>
    <p:sldId id="323" r:id="rId55"/>
    <p:sldId id="324" r:id="rId56"/>
    <p:sldId id="325" r:id="rId57"/>
    <p:sldId id="326" r:id="rId58"/>
    <p:sldId id="327" r:id="rId59"/>
    <p:sldId id="328" r:id="rId60"/>
    <p:sldId id="322" r:id="rId61"/>
    <p:sldId id="265" r:id="rId62"/>
    <p:sldId id="267" r:id="rId63"/>
    <p:sldId id="353" r:id="rId64"/>
    <p:sldId id="354" r:id="rId65"/>
    <p:sldId id="331" r:id="rId66"/>
    <p:sldId id="347" r:id="rId67"/>
    <p:sldId id="345" r:id="rId68"/>
    <p:sldId id="343" r:id="rId69"/>
    <p:sldId id="368" r:id="rId70"/>
    <p:sldId id="356" r:id="rId71"/>
    <p:sldId id="348" r:id="rId72"/>
    <p:sldId id="349" r:id="rId73"/>
    <p:sldId id="351" r:id="rId74"/>
    <p:sldId id="369" r:id="rId75"/>
    <p:sldId id="370" r:id="rId76"/>
    <p:sldId id="371" r:id="rId77"/>
    <p:sldId id="373" r:id="rId78"/>
    <p:sldId id="374" r:id="rId79"/>
    <p:sldId id="372" r:id="rId80"/>
    <p:sldId id="355" r:id="rId81"/>
    <p:sldId id="346" r:id="rId82"/>
    <p:sldId id="344" r:id="rId83"/>
    <p:sldId id="357" r:id="rId84"/>
    <p:sldId id="358" r:id="rId85"/>
    <p:sldId id="375" r:id="rId86"/>
    <p:sldId id="377" r:id="rId87"/>
    <p:sldId id="378" r:id="rId88"/>
    <p:sldId id="382" r:id="rId89"/>
    <p:sldId id="383" r:id="rId90"/>
    <p:sldId id="384" r:id="rId91"/>
    <p:sldId id="379" r:id="rId92"/>
    <p:sldId id="385" r:id="rId93"/>
    <p:sldId id="386" r:id="rId94"/>
    <p:sldId id="387" r:id="rId95"/>
    <p:sldId id="388" r:id="rId96"/>
    <p:sldId id="389" r:id="rId97"/>
    <p:sldId id="390" r:id="rId98"/>
    <p:sldId id="391" r:id="rId99"/>
    <p:sldId id="395" r:id="rId100"/>
    <p:sldId id="396" r:id="rId10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74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02F613-5359-4577-B99D-27090C5752B8}" v="1" dt="2026-04-10T11:29:08.7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87136" autoAdjust="0"/>
  </p:normalViewPr>
  <p:slideViewPr>
    <p:cSldViewPr snapToGrid="0" snapToObjects="1">
      <p:cViewPr varScale="1">
        <p:scale>
          <a:sx n="127" d="100"/>
          <a:sy n="127" d="100"/>
        </p:scale>
        <p:origin x="96" y="-480"/>
      </p:cViewPr>
      <p:guideLst/>
    </p:cSldViewPr>
  </p:slideViewPr>
  <p:outlineViewPr>
    <p:cViewPr>
      <p:scale>
        <a:sx n="66" d="100"/>
        <a:sy n="66" d="100"/>
      </p:scale>
      <p:origin x="0" y="-25488"/>
    </p:cViewPr>
  </p:outlineViewPr>
  <p:notesTextViewPr>
    <p:cViewPr>
      <p:scale>
        <a:sx n="1" d="1"/>
        <a:sy n="1" d="1"/>
      </p:scale>
      <p:origin x="0" y="0"/>
    </p:cViewPr>
  </p:notesTextViewPr>
  <p:sorterViewPr>
    <p:cViewPr>
      <p:scale>
        <a:sx n="100" d="100"/>
        <a:sy n="100" d="100"/>
      </p:scale>
      <p:origin x="0" y="-1096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6/11/relationships/changesInfo" Target="changesInfos/changesInfo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ulík Vojtěch (226186)" userId="a67e529f-6d6a-4e84-a1c0-fa3e153e36ef" providerId="ADAL" clId="{92E61DFC-F3E8-4B74-B0B8-B4F814C41181}"/>
    <pc:docChg chg="custSel modSld">
      <pc:chgData name="Houlík Vojtěch (226186)" userId="a67e529f-6d6a-4e84-a1c0-fa3e153e36ef" providerId="ADAL" clId="{92E61DFC-F3E8-4B74-B0B8-B4F814C41181}" dt="2026-04-10T11:29:29.368" v="2" actId="20577"/>
      <pc:docMkLst>
        <pc:docMk/>
      </pc:docMkLst>
      <pc:sldChg chg="delSp mod">
        <pc:chgData name="Houlík Vojtěch (226186)" userId="a67e529f-6d6a-4e84-a1c0-fa3e153e36ef" providerId="ADAL" clId="{92E61DFC-F3E8-4B74-B0B8-B4F814C41181}" dt="2026-04-10T11:19:25.677" v="0" actId="478"/>
        <pc:sldMkLst>
          <pc:docMk/>
          <pc:sldMk cId="2771029321" sldId="357"/>
        </pc:sldMkLst>
        <pc:spChg chg="del">
          <ac:chgData name="Houlík Vojtěch (226186)" userId="a67e529f-6d6a-4e84-a1c0-fa3e153e36ef" providerId="ADAL" clId="{92E61DFC-F3E8-4B74-B0B8-B4F814C41181}" dt="2026-04-10T11:19:25.677" v="0" actId="478"/>
          <ac:spMkLst>
            <pc:docMk/>
            <pc:sldMk cId="2771029321" sldId="357"/>
            <ac:spMk id="9" creationId="{6ED2D195-92F5-E474-1DE3-49C70108BCB5}"/>
          </ac:spMkLst>
        </pc:spChg>
      </pc:sldChg>
      <pc:sldChg chg="modSp mod">
        <pc:chgData name="Houlík Vojtěch (226186)" userId="a67e529f-6d6a-4e84-a1c0-fa3e153e36ef" providerId="ADAL" clId="{92E61DFC-F3E8-4B74-B0B8-B4F814C41181}" dt="2026-04-10T11:29:29.368" v="2" actId="20577"/>
        <pc:sldMkLst>
          <pc:docMk/>
          <pc:sldMk cId="992243972" sldId="389"/>
        </pc:sldMkLst>
        <pc:spChg chg="mod">
          <ac:chgData name="Houlík Vojtěch (226186)" userId="a67e529f-6d6a-4e84-a1c0-fa3e153e36ef" providerId="ADAL" clId="{92E61DFC-F3E8-4B74-B0B8-B4F814C41181}" dt="2026-04-10T11:29:29.368" v="2" actId="20577"/>
          <ac:spMkLst>
            <pc:docMk/>
            <pc:sldMk cId="992243972" sldId="389"/>
            <ac:spMk id="28" creationId="{98DDC896-5DBA-D25F-2E18-A2EC0C9CFA2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A9AC767-7E78-44A2-B8B5-E1B3B113B1CB}" type="datetimeFigureOut">
              <a:t>4/10/2026</a:t>
            </a:fld>
            <a:endParaRPr lang="en-GB"/>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7A86579A-8856-4CF9-8B50-0C271442EF56}" type="slidenum">
              <a:t>‹#›</a:t>
            </a:fld>
            <a:endParaRPr lang="en-GB"/>
          </a:p>
        </p:txBody>
      </p:sp>
    </p:spTree>
    <p:extLst>
      <p:ext uri="{BB962C8B-B14F-4D97-AF65-F5344CB8AC3E}">
        <p14:creationId xmlns:p14="http://schemas.microsoft.com/office/powerpoint/2010/main" val="701576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9EE34-5230-1EA1-4B25-B32CF1470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3EC7E-DA9B-26C3-CD4E-F736C0F81C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1B6962-878C-76D7-2D29-59F3CDA9C3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13DDAA-7576-8DFF-4E20-0CA4CF6989B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984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84F39-298B-BA45-8E36-9B9D4C03B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EAA9E-0377-322C-5D3E-079C5FF3CF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3EFB60-5B0C-94B4-F030-5B17629417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64A91E-300E-3245-986A-C22E70384E6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69389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3FC9E-032D-9CE8-8D6E-5DF3C4E1E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4B743-6FB7-EB20-9815-8EF96E7A5E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AFEBEC-B2CF-B76B-8833-A53B599F52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79089F-7F06-E840-D847-6D597464835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4958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D7F3-00C6-9379-0906-9806205CF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3A73F-C835-E026-A282-DB1ADC0E8F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05B89C-0621-C28B-BB15-CA96BA0740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A2308A-55F8-00B7-541A-102164464A7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37707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D1578-CE11-E7BE-7613-72F1B3E59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2C3DE-5A9D-9FD5-A0A9-C1148DBF64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F553F0E-6FB0-6F25-7A13-2DF18CF06D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51BEBD-0EBD-4C11-C2EF-6136B1B56BD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40304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77E07-0C2B-EBD3-E81D-B71176161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78E41-C914-CED1-6F69-B10DF31511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13DF39-7210-34D1-B8A4-321E3B58E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35D84-AE7C-F09A-0053-19C7446927E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90340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F43A-0EFF-5029-2BFC-338ABED32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51412-44FD-6FAE-6874-E45D881721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05C470-2417-3E07-CBF9-464037F8E8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F276B8-08A6-9C5B-7273-38603C32B63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30591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F6319-337B-D8C8-4C0D-491548BE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6C0E51-503C-E5A6-85AA-2A6A40705F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762A7B-CB4B-8C2E-DDD7-45707AA361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2E0757-B223-5387-7EFE-E41A189D567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9157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7833-3CA2-C987-1BFD-6F320831F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A58B7-4D3A-BACF-5C20-3182B4481E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A35930-657F-A31F-15AF-A190090A8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18C640-AF50-F963-0BFD-44B1E5CD8DD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37400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81A58-D04A-0F9A-566F-112DE2A34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8F306-C5E0-4D41-9915-FDC9C88AE4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45B18D-A58C-2372-3B1B-205068D37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5DB9E2-40C7-E283-74D2-C81CED946D1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08977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BBD42-4435-4BCF-B38C-D7E791C44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05A67-137C-C141-90D0-8BA3361647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2BE700-A57A-ED75-9486-F6A600D8C3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6486A-77BD-F23C-D9C9-B66F32EF7AE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15543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ADFE9-7303-5E48-7125-27AAA6AC8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F4731-1C57-2C60-1A43-E0D2BCCEA7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AB08ED-E7C9-A20B-EC88-62F92D5E7E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109844-4702-5B39-8981-5809ACB94A9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808374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2B953-5FD3-C397-8D6C-A664C1195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9D9D9-75CA-BA64-2682-C6846877BD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192D2A-E60E-84E8-4FBB-BD66A97473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52BE91-3591-A3CB-E6B9-9112E3C58DA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68798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D850-0E82-4359-9C6E-6351F0C03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865C7-EBEC-4568-C56B-F5766D97CD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F4D6D4-637E-B59A-7452-893FDFC1A3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54D3AF-0F89-1B48-79B7-8AD7FE04359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985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5923A-A4A6-273C-EE37-7197C9467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94F73-B61D-9051-B135-95439842BA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3BDDE9-4CBD-2232-3379-E61BB73F4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62BA64-CCE7-028A-E3FD-832E3D1C3F5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0071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E95F-B61B-8D96-06CC-50761CAEF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B4343-5CC7-4B14-26D6-C8261EC86D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2AF7C3-C8FB-04CC-E7D7-84A5BE53C1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CD643-9F8F-C272-0E74-65B2FB6CF8B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92321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4A6D-B9F8-C2B6-A0FC-46CBD317F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73746-DA13-5BF0-8F3C-50DDA2D8DD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AC774F-4CD9-059F-78F1-9C64789B65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6C6970-BB15-7925-4F3F-FC2914E36C6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36293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5C07-72D7-1735-FDAC-2F48A90DD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06628-29DC-890A-1F11-15F9ABE631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EB8CB1-CE82-B856-8721-DA055FBAD4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282CD6-9B1D-1409-DB8F-7C671849C87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147003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9D81F-19E9-92DA-5B13-3969574C8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2C235-E883-D71C-91D3-BAB2DD6CF7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C80772-5B95-0770-B7DF-E5717D96E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CF56C-E3CD-D46F-70E1-B2F4ABDC816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31173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4C6A-2138-C0FC-7764-BE40EF21C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88DCE-2F30-BD71-6289-DC714143FA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A7C649-DDAC-DF24-FE40-6C60B92814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34CD2-246F-D783-7138-1F5C0C8F198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30174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8CF09-B1F7-D1A3-2223-7A85212B0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31628-A03B-35FC-1540-80D479E21C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A7DAD3-628B-FC1E-CA9A-A39A346C5B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BD8FCD-7B69-D473-363C-D6383CA139FA}"/>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399547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E9CC8-CB5B-0C00-677D-34A73C76E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FABE2-2FE0-7968-D0D1-A0EED618D4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E9027D-2A95-38CA-A76B-BDDC6D26A3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223979-A657-05B6-DD7C-885D2D412FE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6580836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40EFF-2648-3297-D805-36B858502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FD2D9-C2CE-24B7-E7A4-A847A5BCE2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F67F3F-493C-24F9-073E-0E5BFAA811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F06338-AD4E-FD0F-5C62-6C8D9D96FD13}"/>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707584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0EB56-87AB-C290-375B-E349F9239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46C04-E9C9-356A-088C-759C7B0E52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429FDE-F9EF-F5B2-847A-A9DDAD752E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C7E4B2-AA4D-27D9-B07D-BA9F74BC1DA8}"/>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380426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356EF-2A8C-A278-1489-D00B92FE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7D6AF-A6D8-7063-A7A4-381F59B82C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36C66A-7274-8AE7-16E4-BAE9534FE8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1D7B35-728D-5F27-FCDC-6009852D4C50}"/>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635376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81A6-BF9F-1935-A5F2-195895474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1C91C-5386-C56F-A7B2-361F298AEF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17C343-5169-86D9-39D5-777530527D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DBE733-B1E9-2B9D-B80F-E1241F69A55E}"/>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689345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75461-7E11-03DD-DA83-04D2250D8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CA465-51AD-C764-1BFF-FE3FA3875E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DD1347-B27A-3759-8E13-E651A0D516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E05598-5CAF-281C-C9E6-3DE01CAAFE2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982186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BAB7-C2F0-FCFD-563A-516018642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D4509-611B-D943-148B-ADC15D969D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6818C4-5622-8323-C4F6-FF2FBD1E3C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CDE114-53A9-DE93-4FE5-CA4B0B234DDF}"/>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3478936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8F9C9-003F-517B-E452-325FDBFAF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E4379-8149-4E1E-060B-2E1A230A85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E000CF-F8B6-13CA-92D2-45F8D3BDC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D019C-8D55-AC70-D2C4-0CC562E766E1}"/>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181455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60D74-C158-9B8A-B728-6B7BD2ACA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F221F-BF09-AEAA-062E-7BCA0E2ECF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C51536-1FC1-B1DB-483E-37D5BF539B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576FE0-3152-25FA-3436-0CD9E0BE082E}"/>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394713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970C2-025A-3AD3-AF76-FF6C51E88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91DB9-EEAC-89C3-067C-FD9B852563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FA3941-F967-C0E9-5406-E2C4279F95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AF7D02-4C9C-4E9C-4DD2-26FB984DD276}"/>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832998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7C9D-AE90-0E33-3C25-B45F7E9E5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346F9-5C6C-FE80-F37A-AE44D88D90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BE6CE0-C752-E931-8DF6-B82721DC73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B4DF0F-609F-846B-8358-10C77354F723}"/>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9263590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1E614-EABB-8E3B-8CCD-28E8EE6F2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6E72D-9626-9DD5-4860-BD5B6B2A96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6E6DAF-6F6E-6B05-4BA3-AF03799C0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E7512D-F886-A606-A04B-3A017AA44033}"/>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407826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5172-CEBE-36E8-4776-E0B590A51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F8353-29CF-3A91-CA16-25107F775D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720147-5524-BEE6-DE8E-CA2D71A74F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C6050B-7072-F706-F845-05BBEF9EF44C}"/>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557852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03A0D-1FC8-FD62-047F-DD11F87A5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50380-39FF-CC17-B455-924D774A18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B258C6-49C5-52C5-BE9C-C1740DB065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830C09-3882-73D2-C121-13BCC82B09CF}"/>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4562946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9E83E-469B-7B09-0D92-8EC93B88B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DBC73-EF81-771E-66BE-18026B79B5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95803D-4535-0F95-68D5-848A967D92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E37FE8-0ABA-07EE-7454-D06C3AF18EE9}"/>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46349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DF837-E445-6652-8503-53686400B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2669B-581C-1F47-BED5-7CEF9A59B4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0336C0-CEBB-CD10-910D-0F1F58433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70517A-1EDF-0874-60F5-EA1A72D4C3D5}"/>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848564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A3FA9-91D5-C88B-D25B-6AC7470D9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8D9C7-0C18-D651-BB03-4D13E3DBBC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47EB5E-80A2-C5B3-A580-8D30CF2D2C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94C0C6-620B-7A7C-A7D3-1D1FA395AAFF}"/>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2023387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7E1B8-CB0D-35AA-C845-1863588D8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A9982-4C46-B23F-43E1-B793B01516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205ACF-A906-9AA1-F746-07F9BE0034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50A2BD-5D4A-389D-087E-03F630A2ABED}"/>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9401217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36EE-57BB-8306-3933-EB6AC4AA5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1EBB5-8079-F222-CCBB-C701A308EC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60CBDE-15A6-D212-2DEF-F49C8A5E34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69E57-1422-C1D8-9536-1AB02198D975}"/>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656393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65C3F-CEF6-9B00-919B-A7C07D382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EB48B-323B-1A69-7D2B-B7E8CA741A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45F492-C007-67C8-D812-ACB22EFFCB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D98EC5-09FB-FBFA-A62B-EB0C5C0AD3C7}"/>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501795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37797-9CA1-8CC6-9201-5C5E8E6CF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46291-739E-94CB-5E23-6F5F7B443C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BE8CEF-87E7-14B0-35FB-BFC7F9F8AA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B12278-F07E-4652-93AE-5B9F90C1C4CC}"/>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39972290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C4F11-87EF-A2C2-BB5C-510529134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73D9B-EA99-DCED-601E-17358278C0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5C25F2-46A9-1643-55E1-5B6C78FF68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7E8D37-D89F-08DD-C242-B8E168799CF6}"/>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7328968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43486-3585-AF6A-4139-B1C175602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5BCB1-5A16-E5AC-7F3B-9795EA8324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4F3C08-30FD-E7A6-C87A-87A16F8B94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2416B3-705F-BE6C-3C1E-AA99CF0529D2}"/>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26161993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89F3-AE0E-E456-595C-602B639A4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1F3D7-BB85-7D93-AB01-400FC86806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B8358-6749-C3D5-7087-41E930FB97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4BA11-B8E5-E462-80E2-526C8F10A35A}"/>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5301714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7B7D-6C96-F5C4-2547-1A5954C55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73400-490C-A4A8-9C2E-C9AF4CAB12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1C1049-C748-29AB-62A9-DC46B1763B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37126D-1310-C570-B2C4-027D2C9A7621}"/>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2182292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BFE03-48F5-396B-3213-DF48B202B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0E9B3-AF0A-F630-F7D7-AB84A333F5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63098B-CB9E-604B-1330-BBB1749CF8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74C525-988B-3FF0-BD87-E236500DB4A7}"/>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2100655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69072-ACBB-FC17-0AD0-0AEFC7B79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C4774-DB22-83BB-DF06-D03EB2CA1B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7722DB-6432-E0DA-6363-1AE0840647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C3D7FB-AD51-5009-DEC6-0157160C2CA1}"/>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38782419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476DE-AFC7-0539-BF62-A4D6EB121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6BEC2-C34B-5356-615B-B853741648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4B35C3-434D-6BFF-9D8E-12D7A58E68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4CBBD-355E-96A7-DEDA-B94A34D06ED9}"/>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40815918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7976A-FA67-54A2-8BAB-464B834E3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889BE-4A30-1141-FA3C-CF445B814A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5169BF-0CCC-50B1-DB2E-7A0C4D7336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503458-D06A-F6FB-899F-43DB8EC014EC}"/>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2738458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F08F2-070A-8534-33AC-B41993CF1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47469-96AC-0A7E-2E65-3290D71868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CDFAC5-8FD8-21AE-1D2F-5C51ED6D64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15E004-7C6A-3F72-2244-2C2753EE4F92}"/>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3449215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7200-FD31-D245-66CD-02D9CC524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701C5-0419-DF57-DE5C-2D23636F62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C96191-46E6-9AA0-405F-59194DDCD3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6C62B2-B886-D945-6621-3029587FCACA}"/>
              </a:ext>
            </a:extLst>
          </p:cNvPr>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28919971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C9F38-54D0-75A4-2D9B-4160AC01F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F90A9-0BAC-E1FF-9D1A-F544BE6A53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16330A-80A1-4A95-1D33-219055029A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41F291-5F3E-9B97-9197-79ED48557415}"/>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27016478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6AA57-F0D6-1827-23E9-96C8D680D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B0B88-E063-B1EC-1230-C8E1F46012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EA2987-0931-D30F-CDEB-FB096E129C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5E6964-9BE5-3E8F-B371-C6E61B80A0AD}"/>
              </a:ext>
            </a:extLst>
          </p:cNvPr>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20727555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A6BA5-985C-C08B-9B99-393AB31D9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EF162-9E77-5F3A-CFBE-86B5387144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31A0D3-89D5-08A4-8641-133FEBBD8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4870B8-E705-097B-3769-AE8ADD7A0911}"/>
              </a:ext>
            </a:extLst>
          </p:cNvPr>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824552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740FC-AF24-6783-E41B-7FC981FF4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755E9-8C6C-6214-F392-484FF5B71C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471282-B399-276A-AAEE-1B3ACDF091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10825-7BFD-0548-D786-9768589B7094}"/>
              </a:ext>
            </a:extLst>
          </p:cNvPr>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24896535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81E1-44E2-1B83-2071-B16309EAB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BEDAC-270A-2E18-F961-375F821B95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FA583D-1AB3-6E94-AEF5-29F7F26E97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1887C2-D82A-5342-349C-6C1A1B2AA9A3}"/>
              </a:ext>
            </a:extLst>
          </p:cNvPr>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197629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93EF4-EFB8-FCE9-1240-444279342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F0759-DCAB-EA6E-70CB-91D7B26CBC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91CE98-24D0-A005-3E23-48E73EDF44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05D86B-3B8E-9F46-B363-CB12D0618E4C}"/>
              </a:ext>
            </a:extLst>
          </p:cNvPr>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21442234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6DD5-E6DC-720B-2E19-322BCE5BB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E2405-1131-E153-8785-AED50EC4C2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69542E-FDCA-EF47-8A7E-A496F8DDF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2738C1-502B-5F3E-184D-3D78B334DD06}"/>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29734728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60FD-76E2-D734-9BAC-A7595A8AD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C3099-722E-52FA-BFD4-C68FF5263D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12CCBB-A689-B7D5-8019-CABC8DD37B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FDE83F-6F90-9252-627D-1148DD333902}"/>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61948900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BE352-B3DA-4CF9-A4DD-878FE0907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D1EB7-1FBE-8AF6-5546-1E81922283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3281C3-4C64-BF07-9F64-586E2EF62347}"/>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AFF168F5-333E-3C8E-5008-40C25F4C919B}"/>
              </a:ext>
            </a:extLst>
          </p:cNvPr>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7834008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C8BD6-BFBD-26F7-7902-DB6CB4C34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3E27B-22E3-B854-D10E-3FA8B18662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9D95F1-DA1E-0F7B-02B0-8CF458BD6A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29D5C-407A-D565-375E-EC72B182AD88}"/>
              </a:ext>
            </a:extLst>
          </p:cNvPr>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31860961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B9485-802B-D42A-6B55-FA1E0597A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33827-F6F4-CF8E-ED33-C2ADB53E9B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E88AD5-0035-F608-D0C8-384465E86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197431-A4E9-B673-9920-AC384982BDB9}"/>
              </a:ext>
            </a:extLst>
          </p:cNvPr>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269256368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7E5B-5DA0-F620-01C7-C87994FA5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30A3A-5C50-F939-F95C-FB7B5E4ECE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D213B2-2DA4-CA71-6DA5-AA3E965D5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5B7313-6BD8-1B6D-3A08-1EB6DA4EB195}"/>
              </a:ext>
            </a:extLst>
          </p:cNvPr>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409258110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AD972-E248-7DE7-5EDC-5BD077EB7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EB97B-FE5F-ED08-E295-4F42B47DB4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B8B467-1AE1-C791-197A-BE74C8BA9B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E4D194-671B-9D2D-E3BB-E67CB07CE53E}"/>
              </a:ext>
            </a:extLst>
          </p:cNvPr>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750298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D53E-F7FC-03FE-A906-9D7E4DE01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4F452-C1F0-72BE-D3E4-1EE4B04FC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F2836-223A-9B1E-4122-67894F5788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343CC8-312E-4F9F-7144-A29A458F9DE3}"/>
              </a:ext>
            </a:extLst>
          </p:cNvPr>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288011287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144FE-80CD-16CC-D59D-AA9650ABA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A07F7-5EDC-6075-846B-1F258EEDB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1B9B83-27BC-2205-0461-5BF66AAFB9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BF71E-71B5-2E2C-F449-4E9CEA795C2D}"/>
              </a:ext>
            </a:extLst>
          </p:cNvPr>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347635477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8E092-25FC-0FAE-9557-31A798056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4497E-3474-547C-8F0E-57AEA09FD7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43494E-53FC-EB1C-1002-3917E777C0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D4A9EE-263C-D476-E4C0-E600D96987DD}"/>
              </a:ext>
            </a:extLst>
          </p:cNvPr>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350277899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C5261-F416-5286-9761-FD09868A3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0FE21-DFCD-558F-4454-EBD41855B6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D2D70E-0840-C2F4-6D58-AB9EA6657C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96F59E-D9C5-3504-2EBC-208F704376C6}"/>
              </a:ext>
            </a:extLst>
          </p:cNvPr>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206726697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5CFE7-571E-E270-DABF-03C778135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4982B-91D7-600B-B113-F5AD442715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E8A453-DD68-F564-47C6-E1C193F2B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E77D0-EBC7-4D0C-6AF7-89CEE79849EC}"/>
              </a:ext>
            </a:extLst>
          </p:cNvPr>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31867298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E2867-87C8-2CED-3AC0-B1FE6BDB7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53358-E61A-0DD5-B7A2-DB1FA1E9DA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673792-DB82-2185-14EE-1CBFAAE8AA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9A118-1533-04B9-FB2E-E5CD60A2999E}"/>
              </a:ext>
            </a:extLst>
          </p:cNvPr>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76020271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F6F75-3456-FF30-2B85-F0E4094FE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7018-8D2F-4A41-4B79-CCBB09DD1F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D0A40D-7C53-7691-86B6-67C05407FE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AFB7F0-4CE1-FB92-117F-0112EB80CCA4}"/>
              </a:ext>
            </a:extLst>
          </p:cNvPr>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44721972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0769F-C877-C468-1E14-B3E19ADBD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43E7F-46A3-78DA-5FDE-0AB19CFA3E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D69AA7-EC2E-5D31-BBDE-A78B4ED55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7C59B6-2448-66CC-9DA7-33465FF0E195}"/>
              </a:ext>
            </a:extLst>
          </p:cNvPr>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42774549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CD113-B6DD-5518-9941-734EC79D9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5535-3709-5B18-ED16-C9C7F63CAA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D54D07-9886-37C9-7D49-EAD38DF04F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0811CA-047D-43DE-6C8C-C29313ADB424}"/>
              </a:ext>
            </a:extLst>
          </p:cNvPr>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60407653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72995-88A8-B424-E556-E8C8C395B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49C48-0511-F574-EBBA-3F7011BAEB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1FA341-04C6-890C-F5AD-4195531164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DA172D-E4F3-E73B-34DD-133FE9E05D6D}"/>
              </a:ext>
            </a:extLst>
          </p:cNvPr>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15985582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9C3D3-D93A-8460-16CD-2DD5F475F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D7120-AC18-8280-562A-C1B79B6FB5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37052F-5CF3-B3E6-E531-464F4DF9D8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9D485-0690-2FD7-D968-A2FF2F1F5862}"/>
              </a:ext>
            </a:extLst>
          </p:cNvPr>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637542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STER">
    <p:bg>
      <p:bgPr>
        <a:solidFill>
          <a:srgbClr val="F1F2F4"/>
        </a:solidFill>
        <a:effectLst/>
      </p:bgPr>
    </p:bg>
    <p:spTree>
      <p:nvGrpSpPr>
        <p:cNvPr id="1" name=""/>
        <p:cNvGrpSpPr/>
        <p:nvPr/>
      </p:nvGrpSpPr>
      <p:grpSpPr>
        <a:xfrm>
          <a:off x="0" y="0"/>
          <a:ext cx="0" cy="0"/>
          <a:chOff x="0" y="0"/>
          <a:chExt cx="0" cy="0"/>
        </a:xfrm>
      </p:grpSpPr>
      <p:sp>
        <p:nvSpPr>
          <p:cNvPr id="2" name="Shape 0"/>
          <p:cNvSpPr/>
          <p:nvPr/>
        </p:nvSpPr>
        <p:spPr>
          <a:xfrm>
            <a:off x="1" y="0"/>
            <a:ext cx="9143771" cy="651510"/>
          </a:xfrm>
          <a:prstGeom prst="rect">
            <a:avLst/>
          </a:prstGeom>
          <a:solidFill>
            <a:srgbClr val="0B5F84"/>
          </a:solidFill>
          <a:ln w="12700">
            <a:solidFill>
              <a:srgbClr val="0B5F84"/>
            </a:solidFill>
            <a:prstDash val="solid"/>
          </a:ln>
        </p:spPr>
        <p:txBody>
          <a:bodyPr/>
          <a:lstStyle/>
          <a:p>
            <a:endParaRPr lang="en-US" sz="1350"/>
          </a:p>
        </p:txBody>
      </p:sp>
      <p:sp>
        <p:nvSpPr>
          <p:cNvPr id="25" name="Slide Number Placeholder 0"/>
          <p:cNvSpPr>
            <a:spLocks noGrp="1"/>
          </p:cNvSpPr>
          <p:nvPr>
            <p:ph type="sldNum" sz="quarter" idx="4294967295"/>
          </p:nvPr>
        </p:nvSpPr>
        <p:spPr>
          <a:xfrm>
            <a:off x="8538210" y="4855464"/>
            <a:ext cx="342900" cy="123444"/>
          </a:xfrm>
          <a:prstGeom prst="rect">
            <a:avLst/>
          </a:prstGeom>
          <a:extLst>
            <a:ext uri="{C572A759-6A51-4108-AA02-DFA0A04FC94B}">
              <ma14:wrappingTextBoxFlag xmlns:ma14="http://schemas.microsoft.com/office/mac/drawingml/2011/main" xmlns="" val="0"/>
            </a:ext>
          </a:extLst>
        </p:spPr>
        <p:txBody>
          <a:bodyPr/>
          <a:lstStyle>
            <a:lvl1pPr>
              <a:defRPr sz="600">
                <a:solidFill>
                  <a:srgbClr val="6F7D8E"/>
                </a:solidFill>
                <a:latin typeface="Arial"/>
                <a:ea typeface="Arial"/>
                <a:cs typeface="Aria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6481994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hyperlink" Target="https://doi.org/10.6084/m9.figshare.28566545"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hyperlink" Target="https://datadryad.org/dataset/doi:10.6078/D1F671" TargetMode="External"/><Relationship Id="rId4" Type="http://schemas.openxmlformats.org/officeDocument/2006/relationships/hyperlink" Target="https://doi.org/10.6084/m9.figshare.27155988"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doi.org/10.6084/m9.figshare.27155988"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doi.org/10.48804/CZQNUU"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doi.org/10.48804/CZQNUU"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doi.org/10.15146/R3S68S"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hyperlink" Target="https://doi.org/10.6084/m9.figshare.27625509" TargetMode="External"/><Relationship Id="rId4" Type="http://schemas.openxmlformats.org/officeDocument/2006/relationships/hyperlink" Target="https://doi.org/10.13026/zcpz-q137"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doi.org/10.48804/CZQNUU"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doi.org/10.17605/OSF.IO/D465N"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hyperlink" Target="https://doi.org/10.5683/SP2/GNVEM8"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doi.org/10.13026/zcpz-q137"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hyperlink" Target="https://doi.org/10.6084/m9.figshare.27625509"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doi.org/10.5281/zenodo.7669644"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hyperlink" Target="https://doi.org/10.17632/7ggv5vhpwb.1"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doi.org/10.13026/zcpz-q137"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hyperlink" Target="https://doi.org/10.6078/D1G42R"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doi.org/10.48804/CZQNUU"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hyperlink" Target="https://doi.org/10.13026/zcpz-q137"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doi.org/10.6084/m9.figshare.26499595.v2"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hyperlink" Target="https://doi.org/10.17632/7ggv5vhpwb.1"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hyperlink" Target="https://zenodo.org/records/16810954" TargetMode="Externa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mdpi.com/2075-5309/16/3/486" TargetMode="External"/><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hyperlink" Target="https://lirias.kuleuven.be/retrieve/a67f1f3d-2cfc-4994-adc4-7bf896dc6ac8" TargetMode="External"/><Relationship Id="rId13" Type="http://schemas.openxmlformats.org/officeDocument/2006/relationships/hyperlink" Target="https://www.scopus.com/pages/publications/105029960858?origin=resultslist#tab=citedBy" TargetMode="External"/><Relationship Id="rId3" Type="http://schemas.openxmlformats.org/officeDocument/2006/relationships/hyperlink" Target="https://scholar.google.com/scholar?cites=6588092477451393293&amp;as_sdt=2005&amp;sciodt=0,5&amp;hl=en" TargetMode="External"/><Relationship Id="rId7" Type="http://schemas.openxmlformats.org/officeDocument/2006/relationships/hyperlink" Target="https://www.mdpi.com/2075-5309/14/5/1296" TargetMode="External"/><Relationship Id="rId12" Type="http://schemas.openxmlformats.org/officeDocument/2006/relationships/hyperlink" Target="https://openurl.ebsco.com/EPDB%3Agcd%3A2%3A29267090/detailv2?sid=ebsco%3Aplink%3Ascholar-a&amp;id=ebsco%3Agcd%3A180668810&amp;crl=c&amp;jrnl=2158107X&amp;id_token_hint=eyJraWQiOiIxNzY5MTEwMjQ0MDQ3IiwiYWxnIjoiUlMyNTYifQ.eyJzdWIiOiJzMTA5NzgyNC5tYWluIiwiZGV2aWNlX2lkIjoiZTQzZGMxYTYtM2Q2YS00NmRjLWJlN2YtYTUwNzgyMWQ0YWU5IiwiYW1yIjpbImlwIl0sImlzcyI6Imh0dHBzOlwvXC9hdXRoLmVic2NvLnpvbmVcL2FwaVwvZGlzcGF0Y2hlciIsImNsaWVudF9pZCI6ImF3Z3ljSXg1N01yd25EUTVoNFVlNnlDVkVQMHI1TXQ5IiwiYXVkIjpbImh0dHBzOlwvXC9hdXRoLmVic2NvLnpvbmVcL2FwaVwvZGlzcGF0Y2hlciIsImh0dHA6XC9cL2F1dGgtY3h0LW1nci5laG9zdC1saXZlLmVrcy5laG9zdC1saXZlLmVpc2x6LmNvbSIsImh0dHA6XC9cL3hmZi1wcm9jZXNzb3ItamF2YS5laG9zdC1kZXYuZWtzLmVob3N0LWRldnFhLmVpc2x6LmNvbVwvc3dhZ2dlci11aVwvaW5kZXguaHRtbCIsImh0dHBzOlwvXC9hY2Nlc3MtYXBpLmVic2NvLmNvbSIsImF3Z3ljSXg1N01yd25EUTVoNFVlNnlDVkVQMHI1TXQ5Il0sImF6cCI6ImF3Z3ljSXg1N01yd25EUTVoNFVlNnlDVkVQMHI1TXQ5IiwiaWR0IjoiaW5zdGl0dXRpb25hbCIsImV4cCI6MTc3NTczNjA4MCwiaWF0IjoxNzc1NzMyNDgwLCJjbGllbnRfbmFtZSI6IldlYmF1dGggLSBOZXcgRURTIGlkX3Rva2VuIiwianRpIjoiNTAzM2JlMDgtOTgzNy00ZWU0LTlkYzMtNWU4N2U1ODY2OGYwIiwidXNlcm5hbWUiOiJJbnN0aXR1dGlvbmFsVXNlciJ9.I2O0c8Qk1HSk5tSqXFejbA4Ef5kqUffN1_b3zT4GnxyzwZWQ4HsUUrrKIUBFbhoRyyazAPinJ8BhXGMHmK-seixDFuIL0hQimJu2rKzl5dhUSIUwxEn_RmSe5SYV795bNpaviMVyjZxPmv4pEvQsuyFPJ-x4oBhCXhnLKpiMPglVsXOO1w2KeEq_EHqAEk-RVpL3MAy9QqkmWVENBznJ5x88nCHoAZQye4rD98Vb0POrE7h021BaIiqoInAkR58o8aDEbmwbbowBlfJkpwQKPEAvMvmOHzZbImDd_QiUUulDtKg57b1H7Nzs8-3CLHSq_JHn0-pysAJG6leKakHWzQ&amp;link_origin=scholar.google.com"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hyperlink" Target="https://scholar.google.com/scholar?cites=6445154113542872272&amp;as_sdt=2005&amp;sciodt=0,5&amp;hl=en" TargetMode="External"/><Relationship Id="rId11" Type="http://schemas.openxmlformats.org/officeDocument/2006/relationships/hyperlink" Target="https://www.sciencedirect.com/science/article/pii/S0360132324005936" TargetMode="External"/><Relationship Id="rId5" Type="http://schemas.openxmlformats.org/officeDocument/2006/relationships/hyperlink" Target="https://link.springer.com/chapter/10.1007/978-3-031-83833-0_13" TargetMode="External"/><Relationship Id="rId10" Type="http://schemas.openxmlformats.org/officeDocument/2006/relationships/hyperlink" Target="https://scholar.google.com/scholar?cites=3513549743108115713&amp;as_sdt=2005&amp;sciodt=0,5&amp;hl=en" TargetMode="External"/><Relationship Id="rId4" Type="http://schemas.openxmlformats.org/officeDocument/2006/relationships/hyperlink" Target="https://www.mdpi.com/2075-5309/16/3/486" TargetMode="External"/><Relationship Id="rId9" Type="http://schemas.openxmlformats.org/officeDocument/2006/relationships/hyperlink" Target="https://www.aivc.org/resource/occupant-centric-control-non-residential-buildings"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s://www.sciencedirect.com/science/article/pii/S0360132325006237" TargetMode="External"/><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www.sciencedirect.com/science/article/pii/S037877882200041X"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hyperlink" Target="https://lirias.kuleuven.be/retrieve/10481b0f-fb8c-41a8-b050-0ba9ad2e5842" TargetMode="Externa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hyperlink" Target="https://www.sciencedirect.com/science/article/pii/S0360132325006237" TargetMode="External"/><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hyperlink" Target="https://lirias.kuleuven.be/retrieve/10481b0f-fb8c-41a8-b050-0ba9ad2e5842" TargetMode="External"/></Relationships>
</file>

<file path=ppt/slides/_rels/slide9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en-US" noProof="0" dirty="0"/>
          </a:p>
        </p:txBody>
      </p:sp>
      <p:sp>
        <p:nvSpPr>
          <p:cNvPr id="3" name="Text 1"/>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ea typeface="Trebuchet MS" pitchFamily="34" charset="-122"/>
                <a:cs typeface="Trebuchet MS" pitchFamily="34" charset="-120"/>
              </a:rPr>
              <a:t>4 Articles Reviews</a:t>
            </a:r>
            <a:endParaRPr lang="en-US" sz="3600" noProof="0" dirty="0"/>
          </a:p>
        </p:txBody>
      </p:sp>
      <p:sp>
        <p:nvSpPr>
          <p:cNvPr id="5" name="Text 3"/>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2601A-2EEC-4524-F818-AD46A299EA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CFBFD5-2874-DF5D-478F-B1537FCAC687}"/>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E90E04EF-E55D-727A-5A8C-A9127210DFE6}"/>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Trebuchet MS" pitchFamily="34" charset="-122"/>
                <a:cs typeface="Trebuchet MS" pitchFamily="34" charset="-120"/>
              </a:rPr>
              <a:t>ARTICLE #1</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634251C6-9979-2D95-515E-9269BEC7FFDC}"/>
              </a:ext>
            </a:extLst>
          </p:cNvPr>
          <p:cNvSpPr/>
          <p:nvPr/>
        </p:nvSpPr>
        <p:spPr>
          <a:xfrm>
            <a:off x="548640" y="825778"/>
            <a:ext cx="8046720" cy="457200"/>
          </a:xfrm>
          <a:prstGeom prst="rect">
            <a:avLst/>
          </a:prstGeom>
          <a:noFill/>
          <a:ln/>
        </p:spPr>
        <p:txBody>
          <a:bodyPr wrap="square" lIns="0" tIns="0" rIns="0" bIns="0" rtlCol="0" anchor="ctr"/>
          <a:lstStyle/>
          <a:p>
            <a:r>
              <a:rPr lang="en-US" noProof="0" dirty="0"/>
              <a:t>A machine learning approach to predict healthcare associated infections at intensive care unit admission: findings from the SPIN-UTI project</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527C6116-0B1D-993E-C91A-1E3469B1D9A1}"/>
              </a:ext>
            </a:extLst>
          </p:cNvPr>
          <p:cNvSpPr/>
          <p:nvPr/>
        </p:nvSpPr>
        <p:spPr>
          <a:xfrm>
            <a:off x="548640" y="1338362"/>
            <a:ext cx="8046720" cy="274320"/>
          </a:xfrm>
          <a:prstGeom prst="rect">
            <a:avLst/>
          </a:prstGeom>
          <a:noFill/>
          <a:ln/>
        </p:spPr>
        <p:txBody>
          <a:bodyPr wrap="square" lIns="0" tIns="0" rIns="0" bIns="0" rtlCol="0" anchor="ctr"/>
          <a:lstStyle/>
          <a:p>
            <a:pPr marL="0" indent="0">
              <a:buNone/>
            </a:pPr>
            <a:r>
              <a:rPr lang="en-US" sz="1050" i="1" noProof="0" dirty="0" err="1">
                <a:solidFill>
                  <a:srgbClr val="64748B"/>
                </a:solidFill>
                <a:latin typeface="Calibri"/>
                <a:ea typeface="Calibri"/>
                <a:cs typeface="Calibri"/>
              </a:rPr>
              <a:t>Barchitta</a:t>
            </a:r>
            <a:r>
              <a:rPr lang="en-US" sz="1050" i="1" noProof="0" dirty="0">
                <a:solidFill>
                  <a:srgbClr val="64748B"/>
                </a:solidFill>
                <a:latin typeface="Calibri"/>
                <a:ea typeface="Calibri"/>
                <a:cs typeface="Calibri"/>
              </a:rPr>
              <a:t> et al., 2021, Journal of Hospital Infection</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1B3D7F22-CCE5-9302-2ECB-1045C00D6ED6}"/>
              </a:ext>
            </a:extLst>
          </p:cNvPr>
          <p:cNvSpPr/>
          <p:nvPr/>
        </p:nvSpPr>
        <p:spPr>
          <a:xfrm>
            <a:off x="545122" y="3637866"/>
            <a:ext cx="8058065" cy="130259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855AF2AC-83B7-BCAD-0303-372EAB29988B}"/>
              </a:ext>
            </a:extLst>
          </p:cNvPr>
          <p:cNvSpPr/>
          <p:nvPr/>
        </p:nvSpPr>
        <p:spPr>
          <a:xfrm>
            <a:off x="548640" y="3629166"/>
            <a:ext cx="54864" cy="1302592"/>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02E90AED-9072-30A2-F1FE-6AF7CA63192D}"/>
              </a:ext>
            </a:extLst>
          </p:cNvPr>
          <p:cNvSpPr/>
          <p:nvPr/>
        </p:nvSpPr>
        <p:spPr>
          <a:xfrm>
            <a:off x="731520" y="3724170"/>
            <a:ext cx="7688788" cy="1192400"/>
          </a:xfrm>
          <a:prstGeom prst="rect">
            <a:avLst/>
          </a:prstGeom>
          <a:noFill/>
          <a:ln/>
        </p:spPr>
        <p:txBody>
          <a:bodyPr wrap="square" rtlCol="0" anchor="t"/>
          <a:lstStyle/>
          <a:p>
            <a:pPr algn="just"/>
            <a:r>
              <a:rPr lang="en-US" sz="1000" b="1" kern="0" spc="200" noProof="0" dirty="0">
                <a:solidFill>
                  <a:srgbClr val="0D9488"/>
                </a:solidFill>
              </a:rPr>
              <a:t>INTENTION / RESEARCH QUESTION</a:t>
            </a:r>
          </a:p>
          <a:p>
            <a:pPr algn="just"/>
            <a:endParaRPr lang="en-US" sz="1000" b="1" kern="0" spc="200" noProof="0" dirty="0">
              <a:solidFill>
                <a:srgbClr val="0D9488"/>
              </a:solidFill>
            </a:endParaRPr>
          </a:p>
          <a:p>
            <a:pPr algn="just"/>
            <a:r>
              <a:rPr lang="en-US" sz="1000" noProof="0" dirty="0">
                <a:solidFill>
                  <a:srgbClr val="64748B"/>
                </a:solidFill>
              </a:rPr>
              <a:t>Can machine learning predict which ICU patients will develop a healthcare-associated infection, using information available right at the time of admission?</a:t>
            </a:r>
          </a:p>
        </p:txBody>
      </p:sp>
      <p:sp>
        <p:nvSpPr>
          <p:cNvPr id="24" name="Shape 22">
            <a:extLst>
              <a:ext uri="{FF2B5EF4-FFF2-40B4-BE49-F238E27FC236}">
                <a16:creationId xmlns:a16="http://schemas.microsoft.com/office/drawing/2014/main" id="{AAC577FE-678B-7D59-A5DA-3634F2274C0A}"/>
              </a:ext>
            </a:extLst>
          </p:cNvPr>
          <p:cNvSpPr/>
          <p:nvPr/>
        </p:nvSpPr>
        <p:spPr>
          <a:xfrm>
            <a:off x="556468" y="1744251"/>
            <a:ext cx="8046720" cy="1762046"/>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545DEBC0-15C4-3BCC-BEFE-80A546480A6F}"/>
              </a:ext>
            </a:extLst>
          </p:cNvPr>
          <p:cNvSpPr/>
          <p:nvPr/>
        </p:nvSpPr>
        <p:spPr>
          <a:xfrm>
            <a:off x="556468" y="1744251"/>
            <a:ext cx="47036" cy="1762046"/>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DD7E2A01-6E2D-DF32-1040-5F1FA72ED791}"/>
              </a:ext>
            </a:extLst>
          </p:cNvPr>
          <p:cNvSpPr/>
          <p:nvPr/>
        </p:nvSpPr>
        <p:spPr>
          <a:xfrm>
            <a:off x="830788" y="1819275"/>
            <a:ext cx="7589520" cy="1601906"/>
          </a:xfrm>
          <a:prstGeom prst="rect">
            <a:avLst/>
          </a:prstGeom>
          <a:noFill/>
          <a:ln/>
        </p:spPr>
        <p:txBody>
          <a:bodyPr wrap="square" lIns="91440" tIns="45720" rIns="91440" bIns="45720" rtlCol="0" anchor="t"/>
          <a:lstStyle/>
          <a:p>
            <a:pPr algn="just"/>
            <a:r>
              <a:rPr lang="en-US" sz="1000" b="1" kern="0" spc="200" noProof="0" dirty="0">
                <a:solidFill>
                  <a:schemeClr val="accent2"/>
                </a:solidFill>
              </a:rPr>
              <a:t>SUMMARY</a:t>
            </a:r>
            <a:r>
              <a:rPr lang="en-US" sz="1000" b="1" kern="0" spc="200" noProof="0" dirty="0">
                <a:solidFill>
                  <a:srgbClr val="DC2626"/>
                </a:solidFill>
              </a:rPr>
              <a:t>  </a:t>
            </a:r>
          </a:p>
          <a:p>
            <a:pPr algn="just"/>
            <a:endParaRPr lang="en-US" sz="1000" b="1" kern="0" spc="200" noProof="0" dirty="0">
              <a:solidFill>
                <a:srgbClr val="DC2626"/>
              </a:solidFill>
            </a:endParaRPr>
          </a:p>
          <a:p>
            <a:pPr algn="just"/>
            <a:r>
              <a:rPr lang="en-US" sz="1000" noProof="0" dirty="0">
                <a:solidFill>
                  <a:srgbClr val="64748B"/>
                </a:solidFill>
              </a:rPr>
              <a:t>This study looked at whether a machine learning model could better predict which ICU patients are likely to get a hospital-acquired infection (HAI), compared to using a standard scoring system (SAPS II) alone. They used data from over 7,800 ICU patients across Italy and found that their ML model was significantly more accurate.</a:t>
            </a:r>
            <a:endParaRPr lang="en-US" sz="1000" noProof="0" dirty="0"/>
          </a:p>
        </p:txBody>
      </p:sp>
    </p:spTree>
    <p:extLst>
      <p:ext uri="{BB962C8B-B14F-4D97-AF65-F5344CB8AC3E}">
        <p14:creationId xmlns:p14="http://schemas.microsoft.com/office/powerpoint/2010/main" val="239817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26065-33AB-6876-F42A-69406A60A5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B2B80C-A614-B19B-BCAA-DB632297C701}"/>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9884899A-6E43-45D0-7964-CD84F89EDD6F}"/>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#1</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13DBC7F4-2266-8864-3259-9DFAC2DB49E7}"/>
              </a:ext>
            </a:extLst>
          </p:cNvPr>
          <p:cNvSpPr/>
          <p:nvPr/>
        </p:nvSpPr>
        <p:spPr>
          <a:xfrm>
            <a:off x="601272" y="1104548"/>
            <a:ext cx="3840480" cy="2330945"/>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0" name="Shape 8">
            <a:extLst>
              <a:ext uri="{FF2B5EF4-FFF2-40B4-BE49-F238E27FC236}">
                <a16:creationId xmlns:a16="http://schemas.microsoft.com/office/drawing/2014/main" id="{188A8FF7-6E88-3C74-B32A-76785387F932}"/>
              </a:ext>
            </a:extLst>
          </p:cNvPr>
          <p:cNvSpPr/>
          <p:nvPr/>
        </p:nvSpPr>
        <p:spPr>
          <a:xfrm>
            <a:off x="601272" y="1104548"/>
            <a:ext cx="54864" cy="2330945"/>
          </a:xfrm>
          <a:prstGeom prst="rect">
            <a:avLst/>
          </a:prstGeom>
          <a:solidFill>
            <a:srgbClr val="1C7293"/>
          </a:solidFill>
          <a:ln/>
        </p:spPr>
        <p:txBody>
          <a:bodyPr/>
          <a:lstStyle/>
          <a:p>
            <a:pPr algn="just"/>
            <a:endParaRPr lang="en-US" sz="1000" noProof="0" dirty="0"/>
          </a:p>
        </p:txBody>
      </p:sp>
      <p:sp>
        <p:nvSpPr>
          <p:cNvPr id="11" name="Text 9">
            <a:extLst>
              <a:ext uri="{FF2B5EF4-FFF2-40B4-BE49-F238E27FC236}">
                <a16:creationId xmlns:a16="http://schemas.microsoft.com/office/drawing/2014/main" id="{9F8FF530-757A-169C-EE67-0D0BDD457728}"/>
              </a:ext>
            </a:extLst>
          </p:cNvPr>
          <p:cNvSpPr/>
          <p:nvPr/>
        </p:nvSpPr>
        <p:spPr>
          <a:xfrm>
            <a:off x="784152" y="1150268"/>
            <a:ext cx="3520440" cy="2330945"/>
          </a:xfrm>
          <a:prstGeom prst="rect">
            <a:avLst/>
          </a:prstGeom>
          <a:noFill/>
          <a:ln/>
        </p:spPr>
        <p:txBody>
          <a:bodyPr wrap="square" rtlCol="0" anchor="t"/>
          <a:lstStyle/>
          <a:p>
            <a:pPr marL="0" indent="0" algn="just">
              <a:buNone/>
            </a:pPr>
            <a:r>
              <a:rPr lang="en-US" sz="1000" b="1" kern="0" spc="200" noProof="0" dirty="0">
                <a:solidFill>
                  <a:srgbClr val="1C7293"/>
                </a:solidFill>
              </a:rPr>
              <a:t>DATASET</a:t>
            </a:r>
            <a:endParaRPr lang="en-US" sz="1000" noProof="0" dirty="0"/>
          </a:p>
          <a:p>
            <a:pPr marL="171450" indent="-171450" algn="just">
              <a:buFont typeface="Arial" panose="020B0604020202020204" pitchFamily="34" charset="0"/>
              <a:buChar char="•"/>
            </a:pPr>
            <a:r>
              <a:rPr lang="en-US" sz="1000" noProof="0" dirty="0">
                <a:solidFill>
                  <a:srgbClr val="64748B"/>
                </a:solidFill>
              </a:rPr>
              <a:t>Italian SPIN-UTI project, 7,827 patients, multiple ICUs across Italy, 2006–2019</a:t>
            </a:r>
          </a:p>
          <a:p>
            <a:pPr marL="171450" indent="-171450" algn="just">
              <a:buFont typeface="Arial" panose="020B0604020202020204" pitchFamily="34" charset="0"/>
              <a:buChar char="•"/>
            </a:pPr>
            <a:r>
              <a:rPr lang="en-US" sz="1000" b="1" noProof="0" dirty="0">
                <a:solidFill>
                  <a:srgbClr val="64748B"/>
                </a:solidFill>
              </a:rPr>
              <a:t>Variables:</a:t>
            </a:r>
            <a:r>
              <a:rPr lang="en-US" sz="1000" noProof="0" dirty="0">
                <a:solidFill>
                  <a:srgbClr val="64748B"/>
                </a:solidFill>
              </a:rPr>
              <a:t> sex, patient origin, coronary disease treatment, surgical intervention, SAPS II score, invasive devices (urinary catheter, intubation, central venous catheter), trauma, impaired immunity, antibiotic use 48h before admission.</a:t>
            </a:r>
          </a:p>
          <a:p>
            <a:pPr marL="171450" indent="-171450" algn="just">
              <a:buFont typeface="Arial" panose="020B0604020202020204" pitchFamily="34" charset="0"/>
              <a:buChar char="•"/>
            </a:pPr>
            <a:r>
              <a:rPr lang="en-US" sz="1000" b="1" noProof="0" dirty="0">
                <a:solidFill>
                  <a:srgbClr val="64748B"/>
                </a:solidFill>
              </a:rPr>
              <a:t>Predicted:</a:t>
            </a:r>
            <a:r>
              <a:rPr lang="en-US" sz="1000" noProof="0" dirty="0">
                <a:solidFill>
                  <a:srgbClr val="64748B"/>
                </a:solidFill>
              </a:rPr>
              <a:t> whether a patient developed at least one HAI (health associated infection) during ICU stay (yes/no).</a:t>
            </a:r>
            <a:endParaRPr lang="en-US" sz="1000" noProof="0" dirty="0"/>
          </a:p>
        </p:txBody>
      </p:sp>
      <p:sp>
        <p:nvSpPr>
          <p:cNvPr id="12" name="Shape 10">
            <a:extLst>
              <a:ext uri="{FF2B5EF4-FFF2-40B4-BE49-F238E27FC236}">
                <a16:creationId xmlns:a16="http://schemas.microsoft.com/office/drawing/2014/main" id="{0750C0DF-7354-6ACB-0144-54093765F903}"/>
              </a:ext>
            </a:extLst>
          </p:cNvPr>
          <p:cNvSpPr/>
          <p:nvPr/>
        </p:nvSpPr>
        <p:spPr>
          <a:xfrm>
            <a:off x="548640" y="3657277"/>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3" name="Shape 11">
            <a:extLst>
              <a:ext uri="{FF2B5EF4-FFF2-40B4-BE49-F238E27FC236}">
                <a16:creationId xmlns:a16="http://schemas.microsoft.com/office/drawing/2014/main" id="{6513692E-9AF3-D610-10BA-DF03B76E4D16}"/>
              </a:ext>
            </a:extLst>
          </p:cNvPr>
          <p:cNvSpPr/>
          <p:nvPr/>
        </p:nvSpPr>
        <p:spPr>
          <a:xfrm>
            <a:off x="548640" y="3657277"/>
            <a:ext cx="54864" cy="1080000"/>
          </a:xfrm>
          <a:prstGeom prst="rect">
            <a:avLst/>
          </a:prstGeom>
          <a:solidFill>
            <a:srgbClr val="065A82"/>
          </a:solidFill>
          <a:ln/>
        </p:spPr>
        <p:txBody>
          <a:bodyPr/>
          <a:lstStyle/>
          <a:p>
            <a:pPr algn="just"/>
            <a:endParaRPr lang="en-US" sz="1000" noProof="0" dirty="0"/>
          </a:p>
        </p:txBody>
      </p:sp>
      <p:sp>
        <p:nvSpPr>
          <p:cNvPr id="14" name="Text 12">
            <a:extLst>
              <a:ext uri="{FF2B5EF4-FFF2-40B4-BE49-F238E27FC236}">
                <a16:creationId xmlns:a16="http://schemas.microsoft.com/office/drawing/2014/main" id="{76B16CA7-B788-4670-F102-91901F36F134}"/>
              </a:ext>
            </a:extLst>
          </p:cNvPr>
          <p:cNvSpPr/>
          <p:nvPr/>
        </p:nvSpPr>
        <p:spPr>
          <a:xfrm>
            <a:off x="731520" y="3702997"/>
            <a:ext cx="3520440" cy="1080000"/>
          </a:xfrm>
          <a:prstGeom prst="rect">
            <a:avLst/>
          </a:prstGeom>
          <a:noFill/>
          <a:ln/>
        </p:spPr>
        <p:txBody>
          <a:bodyPr wrap="square" rtlCol="0" anchor="t"/>
          <a:lstStyle/>
          <a:p>
            <a:pPr algn="just"/>
            <a:r>
              <a:rPr lang="en-US" sz="1000" b="1" kern="0" spc="200" noProof="0" dirty="0">
                <a:solidFill>
                  <a:srgbClr val="065A82"/>
                </a:solidFill>
              </a:rPr>
              <a:t>MODELS USED</a:t>
            </a:r>
          </a:p>
          <a:p>
            <a:pPr algn="just"/>
            <a:r>
              <a:rPr lang="en-US" sz="1000" noProof="0" dirty="0">
                <a:solidFill>
                  <a:srgbClr val="64748B"/>
                </a:solidFill>
              </a:rPr>
              <a:t>SVM with Gaussian/RBF kernel. Training data were class-imbalanced (far more non-infected patients), so SMOTE was used to generate synthetic infected-patient records for training only. Final testing was on real data only.</a:t>
            </a:r>
            <a:endParaRPr lang="en-US" sz="1000" noProof="0" dirty="0"/>
          </a:p>
        </p:txBody>
      </p:sp>
      <p:sp>
        <p:nvSpPr>
          <p:cNvPr id="15" name="Shape 13">
            <a:extLst>
              <a:ext uri="{FF2B5EF4-FFF2-40B4-BE49-F238E27FC236}">
                <a16:creationId xmlns:a16="http://schemas.microsoft.com/office/drawing/2014/main" id="{C02F8D66-176C-847F-6698-B37E7AF9CBA5}"/>
              </a:ext>
            </a:extLst>
          </p:cNvPr>
          <p:cNvSpPr/>
          <p:nvPr/>
        </p:nvSpPr>
        <p:spPr>
          <a:xfrm>
            <a:off x="4754880" y="1104549"/>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6" name="Shape 14">
            <a:extLst>
              <a:ext uri="{FF2B5EF4-FFF2-40B4-BE49-F238E27FC236}">
                <a16:creationId xmlns:a16="http://schemas.microsoft.com/office/drawing/2014/main" id="{A266FE27-63E6-FFDE-B472-A6F854CDB8B4}"/>
              </a:ext>
            </a:extLst>
          </p:cNvPr>
          <p:cNvSpPr/>
          <p:nvPr/>
        </p:nvSpPr>
        <p:spPr>
          <a:xfrm>
            <a:off x="4754880" y="1104549"/>
            <a:ext cx="54864" cy="1080000"/>
          </a:xfrm>
          <a:prstGeom prst="rect">
            <a:avLst/>
          </a:prstGeom>
          <a:solidFill>
            <a:srgbClr val="21295C"/>
          </a:solidFill>
          <a:ln/>
        </p:spPr>
        <p:txBody>
          <a:bodyPr/>
          <a:lstStyle/>
          <a:p>
            <a:pPr algn="just"/>
            <a:endParaRPr lang="en-US" sz="1000" noProof="0" dirty="0"/>
          </a:p>
        </p:txBody>
      </p:sp>
      <p:sp>
        <p:nvSpPr>
          <p:cNvPr id="17" name="Text 15">
            <a:extLst>
              <a:ext uri="{FF2B5EF4-FFF2-40B4-BE49-F238E27FC236}">
                <a16:creationId xmlns:a16="http://schemas.microsoft.com/office/drawing/2014/main" id="{CDCC9D14-B201-6D7F-1E61-73802B22435E}"/>
              </a:ext>
            </a:extLst>
          </p:cNvPr>
          <p:cNvSpPr/>
          <p:nvPr/>
        </p:nvSpPr>
        <p:spPr>
          <a:xfrm>
            <a:off x="4937760" y="1150269"/>
            <a:ext cx="3520440" cy="1080000"/>
          </a:xfrm>
          <a:prstGeom prst="rect">
            <a:avLst/>
          </a:prstGeom>
          <a:noFill/>
          <a:ln/>
        </p:spPr>
        <p:txBody>
          <a:bodyPr wrap="square" rtlCol="0" anchor="t"/>
          <a:lstStyle/>
          <a:p>
            <a:pPr algn="just"/>
            <a:r>
              <a:rPr lang="en-US" sz="1000" b="1" kern="0" spc="200" noProof="0" dirty="0">
                <a:solidFill>
                  <a:srgbClr val="21295C"/>
                </a:solidFill>
              </a:rPr>
              <a:t>RESULTS</a:t>
            </a:r>
          </a:p>
          <a:p>
            <a:pPr algn="just"/>
            <a:r>
              <a:rPr lang="en-US" sz="1000" noProof="0" dirty="0">
                <a:solidFill>
                  <a:srgbClr val="64748B"/>
                </a:solidFill>
              </a:rPr>
              <a:t>SAPS II alone: AUC 0.61, accuracy 56%.</a:t>
            </a:r>
          </a:p>
          <a:p>
            <a:pPr algn="just"/>
            <a:r>
              <a:rPr lang="en-US" sz="1000" noProof="0" dirty="0">
                <a:solidFill>
                  <a:srgbClr val="64748B"/>
                </a:solidFill>
              </a:rPr>
              <a:t>SVM with all features including SAPS II: AUC 0.90, accuracy 88%.</a:t>
            </a:r>
          </a:p>
          <a:p>
            <a:pPr algn="just"/>
            <a:r>
              <a:rPr lang="en-US" sz="1000" noProof="0" dirty="0">
                <a:solidFill>
                  <a:srgbClr val="64748B"/>
                </a:solidFill>
              </a:rPr>
              <a:t>SVM without SAPS II: AUC 0.66, accuracy 78%.</a:t>
            </a:r>
          </a:p>
        </p:txBody>
      </p:sp>
      <p:sp>
        <p:nvSpPr>
          <p:cNvPr id="18" name="Shape 16">
            <a:extLst>
              <a:ext uri="{FF2B5EF4-FFF2-40B4-BE49-F238E27FC236}">
                <a16:creationId xmlns:a16="http://schemas.microsoft.com/office/drawing/2014/main" id="{78D13746-132A-0102-0E6F-5408A750C31B}"/>
              </a:ext>
            </a:extLst>
          </p:cNvPr>
          <p:cNvSpPr/>
          <p:nvPr/>
        </p:nvSpPr>
        <p:spPr>
          <a:xfrm>
            <a:off x="4754880" y="2355494"/>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9" name="Shape 17">
            <a:extLst>
              <a:ext uri="{FF2B5EF4-FFF2-40B4-BE49-F238E27FC236}">
                <a16:creationId xmlns:a16="http://schemas.microsoft.com/office/drawing/2014/main" id="{CC6A4E33-3EC6-8C1B-EAEE-A7D2085ECA43}"/>
              </a:ext>
            </a:extLst>
          </p:cNvPr>
          <p:cNvSpPr/>
          <p:nvPr/>
        </p:nvSpPr>
        <p:spPr>
          <a:xfrm>
            <a:off x="4754880" y="2355494"/>
            <a:ext cx="54864" cy="1080000"/>
          </a:xfrm>
          <a:prstGeom prst="rect">
            <a:avLst/>
          </a:prstGeom>
          <a:solidFill>
            <a:srgbClr val="0D9488"/>
          </a:solidFill>
          <a:ln/>
        </p:spPr>
        <p:txBody>
          <a:bodyPr/>
          <a:lstStyle/>
          <a:p>
            <a:pPr algn="just"/>
            <a:endParaRPr lang="en-US" sz="1000" noProof="0" dirty="0"/>
          </a:p>
        </p:txBody>
      </p:sp>
      <p:sp>
        <p:nvSpPr>
          <p:cNvPr id="20" name="Text 18">
            <a:extLst>
              <a:ext uri="{FF2B5EF4-FFF2-40B4-BE49-F238E27FC236}">
                <a16:creationId xmlns:a16="http://schemas.microsoft.com/office/drawing/2014/main" id="{532BBAB7-1DE6-F2FB-62D6-1A0EA19D28A1}"/>
              </a:ext>
            </a:extLst>
          </p:cNvPr>
          <p:cNvSpPr/>
          <p:nvPr/>
        </p:nvSpPr>
        <p:spPr>
          <a:xfrm>
            <a:off x="4937760" y="2401214"/>
            <a:ext cx="3520440" cy="1080000"/>
          </a:xfrm>
          <a:prstGeom prst="rect">
            <a:avLst/>
          </a:prstGeom>
          <a:noFill/>
          <a:ln/>
        </p:spPr>
        <p:txBody>
          <a:bodyPr wrap="square" rtlCol="0" anchor="t"/>
          <a:lstStyle/>
          <a:p>
            <a:pPr algn="just"/>
            <a:r>
              <a:rPr lang="en-US" sz="1000" b="1" kern="0" spc="200" noProof="0" dirty="0">
                <a:solidFill>
                  <a:srgbClr val="0D9488"/>
                </a:solidFill>
              </a:rPr>
              <a:t>NOTES</a:t>
            </a:r>
          </a:p>
          <a:p>
            <a:pPr marL="0" indent="0" algn="just">
              <a:buNone/>
            </a:pPr>
            <a:r>
              <a:rPr lang="en-US" sz="1000" noProof="0" dirty="0">
                <a:solidFill>
                  <a:srgbClr val="64748B"/>
                </a:solidFill>
              </a:rPr>
              <a:t>Incorporating conventionally used SAPS II (something like PMV in thermal comfort) significantly boosted accuracy of the model from 78% to 88%.</a:t>
            </a:r>
            <a:endParaRPr lang="en-US" sz="1000" noProof="0" dirty="0"/>
          </a:p>
        </p:txBody>
      </p:sp>
      <p:sp>
        <p:nvSpPr>
          <p:cNvPr id="21" name="Shape 19">
            <a:extLst>
              <a:ext uri="{FF2B5EF4-FFF2-40B4-BE49-F238E27FC236}">
                <a16:creationId xmlns:a16="http://schemas.microsoft.com/office/drawing/2014/main" id="{A6C90EDB-0C4B-9E2C-F1E6-B2726CD35443}"/>
              </a:ext>
            </a:extLst>
          </p:cNvPr>
          <p:cNvSpPr/>
          <p:nvPr/>
        </p:nvSpPr>
        <p:spPr>
          <a:xfrm>
            <a:off x="4754880" y="3657277"/>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2" name="Shape 20">
            <a:extLst>
              <a:ext uri="{FF2B5EF4-FFF2-40B4-BE49-F238E27FC236}">
                <a16:creationId xmlns:a16="http://schemas.microsoft.com/office/drawing/2014/main" id="{26939FA9-8416-9B01-98EA-951267F2F407}"/>
              </a:ext>
            </a:extLst>
          </p:cNvPr>
          <p:cNvSpPr/>
          <p:nvPr/>
        </p:nvSpPr>
        <p:spPr>
          <a:xfrm>
            <a:off x="4754880" y="3657277"/>
            <a:ext cx="54864" cy="1080000"/>
          </a:xfrm>
          <a:prstGeom prst="rect">
            <a:avLst/>
          </a:prstGeom>
          <a:solidFill>
            <a:srgbClr val="FF0000"/>
          </a:solidFill>
          <a:ln>
            <a:noFill/>
          </a:ln>
        </p:spPr>
        <p:txBody>
          <a:bodyPr/>
          <a:lstStyle/>
          <a:p>
            <a:pPr algn="just"/>
            <a:endParaRPr lang="en-US" sz="1000" noProof="0" dirty="0">
              <a:solidFill>
                <a:srgbClr val="FF0000"/>
              </a:solidFill>
            </a:endParaRPr>
          </a:p>
        </p:txBody>
      </p:sp>
      <p:sp>
        <p:nvSpPr>
          <p:cNvPr id="23" name="Text 21">
            <a:extLst>
              <a:ext uri="{FF2B5EF4-FFF2-40B4-BE49-F238E27FC236}">
                <a16:creationId xmlns:a16="http://schemas.microsoft.com/office/drawing/2014/main" id="{4BF851BA-936D-E46C-6D78-CD3ADB505CDC}"/>
              </a:ext>
            </a:extLst>
          </p:cNvPr>
          <p:cNvSpPr/>
          <p:nvPr/>
        </p:nvSpPr>
        <p:spPr>
          <a:xfrm>
            <a:off x="4937760" y="3702997"/>
            <a:ext cx="3520440" cy="1080000"/>
          </a:xfrm>
          <a:prstGeom prst="rect">
            <a:avLst/>
          </a:prstGeom>
          <a:noFill/>
          <a:ln/>
        </p:spPr>
        <p:txBody>
          <a:bodyPr wrap="square" rtlCol="0" anchor="t"/>
          <a:lstStyle/>
          <a:p>
            <a:pPr marL="0" indent="0" algn="just">
              <a:buNone/>
            </a:pPr>
            <a:r>
              <a:rPr lang="en-US" sz="1000" b="1" kern="0" spc="200" noProof="0" dirty="0">
                <a:solidFill>
                  <a:srgbClr val="FF0000"/>
                </a:solidFill>
              </a:rPr>
              <a:t>GAP / LIMITATION</a:t>
            </a:r>
            <a:endParaRPr lang="en-US" sz="1000" noProof="0" dirty="0">
              <a:solidFill>
                <a:srgbClr val="FF0000"/>
              </a:solidFill>
            </a:endParaRPr>
          </a:p>
          <a:p>
            <a:pPr algn="just"/>
            <a:r>
              <a:rPr lang="en-US" sz="1000" noProof="0" dirty="0">
                <a:solidFill>
                  <a:srgbClr val="64748B"/>
                </a:solidFill>
              </a:rPr>
              <a:t>~60% of records excluded due to missing values in one or more input variables — complete data required for all features. Risk of selection bias. Model is a "black box" — no visibility into why a prediction is made. Only tested on Italian data, generalizability unclear.</a:t>
            </a:r>
            <a:endParaRPr lang="en-US" sz="1000" noProof="0" dirty="0"/>
          </a:p>
        </p:txBody>
      </p:sp>
    </p:spTree>
    <p:extLst>
      <p:ext uri="{BB962C8B-B14F-4D97-AF65-F5344CB8AC3E}">
        <p14:creationId xmlns:p14="http://schemas.microsoft.com/office/powerpoint/2010/main" val="949788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DC0B-B0BB-1856-6CED-6E02F54E6E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44B811-758C-A978-79A7-5F13BB305923}"/>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AA8303CE-8D1A-E5C8-47F1-4D62533F6732}"/>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#2</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DE180ED2-8AFF-1560-2FE0-B9E40E1CB268}"/>
              </a:ext>
            </a:extLst>
          </p:cNvPr>
          <p:cNvSpPr/>
          <p:nvPr/>
        </p:nvSpPr>
        <p:spPr>
          <a:xfrm>
            <a:off x="548640" y="825778"/>
            <a:ext cx="8046720" cy="457200"/>
          </a:xfrm>
          <a:prstGeom prst="rect">
            <a:avLst/>
          </a:prstGeom>
          <a:noFill/>
          <a:ln/>
        </p:spPr>
        <p:txBody>
          <a:bodyPr wrap="square" lIns="0" tIns="0" rIns="0" bIns="0" rtlCol="0" anchor="ctr"/>
          <a:lstStyle/>
          <a:p>
            <a:pPr algn="just"/>
            <a:r>
              <a:rPr lang="en-US" noProof="0" dirty="0"/>
              <a:t>Supervised machine learning for the prediction of infection on admission to hospital: a prospective observational cohort study</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E645FC6A-A196-F377-C951-6C0A3B014FB9}"/>
              </a:ext>
            </a:extLst>
          </p:cNvPr>
          <p:cNvSpPr/>
          <p:nvPr/>
        </p:nvSpPr>
        <p:spPr>
          <a:xfrm>
            <a:off x="548640" y="1338362"/>
            <a:ext cx="8046720" cy="274320"/>
          </a:xfrm>
          <a:prstGeom prst="rect">
            <a:avLst/>
          </a:prstGeom>
          <a:noFill/>
          <a:ln/>
        </p:spPr>
        <p:txBody>
          <a:bodyPr wrap="square" lIns="0" tIns="0" rIns="0" bIns="0" rtlCol="0" anchor="ctr"/>
          <a:lstStyle/>
          <a:p>
            <a:pPr marL="0" indent="0" algn="just">
              <a:buNone/>
            </a:pPr>
            <a:r>
              <a:rPr lang="en-US" sz="1050" i="1" noProof="0" dirty="0">
                <a:solidFill>
                  <a:srgbClr val="64748B"/>
                </a:solidFill>
                <a:latin typeface="Calibri"/>
                <a:ea typeface="Calibri"/>
                <a:cs typeface="Calibri"/>
              </a:rPr>
              <a:t>[Rawson et al., 2019, Journal of Antimicrobial Chemotherapy</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9D9FE4FD-28CD-3826-223A-166C86571FF9}"/>
              </a:ext>
            </a:extLst>
          </p:cNvPr>
          <p:cNvSpPr/>
          <p:nvPr/>
        </p:nvSpPr>
        <p:spPr>
          <a:xfrm>
            <a:off x="545122" y="3637866"/>
            <a:ext cx="8058065" cy="1302592"/>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7" name="Shape 5">
            <a:extLst>
              <a:ext uri="{FF2B5EF4-FFF2-40B4-BE49-F238E27FC236}">
                <a16:creationId xmlns:a16="http://schemas.microsoft.com/office/drawing/2014/main" id="{8881BBBE-973D-84C0-A609-F6D515F765EE}"/>
              </a:ext>
            </a:extLst>
          </p:cNvPr>
          <p:cNvSpPr/>
          <p:nvPr/>
        </p:nvSpPr>
        <p:spPr>
          <a:xfrm>
            <a:off x="548640" y="3629166"/>
            <a:ext cx="54864" cy="1302592"/>
          </a:xfrm>
          <a:prstGeom prst="rect">
            <a:avLst/>
          </a:prstGeom>
          <a:solidFill>
            <a:srgbClr val="0D9488"/>
          </a:solidFill>
          <a:ln/>
        </p:spPr>
        <p:txBody>
          <a:bodyPr/>
          <a:lstStyle/>
          <a:p>
            <a:pPr algn="just"/>
            <a:endParaRPr lang="en-US" sz="1000" noProof="0" dirty="0"/>
          </a:p>
        </p:txBody>
      </p:sp>
      <p:sp>
        <p:nvSpPr>
          <p:cNvPr id="8" name="Text 6">
            <a:extLst>
              <a:ext uri="{FF2B5EF4-FFF2-40B4-BE49-F238E27FC236}">
                <a16:creationId xmlns:a16="http://schemas.microsoft.com/office/drawing/2014/main" id="{4E000163-26C3-5CC8-FC6C-CDDA64A4A583}"/>
              </a:ext>
            </a:extLst>
          </p:cNvPr>
          <p:cNvSpPr/>
          <p:nvPr/>
        </p:nvSpPr>
        <p:spPr>
          <a:xfrm>
            <a:off x="731520" y="3724170"/>
            <a:ext cx="7688788" cy="1192400"/>
          </a:xfrm>
          <a:prstGeom prst="rect">
            <a:avLst/>
          </a:prstGeom>
          <a:noFill/>
          <a:ln/>
        </p:spPr>
        <p:txBody>
          <a:bodyPr wrap="square" rtlCol="0" anchor="t"/>
          <a:lstStyle/>
          <a:p>
            <a:pPr algn="just"/>
            <a:r>
              <a:rPr lang="en-US" sz="1000" b="1" kern="0" spc="200" noProof="0" dirty="0">
                <a:solidFill>
                  <a:srgbClr val="0D9488"/>
                </a:solidFill>
              </a:rPr>
              <a:t>INTENTION / RESEARCH QUESTION</a:t>
            </a:r>
          </a:p>
          <a:p>
            <a:pPr algn="just"/>
            <a:r>
              <a:rPr lang="en-US" sz="1000" noProof="0" dirty="0">
                <a:solidFill>
                  <a:srgbClr val="64748B"/>
                </a:solidFill>
              </a:rPr>
              <a:t>Can a supervised machine learning algorithm predict bacterial infection at hospital admission using a small set of routine blood parameters?</a:t>
            </a:r>
          </a:p>
        </p:txBody>
      </p:sp>
      <p:sp>
        <p:nvSpPr>
          <p:cNvPr id="24" name="Shape 22">
            <a:extLst>
              <a:ext uri="{FF2B5EF4-FFF2-40B4-BE49-F238E27FC236}">
                <a16:creationId xmlns:a16="http://schemas.microsoft.com/office/drawing/2014/main" id="{C6EB6385-AFC6-2762-67A6-C75BF8F14506}"/>
              </a:ext>
            </a:extLst>
          </p:cNvPr>
          <p:cNvSpPr/>
          <p:nvPr/>
        </p:nvSpPr>
        <p:spPr>
          <a:xfrm>
            <a:off x="556468" y="1744251"/>
            <a:ext cx="8046720" cy="1762046"/>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5" name="Shape 23">
            <a:extLst>
              <a:ext uri="{FF2B5EF4-FFF2-40B4-BE49-F238E27FC236}">
                <a16:creationId xmlns:a16="http://schemas.microsoft.com/office/drawing/2014/main" id="{460FFEA5-533A-28DD-184E-5BB95932BFE0}"/>
              </a:ext>
            </a:extLst>
          </p:cNvPr>
          <p:cNvSpPr/>
          <p:nvPr/>
        </p:nvSpPr>
        <p:spPr>
          <a:xfrm>
            <a:off x="556468" y="1744251"/>
            <a:ext cx="47036" cy="1762046"/>
          </a:xfrm>
          <a:prstGeom prst="rect">
            <a:avLst/>
          </a:prstGeom>
          <a:solidFill>
            <a:srgbClr val="D97706"/>
          </a:solidFill>
          <a:ln/>
        </p:spPr>
        <p:txBody>
          <a:bodyPr/>
          <a:lstStyle/>
          <a:p>
            <a:pPr algn="just"/>
            <a:endParaRPr lang="en-US" sz="1000" noProof="0" dirty="0"/>
          </a:p>
        </p:txBody>
      </p:sp>
      <p:sp>
        <p:nvSpPr>
          <p:cNvPr id="26" name="Text 24">
            <a:extLst>
              <a:ext uri="{FF2B5EF4-FFF2-40B4-BE49-F238E27FC236}">
                <a16:creationId xmlns:a16="http://schemas.microsoft.com/office/drawing/2014/main" id="{ECD7E9ED-8D81-821A-C9D3-D001654AC838}"/>
              </a:ext>
            </a:extLst>
          </p:cNvPr>
          <p:cNvSpPr/>
          <p:nvPr/>
        </p:nvSpPr>
        <p:spPr>
          <a:xfrm>
            <a:off x="830788" y="1819275"/>
            <a:ext cx="7589520" cy="1601906"/>
          </a:xfrm>
          <a:prstGeom prst="rect">
            <a:avLst/>
          </a:prstGeom>
          <a:noFill/>
          <a:ln/>
        </p:spPr>
        <p:txBody>
          <a:bodyPr wrap="square" lIns="91440" tIns="45720" rIns="91440" bIns="45720" rtlCol="0" anchor="t"/>
          <a:lstStyle/>
          <a:p>
            <a:pPr algn="just"/>
            <a:r>
              <a:rPr lang="en-US" sz="1000" b="1" kern="0" spc="200" noProof="0" dirty="0">
                <a:solidFill>
                  <a:schemeClr val="accent2"/>
                </a:solidFill>
              </a:rPr>
              <a:t>SUMMARY</a:t>
            </a:r>
            <a:r>
              <a:rPr lang="en-US" sz="1000" b="1" kern="0" spc="200" noProof="0" dirty="0">
                <a:solidFill>
                  <a:srgbClr val="DC2626"/>
                </a:solidFill>
              </a:rPr>
              <a:t>  </a:t>
            </a:r>
          </a:p>
          <a:p>
            <a:pPr algn="just"/>
            <a:r>
              <a:rPr lang="en-US" sz="1000" noProof="0" dirty="0">
                <a:solidFill>
                  <a:srgbClr val="64748B"/>
                </a:solidFill>
              </a:rPr>
              <a:t>This study tested whether an SVM-based algorithm could diagnose bacterial infection in patients arriving at hospital, using only routine blood test results available at admission — without relying on clinical judgement or microbiological cultures. The algorithm performed well (AUC 0.84), suggesting it could support clinicians in identifying infected patients earlier and more consistently, potentially reducing unnecessary antibiotic use and improving microbiological sampling before treatment starts.</a:t>
            </a:r>
            <a:endParaRPr lang="en-US" sz="1000" noProof="0" dirty="0"/>
          </a:p>
        </p:txBody>
      </p:sp>
    </p:spTree>
    <p:extLst>
      <p:ext uri="{BB962C8B-B14F-4D97-AF65-F5344CB8AC3E}">
        <p14:creationId xmlns:p14="http://schemas.microsoft.com/office/powerpoint/2010/main" val="2299616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EB989-5DAD-894A-F774-4318E423F0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9CA38FB-6037-1EB1-F0D9-7687D1F01BF6}"/>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7287AFB2-3BF4-314F-79F5-530E315F0E8F}"/>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#2</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97015060-9773-D1A0-D4D9-05D042C2CC3F}"/>
              </a:ext>
            </a:extLst>
          </p:cNvPr>
          <p:cNvSpPr/>
          <p:nvPr/>
        </p:nvSpPr>
        <p:spPr>
          <a:xfrm>
            <a:off x="601272" y="1104548"/>
            <a:ext cx="3840480" cy="2330945"/>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0" name="Shape 8">
            <a:extLst>
              <a:ext uri="{FF2B5EF4-FFF2-40B4-BE49-F238E27FC236}">
                <a16:creationId xmlns:a16="http://schemas.microsoft.com/office/drawing/2014/main" id="{BA3AC7F9-5DE1-0893-E335-E81C3B6FD82D}"/>
              </a:ext>
            </a:extLst>
          </p:cNvPr>
          <p:cNvSpPr/>
          <p:nvPr/>
        </p:nvSpPr>
        <p:spPr>
          <a:xfrm>
            <a:off x="601272" y="1104548"/>
            <a:ext cx="54864" cy="2330945"/>
          </a:xfrm>
          <a:prstGeom prst="rect">
            <a:avLst/>
          </a:prstGeom>
          <a:solidFill>
            <a:srgbClr val="1C7293"/>
          </a:solidFill>
          <a:ln/>
        </p:spPr>
        <p:txBody>
          <a:bodyPr/>
          <a:lstStyle/>
          <a:p>
            <a:pPr algn="just"/>
            <a:endParaRPr lang="en-US" sz="1000" noProof="0" dirty="0"/>
          </a:p>
        </p:txBody>
      </p:sp>
      <p:sp>
        <p:nvSpPr>
          <p:cNvPr id="11" name="Text 9">
            <a:extLst>
              <a:ext uri="{FF2B5EF4-FFF2-40B4-BE49-F238E27FC236}">
                <a16:creationId xmlns:a16="http://schemas.microsoft.com/office/drawing/2014/main" id="{762F62E1-604B-F24E-2FEC-C37090E2E010}"/>
              </a:ext>
            </a:extLst>
          </p:cNvPr>
          <p:cNvSpPr/>
          <p:nvPr/>
        </p:nvSpPr>
        <p:spPr>
          <a:xfrm>
            <a:off x="784152" y="1150268"/>
            <a:ext cx="3520440" cy="2330945"/>
          </a:xfrm>
          <a:prstGeom prst="rect">
            <a:avLst/>
          </a:prstGeom>
          <a:noFill/>
          <a:ln/>
        </p:spPr>
        <p:txBody>
          <a:bodyPr wrap="square" rtlCol="0" anchor="t"/>
          <a:lstStyle/>
          <a:p>
            <a:pPr marL="0" indent="0" algn="just">
              <a:buNone/>
            </a:pPr>
            <a:r>
              <a:rPr lang="en-US" sz="1000" b="1" kern="0" spc="200" noProof="0" dirty="0">
                <a:solidFill>
                  <a:srgbClr val="1C7293"/>
                </a:solidFill>
              </a:rPr>
              <a:t>DATASET</a:t>
            </a:r>
            <a:endParaRPr lang="en-US" sz="1000" noProof="0" dirty="0"/>
          </a:p>
          <a:p>
            <a:pPr marL="171450" indent="-171450" algn="just">
              <a:buFont typeface="Arial" panose="020B0604020202020204" pitchFamily="34" charset="0"/>
              <a:buChar char="•"/>
            </a:pPr>
            <a:r>
              <a:rPr lang="en-US" sz="1000" noProof="0" dirty="0">
                <a:solidFill>
                  <a:srgbClr val="64748B"/>
                </a:solidFill>
              </a:rPr>
              <a:t>Imperial College Healthcare NHS Trust, London. Training: 160,203 patient profiles with microbiology and blood test data from 2009–2015. Prospective test cohort: 104 patients admitted over 6 months (Oct 2017–Mar 2018).</a:t>
            </a:r>
          </a:p>
          <a:p>
            <a:pPr marL="171450" indent="-171450" algn="just">
              <a:buFont typeface="Arial" panose="020B0604020202020204" pitchFamily="34" charset="0"/>
              <a:buChar char="•"/>
            </a:pPr>
            <a:r>
              <a:rPr lang="en-US" sz="1000" b="1" noProof="0" dirty="0">
                <a:solidFill>
                  <a:srgbClr val="64748B"/>
                </a:solidFill>
              </a:rPr>
              <a:t>Variables:</a:t>
            </a:r>
            <a:r>
              <a:rPr lang="en-US" sz="1000" noProof="0" dirty="0">
                <a:solidFill>
                  <a:srgbClr val="64748B"/>
                </a:solidFill>
              </a:rPr>
              <a:t> CRP, white cell count, bilirubin, creatinine, ALT, alkaline phosphatase.</a:t>
            </a:r>
          </a:p>
          <a:p>
            <a:pPr marL="171450" indent="-171450" algn="just">
              <a:buFont typeface="Arial" panose="020B0604020202020204" pitchFamily="34" charset="0"/>
              <a:buChar char="•"/>
            </a:pPr>
            <a:r>
              <a:rPr lang="en-US" sz="1000" b="1" noProof="0" dirty="0">
                <a:solidFill>
                  <a:srgbClr val="64748B"/>
                </a:solidFill>
              </a:rPr>
              <a:t>Predicted: </a:t>
            </a:r>
            <a:r>
              <a:rPr lang="en-US" sz="1000" noProof="0" dirty="0">
                <a:solidFill>
                  <a:srgbClr val="64748B"/>
                </a:solidFill>
              </a:rPr>
              <a:t>whether a patient had a community-acquired bacterial infection within 72h of admission (yes/no).</a:t>
            </a:r>
            <a:endParaRPr lang="en-US" sz="1000" noProof="0" dirty="0"/>
          </a:p>
        </p:txBody>
      </p:sp>
      <p:sp>
        <p:nvSpPr>
          <p:cNvPr id="12" name="Shape 10">
            <a:extLst>
              <a:ext uri="{FF2B5EF4-FFF2-40B4-BE49-F238E27FC236}">
                <a16:creationId xmlns:a16="http://schemas.microsoft.com/office/drawing/2014/main" id="{0A9E0F25-A80F-1D98-C0DE-8C40B5C42F73}"/>
              </a:ext>
            </a:extLst>
          </p:cNvPr>
          <p:cNvSpPr/>
          <p:nvPr/>
        </p:nvSpPr>
        <p:spPr>
          <a:xfrm>
            <a:off x="548640" y="3657277"/>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3" name="Shape 11">
            <a:extLst>
              <a:ext uri="{FF2B5EF4-FFF2-40B4-BE49-F238E27FC236}">
                <a16:creationId xmlns:a16="http://schemas.microsoft.com/office/drawing/2014/main" id="{A9B8A374-6C67-A6B4-84EF-65A7CC236562}"/>
              </a:ext>
            </a:extLst>
          </p:cNvPr>
          <p:cNvSpPr/>
          <p:nvPr/>
        </p:nvSpPr>
        <p:spPr>
          <a:xfrm>
            <a:off x="548640" y="3657277"/>
            <a:ext cx="54864" cy="1080000"/>
          </a:xfrm>
          <a:prstGeom prst="rect">
            <a:avLst/>
          </a:prstGeom>
          <a:solidFill>
            <a:srgbClr val="065A82"/>
          </a:solidFill>
          <a:ln/>
        </p:spPr>
        <p:txBody>
          <a:bodyPr/>
          <a:lstStyle/>
          <a:p>
            <a:pPr algn="just"/>
            <a:endParaRPr lang="en-US" sz="1000" noProof="0" dirty="0"/>
          </a:p>
        </p:txBody>
      </p:sp>
      <p:sp>
        <p:nvSpPr>
          <p:cNvPr id="14" name="Text 12">
            <a:extLst>
              <a:ext uri="{FF2B5EF4-FFF2-40B4-BE49-F238E27FC236}">
                <a16:creationId xmlns:a16="http://schemas.microsoft.com/office/drawing/2014/main" id="{B27BC46E-B394-FE5D-E294-C8A5F42D9659}"/>
              </a:ext>
            </a:extLst>
          </p:cNvPr>
          <p:cNvSpPr/>
          <p:nvPr/>
        </p:nvSpPr>
        <p:spPr>
          <a:xfrm>
            <a:off x="731520" y="3702997"/>
            <a:ext cx="3520440" cy="1080000"/>
          </a:xfrm>
          <a:prstGeom prst="rect">
            <a:avLst/>
          </a:prstGeom>
          <a:noFill/>
          <a:ln/>
        </p:spPr>
        <p:txBody>
          <a:bodyPr wrap="square" rtlCol="0" anchor="t"/>
          <a:lstStyle/>
          <a:p>
            <a:pPr algn="just"/>
            <a:r>
              <a:rPr lang="en-US" sz="1000" b="1" kern="0" spc="200" noProof="0" dirty="0">
                <a:solidFill>
                  <a:srgbClr val="065A82"/>
                </a:solidFill>
              </a:rPr>
              <a:t>MODELS USED</a:t>
            </a:r>
          </a:p>
          <a:p>
            <a:pPr algn="just"/>
            <a:r>
              <a:rPr lang="en-US" sz="1000" noProof="0" dirty="0">
                <a:solidFill>
                  <a:srgbClr val="64748B"/>
                </a:solidFill>
              </a:rPr>
              <a:t>SVM binary classifier embedded in a clinical decision support system (EPIC IMPOC). Training data had class imbalance (far more non-infected profiles), addressed using SMOTE. System required at least 4 of 6 blood parameters to function.</a:t>
            </a:r>
            <a:endParaRPr lang="en-US" sz="1000" noProof="0" dirty="0"/>
          </a:p>
        </p:txBody>
      </p:sp>
      <p:sp>
        <p:nvSpPr>
          <p:cNvPr id="15" name="Shape 13">
            <a:extLst>
              <a:ext uri="{FF2B5EF4-FFF2-40B4-BE49-F238E27FC236}">
                <a16:creationId xmlns:a16="http://schemas.microsoft.com/office/drawing/2014/main" id="{B466F9A1-EC1A-AB20-A39F-4EC62B0DA78C}"/>
              </a:ext>
            </a:extLst>
          </p:cNvPr>
          <p:cNvSpPr/>
          <p:nvPr/>
        </p:nvSpPr>
        <p:spPr>
          <a:xfrm>
            <a:off x="4754880" y="1104549"/>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6" name="Shape 14">
            <a:extLst>
              <a:ext uri="{FF2B5EF4-FFF2-40B4-BE49-F238E27FC236}">
                <a16:creationId xmlns:a16="http://schemas.microsoft.com/office/drawing/2014/main" id="{223D54DE-579D-56F3-B790-CF18FDEB53FE}"/>
              </a:ext>
            </a:extLst>
          </p:cNvPr>
          <p:cNvSpPr/>
          <p:nvPr/>
        </p:nvSpPr>
        <p:spPr>
          <a:xfrm>
            <a:off x="4754880" y="1104549"/>
            <a:ext cx="54864" cy="1080000"/>
          </a:xfrm>
          <a:prstGeom prst="rect">
            <a:avLst/>
          </a:prstGeom>
          <a:solidFill>
            <a:srgbClr val="21295C"/>
          </a:solidFill>
          <a:ln/>
        </p:spPr>
        <p:txBody>
          <a:bodyPr/>
          <a:lstStyle/>
          <a:p>
            <a:pPr algn="just"/>
            <a:endParaRPr lang="en-US" sz="1000" noProof="0" dirty="0"/>
          </a:p>
        </p:txBody>
      </p:sp>
      <p:sp>
        <p:nvSpPr>
          <p:cNvPr id="17" name="Text 15">
            <a:extLst>
              <a:ext uri="{FF2B5EF4-FFF2-40B4-BE49-F238E27FC236}">
                <a16:creationId xmlns:a16="http://schemas.microsoft.com/office/drawing/2014/main" id="{859AC00C-D834-8134-FF71-45F5BA961793}"/>
              </a:ext>
            </a:extLst>
          </p:cNvPr>
          <p:cNvSpPr/>
          <p:nvPr/>
        </p:nvSpPr>
        <p:spPr>
          <a:xfrm>
            <a:off x="4937760" y="1150269"/>
            <a:ext cx="3520440" cy="1080000"/>
          </a:xfrm>
          <a:prstGeom prst="rect">
            <a:avLst/>
          </a:prstGeom>
          <a:noFill/>
          <a:ln/>
        </p:spPr>
        <p:txBody>
          <a:bodyPr wrap="square" rtlCol="0" anchor="t"/>
          <a:lstStyle/>
          <a:p>
            <a:pPr algn="just"/>
            <a:r>
              <a:rPr lang="en-US" sz="1000" b="1" kern="0" spc="200" noProof="0" dirty="0">
                <a:solidFill>
                  <a:srgbClr val="21295C"/>
                </a:solidFill>
              </a:rPr>
              <a:t>RESULTS</a:t>
            </a:r>
          </a:p>
          <a:p>
            <a:pPr algn="just"/>
            <a:r>
              <a:rPr lang="en-US" sz="1000" noProof="0" dirty="0">
                <a:solidFill>
                  <a:srgbClr val="64748B"/>
                </a:solidFill>
              </a:rPr>
              <a:t>ROC AUC 0.84. </a:t>
            </a:r>
          </a:p>
          <a:p>
            <a:pPr algn="just"/>
            <a:r>
              <a:rPr lang="en-US" sz="1000" noProof="0" dirty="0">
                <a:solidFill>
                  <a:srgbClr val="64748B"/>
                </a:solidFill>
              </a:rPr>
              <a:t>Mean infection likelihood: 0.80 (infected) vs 0.50 (non-infected). At cut-off 0.812: sensitivity 89%, specificity 63%. </a:t>
            </a:r>
          </a:p>
          <a:p>
            <a:pPr algn="just"/>
            <a:r>
              <a:rPr lang="en-US" sz="1000" noProof="0" dirty="0">
                <a:solidFill>
                  <a:srgbClr val="64748B"/>
                </a:solidFill>
              </a:rPr>
              <a:t>At cut-off 0.820: sensitivity 44%, specificity 93%.</a:t>
            </a:r>
          </a:p>
        </p:txBody>
      </p:sp>
      <p:sp>
        <p:nvSpPr>
          <p:cNvPr id="18" name="Shape 16">
            <a:extLst>
              <a:ext uri="{FF2B5EF4-FFF2-40B4-BE49-F238E27FC236}">
                <a16:creationId xmlns:a16="http://schemas.microsoft.com/office/drawing/2014/main" id="{0B335E02-E278-0CE7-B851-0CF5A154C8A5}"/>
              </a:ext>
            </a:extLst>
          </p:cNvPr>
          <p:cNvSpPr/>
          <p:nvPr/>
        </p:nvSpPr>
        <p:spPr>
          <a:xfrm>
            <a:off x="4754880" y="2355494"/>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9" name="Shape 17">
            <a:extLst>
              <a:ext uri="{FF2B5EF4-FFF2-40B4-BE49-F238E27FC236}">
                <a16:creationId xmlns:a16="http://schemas.microsoft.com/office/drawing/2014/main" id="{ABD984BE-95CE-7CCD-D3B6-CC61DD04C438}"/>
              </a:ext>
            </a:extLst>
          </p:cNvPr>
          <p:cNvSpPr/>
          <p:nvPr/>
        </p:nvSpPr>
        <p:spPr>
          <a:xfrm>
            <a:off x="4754880" y="2355494"/>
            <a:ext cx="54864" cy="1080000"/>
          </a:xfrm>
          <a:prstGeom prst="rect">
            <a:avLst/>
          </a:prstGeom>
          <a:solidFill>
            <a:srgbClr val="0D9488"/>
          </a:solidFill>
          <a:ln/>
        </p:spPr>
        <p:txBody>
          <a:bodyPr/>
          <a:lstStyle/>
          <a:p>
            <a:pPr algn="just"/>
            <a:endParaRPr lang="en-US" sz="1000" noProof="0" dirty="0"/>
          </a:p>
        </p:txBody>
      </p:sp>
      <p:sp>
        <p:nvSpPr>
          <p:cNvPr id="20" name="Text 18">
            <a:extLst>
              <a:ext uri="{FF2B5EF4-FFF2-40B4-BE49-F238E27FC236}">
                <a16:creationId xmlns:a16="http://schemas.microsoft.com/office/drawing/2014/main" id="{A92E065E-6B0C-D5AC-1EA6-8186DA5E3199}"/>
              </a:ext>
            </a:extLst>
          </p:cNvPr>
          <p:cNvSpPr/>
          <p:nvPr/>
        </p:nvSpPr>
        <p:spPr>
          <a:xfrm>
            <a:off x="4937760" y="2401214"/>
            <a:ext cx="3520440" cy="1080000"/>
          </a:xfrm>
          <a:prstGeom prst="rect">
            <a:avLst/>
          </a:prstGeom>
          <a:noFill/>
          <a:ln/>
        </p:spPr>
        <p:txBody>
          <a:bodyPr wrap="square" rtlCol="0" anchor="t"/>
          <a:lstStyle/>
          <a:p>
            <a:pPr algn="just"/>
            <a:r>
              <a:rPr lang="en-US" sz="1000" b="1" kern="0" spc="200" noProof="0" dirty="0">
                <a:solidFill>
                  <a:srgbClr val="0D9488"/>
                </a:solidFill>
              </a:rPr>
              <a:t>NOTES</a:t>
            </a:r>
          </a:p>
        </p:txBody>
      </p:sp>
      <p:sp>
        <p:nvSpPr>
          <p:cNvPr id="21" name="Shape 19">
            <a:extLst>
              <a:ext uri="{FF2B5EF4-FFF2-40B4-BE49-F238E27FC236}">
                <a16:creationId xmlns:a16="http://schemas.microsoft.com/office/drawing/2014/main" id="{EE9DB26C-2AA0-D441-D350-935B990A8CDA}"/>
              </a:ext>
            </a:extLst>
          </p:cNvPr>
          <p:cNvSpPr/>
          <p:nvPr/>
        </p:nvSpPr>
        <p:spPr>
          <a:xfrm>
            <a:off x="4754880" y="3657277"/>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2" name="Shape 20">
            <a:extLst>
              <a:ext uri="{FF2B5EF4-FFF2-40B4-BE49-F238E27FC236}">
                <a16:creationId xmlns:a16="http://schemas.microsoft.com/office/drawing/2014/main" id="{C7F04A73-EA7D-C96E-5E14-1E55BE90A006}"/>
              </a:ext>
            </a:extLst>
          </p:cNvPr>
          <p:cNvSpPr/>
          <p:nvPr/>
        </p:nvSpPr>
        <p:spPr>
          <a:xfrm>
            <a:off x="4754880" y="3657277"/>
            <a:ext cx="54864" cy="1080000"/>
          </a:xfrm>
          <a:prstGeom prst="rect">
            <a:avLst/>
          </a:prstGeom>
          <a:solidFill>
            <a:srgbClr val="FF0000"/>
          </a:solidFill>
          <a:ln>
            <a:noFill/>
          </a:ln>
        </p:spPr>
        <p:txBody>
          <a:bodyPr/>
          <a:lstStyle/>
          <a:p>
            <a:pPr algn="just"/>
            <a:endParaRPr lang="en-US" sz="1000" noProof="0" dirty="0">
              <a:solidFill>
                <a:srgbClr val="FF0000"/>
              </a:solidFill>
            </a:endParaRPr>
          </a:p>
        </p:txBody>
      </p:sp>
      <p:sp>
        <p:nvSpPr>
          <p:cNvPr id="23" name="Text 21">
            <a:extLst>
              <a:ext uri="{FF2B5EF4-FFF2-40B4-BE49-F238E27FC236}">
                <a16:creationId xmlns:a16="http://schemas.microsoft.com/office/drawing/2014/main" id="{801EFB8D-1F84-4C0D-A516-AC36DD53A607}"/>
              </a:ext>
            </a:extLst>
          </p:cNvPr>
          <p:cNvSpPr/>
          <p:nvPr/>
        </p:nvSpPr>
        <p:spPr>
          <a:xfrm>
            <a:off x="4937760" y="3702997"/>
            <a:ext cx="3520440" cy="1080000"/>
          </a:xfrm>
          <a:prstGeom prst="rect">
            <a:avLst/>
          </a:prstGeom>
          <a:noFill/>
          <a:ln/>
        </p:spPr>
        <p:txBody>
          <a:bodyPr wrap="square" rtlCol="0" anchor="t"/>
          <a:lstStyle/>
          <a:p>
            <a:pPr marL="0" indent="0" algn="just">
              <a:buNone/>
            </a:pPr>
            <a:r>
              <a:rPr lang="en-US" sz="1000" b="1" kern="0" spc="200" noProof="0" dirty="0">
                <a:solidFill>
                  <a:srgbClr val="FF0000"/>
                </a:solidFill>
              </a:rPr>
              <a:t>GAP / LIMITATION</a:t>
            </a:r>
            <a:endParaRPr lang="en-US" sz="1000" noProof="0" dirty="0">
              <a:solidFill>
                <a:srgbClr val="FF0000"/>
              </a:solidFill>
            </a:endParaRPr>
          </a:p>
          <a:p>
            <a:pPr algn="just"/>
            <a:r>
              <a:rPr lang="en-US" sz="1000" noProof="0" dirty="0">
                <a:solidFill>
                  <a:srgbClr val="64748B"/>
                </a:solidFill>
              </a:rPr>
              <a:t>Tested only on 104 patients. Single hospital network in West London, so generalizability is unclear. Lactate and physiological parameters (heart rate, blood pressure etc.) were not electronically available and couldn't be included, despite being clinically relevant.</a:t>
            </a:r>
            <a:endParaRPr lang="en-US" sz="1000" noProof="0" dirty="0"/>
          </a:p>
        </p:txBody>
      </p:sp>
    </p:spTree>
    <p:extLst>
      <p:ext uri="{BB962C8B-B14F-4D97-AF65-F5344CB8AC3E}">
        <p14:creationId xmlns:p14="http://schemas.microsoft.com/office/powerpoint/2010/main" val="2251090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3D128-C6D5-66C8-F3BD-F61D0F1451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51ABC17-66D4-DB11-324E-50AFF122873B}"/>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5FEFA69F-0000-B883-780C-FEAD9CD6050C}"/>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#3</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1630DBED-6BAE-41F3-EE81-916B41AA9E52}"/>
              </a:ext>
            </a:extLst>
          </p:cNvPr>
          <p:cNvSpPr/>
          <p:nvPr/>
        </p:nvSpPr>
        <p:spPr>
          <a:xfrm>
            <a:off x="548640" y="825778"/>
            <a:ext cx="8046720" cy="457200"/>
          </a:xfrm>
          <a:prstGeom prst="rect">
            <a:avLst/>
          </a:prstGeom>
          <a:noFill/>
          <a:ln/>
        </p:spPr>
        <p:txBody>
          <a:bodyPr wrap="square" lIns="0" tIns="0" rIns="0" bIns="0" rtlCol="0" anchor="ctr"/>
          <a:lstStyle/>
          <a:p>
            <a:pPr algn="just"/>
            <a:r>
              <a:rPr lang="en-US" noProof="0" dirty="0"/>
              <a:t>Supervised machine learning for the prediction of infection on admission to hospital: a prospective observational cohort study</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188EAF8B-DDAF-596F-19B8-C82DA2B5E61A}"/>
              </a:ext>
            </a:extLst>
          </p:cNvPr>
          <p:cNvSpPr/>
          <p:nvPr/>
        </p:nvSpPr>
        <p:spPr>
          <a:xfrm>
            <a:off x="548640" y="1338362"/>
            <a:ext cx="8046720" cy="274320"/>
          </a:xfrm>
          <a:prstGeom prst="rect">
            <a:avLst/>
          </a:prstGeom>
          <a:noFill/>
          <a:ln/>
        </p:spPr>
        <p:txBody>
          <a:bodyPr wrap="square" lIns="0" tIns="0" rIns="0" bIns="0" rtlCol="0" anchor="ctr"/>
          <a:lstStyle/>
          <a:p>
            <a:pPr marL="0" indent="0" algn="just">
              <a:buNone/>
            </a:pPr>
            <a:r>
              <a:rPr lang="en-US" sz="1050" i="1" noProof="0" dirty="0">
                <a:solidFill>
                  <a:srgbClr val="64748B"/>
                </a:solidFill>
                <a:latin typeface="Calibri"/>
                <a:ea typeface="Calibri"/>
                <a:cs typeface="Calibri"/>
              </a:rPr>
              <a:t>Rawson et al., 2019, Journal of Antimicrobial Chemotherapy</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EAA05662-BCFD-BEA4-6672-3F163D6F6630}"/>
              </a:ext>
            </a:extLst>
          </p:cNvPr>
          <p:cNvSpPr/>
          <p:nvPr/>
        </p:nvSpPr>
        <p:spPr>
          <a:xfrm>
            <a:off x="545122" y="3637866"/>
            <a:ext cx="8058065" cy="1302592"/>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7" name="Shape 5">
            <a:extLst>
              <a:ext uri="{FF2B5EF4-FFF2-40B4-BE49-F238E27FC236}">
                <a16:creationId xmlns:a16="http://schemas.microsoft.com/office/drawing/2014/main" id="{3CB0AEC4-6803-4B7B-4199-389EE7CA9728}"/>
              </a:ext>
            </a:extLst>
          </p:cNvPr>
          <p:cNvSpPr/>
          <p:nvPr/>
        </p:nvSpPr>
        <p:spPr>
          <a:xfrm>
            <a:off x="548640" y="3629166"/>
            <a:ext cx="54864" cy="1302592"/>
          </a:xfrm>
          <a:prstGeom prst="rect">
            <a:avLst/>
          </a:prstGeom>
          <a:solidFill>
            <a:srgbClr val="0D9488"/>
          </a:solidFill>
          <a:ln/>
        </p:spPr>
        <p:txBody>
          <a:bodyPr/>
          <a:lstStyle/>
          <a:p>
            <a:pPr algn="just"/>
            <a:endParaRPr lang="en-US" sz="1000" noProof="0" dirty="0"/>
          </a:p>
        </p:txBody>
      </p:sp>
      <p:sp>
        <p:nvSpPr>
          <p:cNvPr id="8" name="Text 6">
            <a:extLst>
              <a:ext uri="{FF2B5EF4-FFF2-40B4-BE49-F238E27FC236}">
                <a16:creationId xmlns:a16="http://schemas.microsoft.com/office/drawing/2014/main" id="{A81109E9-A77D-5908-C410-7355E95F859B}"/>
              </a:ext>
            </a:extLst>
          </p:cNvPr>
          <p:cNvSpPr/>
          <p:nvPr/>
        </p:nvSpPr>
        <p:spPr>
          <a:xfrm>
            <a:off x="731520" y="3724170"/>
            <a:ext cx="7688788" cy="1192400"/>
          </a:xfrm>
          <a:prstGeom prst="rect">
            <a:avLst/>
          </a:prstGeom>
          <a:noFill/>
          <a:ln/>
        </p:spPr>
        <p:txBody>
          <a:bodyPr wrap="square" rtlCol="0" anchor="t"/>
          <a:lstStyle/>
          <a:p>
            <a:pPr algn="just"/>
            <a:r>
              <a:rPr lang="en-US" sz="1000" b="1" kern="0" spc="200" noProof="0" dirty="0">
                <a:solidFill>
                  <a:srgbClr val="0D9488"/>
                </a:solidFill>
              </a:rPr>
              <a:t>INTENTION / RESEARCH QUESTION</a:t>
            </a:r>
          </a:p>
          <a:p>
            <a:pPr algn="just"/>
            <a:r>
              <a:rPr lang="en-US" sz="1000" noProof="0" dirty="0">
                <a:solidFill>
                  <a:srgbClr val="64748B"/>
                </a:solidFill>
              </a:rPr>
              <a:t>Can a machine learning model predict HAI before clinical suspicion arises, using routinely collected vital signs, lab results and demographics?</a:t>
            </a:r>
          </a:p>
        </p:txBody>
      </p:sp>
      <p:sp>
        <p:nvSpPr>
          <p:cNvPr id="24" name="Shape 22">
            <a:extLst>
              <a:ext uri="{FF2B5EF4-FFF2-40B4-BE49-F238E27FC236}">
                <a16:creationId xmlns:a16="http://schemas.microsoft.com/office/drawing/2014/main" id="{9A4F7AEA-0A22-5D1B-7BE1-D487A8F3E276}"/>
              </a:ext>
            </a:extLst>
          </p:cNvPr>
          <p:cNvSpPr/>
          <p:nvPr/>
        </p:nvSpPr>
        <p:spPr>
          <a:xfrm>
            <a:off x="556468" y="1744251"/>
            <a:ext cx="8046720" cy="1762046"/>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5" name="Shape 23">
            <a:extLst>
              <a:ext uri="{FF2B5EF4-FFF2-40B4-BE49-F238E27FC236}">
                <a16:creationId xmlns:a16="http://schemas.microsoft.com/office/drawing/2014/main" id="{BD297ABE-D955-B1DA-DC39-9BF3F9C7583F}"/>
              </a:ext>
            </a:extLst>
          </p:cNvPr>
          <p:cNvSpPr/>
          <p:nvPr/>
        </p:nvSpPr>
        <p:spPr>
          <a:xfrm>
            <a:off x="556468" y="1744251"/>
            <a:ext cx="47036" cy="1762046"/>
          </a:xfrm>
          <a:prstGeom prst="rect">
            <a:avLst/>
          </a:prstGeom>
          <a:solidFill>
            <a:srgbClr val="D97706"/>
          </a:solidFill>
          <a:ln/>
        </p:spPr>
        <p:txBody>
          <a:bodyPr/>
          <a:lstStyle/>
          <a:p>
            <a:pPr algn="just"/>
            <a:endParaRPr lang="en-US" sz="1000" noProof="0" dirty="0"/>
          </a:p>
        </p:txBody>
      </p:sp>
      <p:sp>
        <p:nvSpPr>
          <p:cNvPr id="26" name="Text 24">
            <a:extLst>
              <a:ext uri="{FF2B5EF4-FFF2-40B4-BE49-F238E27FC236}">
                <a16:creationId xmlns:a16="http://schemas.microsoft.com/office/drawing/2014/main" id="{2A425B09-D69B-7452-68A2-388FD95A13DB}"/>
              </a:ext>
            </a:extLst>
          </p:cNvPr>
          <p:cNvSpPr/>
          <p:nvPr/>
        </p:nvSpPr>
        <p:spPr>
          <a:xfrm>
            <a:off x="830788" y="1819275"/>
            <a:ext cx="7589520" cy="1601906"/>
          </a:xfrm>
          <a:prstGeom prst="rect">
            <a:avLst/>
          </a:prstGeom>
          <a:noFill/>
          <a:ln/>
        </p:spPr>
        <p:txBody>
          <a:bodyPr wrap="square" lIns="91440" tIns="45720" rIns="91440" bIns="45720" rtlCol="0" anchor="t"/>
          <a:lstStyle/>
          <a:p>
            <a:pPr algn="just"/>
            <a:r>
              <a:rPr lang="en-US" sz="1000" b="1" kern="0" spc="200" noProof="0" dirty="0">
                <a:solidFill>
                  <a:schemeClr val="accent2"/>
                </a:solidFill>
              </a:rPr>
              <a:t>SUMMARY</a:t>
            </a:r>
            <a:r>
              <a:rPr lang="en-US" sz="1000" b="1" kern="0" spc="200" noProof="0" dirty="0">
                <a:solidFill>
                  <a:srgbClr val="DC2626"/>
                </a:solidFill>
              </a:rPr>
              <a:t>  </a:t>
            </a:r>
          </a:p>
          <a:p>
            <a:pPr algn="just"/>
            <a:r>
              <a:rPr lang="en-US" sz="1000" noProof="0" dirty="0">
                <a:solidFill>
                  <a:srgbClr val="64748B"/>
                </a:solidFill>
              </a:rPr>
              <a:t>This study developed an ML-based clinical decision support tool to predict healthcare-associated infections (HAI) before symptoms appear, using routine hospital data from over 290,000 patients across 450+ US hospitals. The model was able to detect infection risk up to 48h before clinical suspicion, outperforming established clinical scoring systems like </a:t>
            </a:r>
            <a:r>
              <a:rPr lang="en-US" sz="1000" noProof="0" dirty="0" err="1">
                <a:solidFill>
                  <a:srgbClr val="64748B"/>
                </a:solidFill>
              </a:rPr>
              <a:t>qSOFA</a:t>
            </a:r>
            <a:r>
              <a:rPr lang="en-US" sz="1000" noProof="0" dirty="0">
                <a:solidFill>
                  <a:srgbClr val="64748B"/>
                </a:solidFill>
              </a:rPr>
              <a:t>. The study also analyzed which clinical features contributed most to predictions, making the model more interpretable for clinical use.</a:t>
            </a:r>
            <a:endParaRPr lang="en-US" sz="1000" noProof="0" dirty="0"/>
          </a:p>
        </p:txBody>
      </p:sp>
    </p:spTree>
    <p:extLst>
      <p:ext uri="{BB962C8B-B14F-4D97-AF65-F5344CB8AC3E}">
        <p14:creationId xmlns:p14="http://schemas.microsoft.com/office/powerpoint/2010/main" val="78036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E312-2235-72BB-0612-10F4B41D11C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8413ED-B8C6-BAF8-D742-6CD4CAE646A8}"/>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353EBB8B-273B-8C7E-C261-3448D5DCC8A3}"/>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#3</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EF02165A-E742-F4D5-D2FA-A98142F9F591}"/>
              </a:ext>
            </a:extLst>
          </p:cNvPr>
          <p:cNvSpPr/>
          <p:nvPr/>
        </p:nvSpPr>
        <p:spPr>
          <a:xfrm>
            <a:off x="601272" y="1104548"/>
            <a:ext cx="3840480" cy="2330945"/>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0" name="Shape 8">
            <a:extLst>
              <a:ext uri="{FF2B5EF4-FFF2-40B4-BE49-F238E27FC236}">
                <a16:creationId xmlns:a16="http://schemas.microsoft.com/office/drawing/2014/main" id="{0DD6AFB5-13CE-39CF-0341-2A003872D59B}"/>
              </a:ext>
            </a:extLst>
          </p:cNvPr>
          <p:cNvSpPr/>
          <p:nvPr/>
        </p:nvSpPr>
        <p:spPr>
          <a:xfrm>
            <a:off x="601272" y="1104548"/>
            <a:ext cx="54864" cy="2330945"/>
          </a:xfrm>
          <a:prstGeom prst="rect">
            <a:avLst/>
          </a:prstGeom>
          <a:solidFill>
            <a:srgbClr val="1C7293"/>
          </a:solidFill>
          <a:ln/>
        </p:spPr>
        <p:txBody>
          <a:bodyPr/>
          <a:lstStyle/>
          <a:p>
            <a:pPr algn="just"/>
            <a:endParaRPr lang="en-US" sz="1000" noProof="0" dirty="0"/>
          </a:p>
        </p:txBody>
      </p:sp>
      <p:sp>
        <p:nvSpPr>
          <p:cNvPr id="11" name="Text 9">
            <a:extLst>
              <a:ext uri="{FF2B5EF4-FFF2-40B4-BE49-F238E27FC236}">
                <a16:creationId xmlns:a16="http://schemas.microsoft.com/office/drawing/2014/main" id="{C72EDE9D-A4F9-1211-FFDC-0F4A8845325A}"/>
              </a:ext>
            </a:extLst>
          </p:cNvPr>
          <p:cNvSpPr/>
          <p:nvPr/>
        </p:nvSpPr>
        <p:spPr>
          <a:xfrm>
            <a:off x="784152" y="1150268"/>
            <a:ext cx="3520440" cy="2330945"/>
          </a:xfrm>
          <a:prstGeom prst="rect">
            <a:avLst/>
          </a:prstGeom>
          <a:noFill/>
          <a:ln/>
        </p:spPr>
        <p:txBody>
          <a:bodyPr wrap="square" rtlCol="0" anchor="t"/>
          <a:lstStyle/>
          <a:p>
            <a:pPr marL="0" indent="0" algn="just">
              <a:buNone/>
            </a:pPr>
            <a:r>
              <a:rPr lang="en-US" sz="1000" b="1" kern="0" spc="200" noProof="0" dirty="0">
                <a:solidFill>
                  <a:srgbClr val="1C7293"/>
                </a:solidFill>
              </a:rPr>
              <a:t>DATASET</a:t>
            </a:r>
            <a:endParaRPr lang="en-US" sz="1000" noProof="0" dirty="0"/>
          </a:p>
          <a:p>
            <a:pPr marL="171450" indent="-171450" algn="just">
              <a:buFont typeface="Arial" panose="020B0604020202020204" pitchFamily="34" charset="0"/>
              <a:buChar char="•"/>
            </a:pPr>
            <a:r>
              <a:rPr lang="en-US" sz="1000" noProof="0" dirty="0">
                <a:solidFill>
                  <a:srgbClr val="64748B"/>
                </a:solidFill>
              </a:rPr>
              <a:t>Three combined US hospital datasets: MIMIC-III, </a:t>
            </a:r>
            <a:r>
              <a:rPr lang="en-US" sz="1000" noProof="0" dirty="0" err="1">
                <a:solidFill>
                  <a:srgbClr val="64748B"/>
                </a:solidFill>
              </a:rPr>
              <a:t>eICU</a:t>
            </a:r>
            <a:r>
              <a:rPr lang="en-US" sz="1000" noProof="0" dirty="0">
                <a:solidFill>
                  <a:srgbClr val="64748B"/>
                </a:solidFill>
              </a:rPr>
              <a:t>, and Banner Health. 293,109 patients total (36,782 HAI, 256,327 controls), from 450+ hospitals, 2001–2016.</a:t>
            </a:r>
          </a:p>
          <a:p>
            <a:pPr marL="171450" indent="-171450" algn="just">
              <a:buFont typeface="Arial" panose="020B0604020202020204" pitchFamily="34" charset="0"/>
              <a:buChar char="•"/>
            </a:pPr>
            <a:r>
              <a:rPr lang="en-US" sz="1000" b="1" noProof="0" dirty="0">
                <a:solidFill>
                  <a:srgbClr val="64748B"/>
                </a:solidFill>
              </a:rPr>
              <a:t>Variables:</a:t>
            </a:r>
            <a:r>
              <a:rPr lang="en-US" sz="1000" noProof="0" dirty="0">
                <a:solidFill>
                  <a:srgbClr val="64748B"/>
                </a:solidFill>
              </a:rPr>
              <a:t> demographics (age, gender, height, weight), vital signs (heart rate, blood pressure, temperature, SpO2, respiration), and laboratory measurements (163 total — metabolic panels, blood count, blood gas, etc.).</a:t>
            </a:r>
          </a:p>
          <a:p>
            <a:pPr marL="171450" indent="-171450" algn="just">
              <a:buFont typeface="Arial" panose="020B0604020202020204" pitchFamily="34" charset="0"/>
              <a:buChar char="•"/>
            </a:pPr>
            <a:r>
              <a:rPr lang="en-US" sz="1000" b="1" noProof="0" dirty="0">
                <a:solidFill>
                  <a:srgbClr val="64748B"/>
                </a:solidFill>
              </a:rPr>
              <a:t>Predicted:</a:t>
            </a:r>
            <a:r>
              <a:rPr lang="en-US" sz="1000" noProof="0" dirty="0">
                <a:solidFill>
                  <a:srgbClr val="64748B"/>
                </a:solidFill>
              </a:rPr>
              <a:t> whether a patient would develop a HAI, up to 48h before clinical suspicion (defined as ordering a microbiology test or starting antibiotics).</a:t>
            </a:r>
            <a:endParaRPr lang="en-US" sz="1000" noProof="0" dirty="0"/>
          </a:p>
        </p:txBody>
      </p:sp>
      <p:sp>
        <p:nvSpPr>
          <p:cNvPr id="12" name="Shape 10">
            <a:extLst>
              <a:ext uri="{FF2B5EF4-FFF2-40B4-BE49-F238E27FC236}">
                <a16:creationId xmlns:a16="http://schemas.microsoft.com/office/drawing/2014/main" id="{EB75B862-E361-B097-56CD-DCEE548D4982}"/>
              </a:ext>
            </a:extLst>
          </p:cNvPr>
          <p:cNvSpPr/>
          <p:nvPr/>
        </p:nvSpPr>
        <p:spPr>
          <a:xfrm>
            <a:off x="548640" y="3657277"/>
            <a:ext cx="3840480" cy="1197924"/>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3" name="Shape 11">
            <a:extLst>
              <a:ext uri="{FF2B5EF4-FFF2-40B4-BE49-F238E27FC236}">
                <a16:creationId xmlns:a16="http://schemas.microsoft.com/office/drawing/2014/main" id="{09AFC347-AE54-F796-9E9F-A2971BD5AECC}"/>
              </a:ext>
            </a:extLst>
          </p:cNvPr>
          <p:cNvSpPr/>
          <p:nvPr/>
        </p:nvSpPr>
        <p:spPr>
          <a:xfrm>
            <a:off x="548640" y="3657277"/>
            <a:ext cx="54864" cy="1197924"/>
          </a:xfrm>
          <a:prstGeom prst="rect">
            <a:avLst/>
          </a:prstGeom>
          <a:solidFill>
            <a:srgbClr val="065A82"/>
          </a:solidFill>
          <a:ln/>
        </p:spPr>
        <p:txBody>
          <a:bodyPr/>
          <a:lstStyle/>
          <a:p>
            <a:pPr algn="just"/>
            <a:endParaRPr lang="en-US" sz="1000" noProof="0" dirty="0"/>
          </a:p>
        </p:txBody>
      </p:sp>
      <p:sp>
        <p:nvSpPr>
          <p:cNvPr id="14" name="Text 12">
            <a:extLst>
              <a:ext uri="{FF2B5EF4-FFF2-40B4-BE49-F238E27FC236}">
                <a16:creationId xmlns:a16="http://schemas.microsoft.com/office/drawing/2014/main" id="{E83165C1-E3BB-CB67-45CA-2F45BF9EA871}"/>
              </a:ext>
            </a:extLst>
          </p:cNvPr>
          <p:cNvSpPr/>
          <p:nvPr/>
        </p:nvSpPr>
        <p:spPr>
          <a:xfrm>
            <a:off x="731520" y="3702997"/>
            <a:ext cx="3520440" cy="1197924"/>
          </a:xfrm>
          <a:prstGeom prst="rect">
            <a:avLst/>
          </a:prstGeom>
          <a:noFill/>
          <a:ln/>
        </p:spPr>
        <p:txBody>
          <a:bodyPr wrap="square" rtlCol="0" anchor="t"/>
          <a:lstStyle/>
          <a:p>
            <a:pPr algn="just"/>
            <a:r>
              <a:rPr lang="en-US" sz="1000" b="1" kern="0" spc="200" noProof="0" dirty="0">
                <a:solidFill>
                  <a:srgbClr val="065A82"/>
                </a:solidFill>
              </a:rPr>
              <a:t>MODELS USED</a:t>
            </a:r>
          </a:p>
          <a:p>
            <a:pPr algn="just"/>
            <a:r>
              <a:rPr lang="en-US" sz="1000" noProof="0" dirty="0">
                <a:solidFill>
                  <a:srgbClr val="64748B"/>
                </a:solidFill>
              </a:rPr>
              <a:t>Ensemble-based boosted decision trees — primarily </a:t>
            </a:r>
            <a:r>
              <a:rPr lang="en-US" sz="1000" noProof="0" dirty="0" err="1">
                <a:solidFill>
                  <a:srgbClr val="64748B"/>
                </a:solidFill>
              </a:rPr>
              <a:t>XGBoost</a:t>
            </a:r>
            <a:r>
              <a:rPr lang="en-US" sz="1000" noProof="0" dirty="0">
                <a:solidFill>
                  <a:srgbClr val="64748B"/>
                </a:solidFill>
              </a:rPr>
              <a:t> (gradient boosting) and AdaBoost. Also tested logistic regression as a baseline. Stratified 5-fold cross-validation. Class imbalance addressed by </a:t>
            </a:r>
            <a:r>
              <a:rPr lang="en-US" sz="1000" noProof="0" dirty="0" err="1">
                <a:solidFill>
                  <a:srgbClr val="64748B"/>
                </a:solidFill>
              </a:rPr>
              <a:t>downsampling</a:t>
            </a:r>
            <a:r>
              <a:rPr lang="en-US" sz="1000" noProof="0" dirty="0">
                <a:solidFill>
                  <a:srgbClr val="64748B"/>
                </a:solidFill>
              </a:rPr>
              <a:t> the control group to maintain 12.5% infection prevalence. Feature importance analyzed using SHAP values.</a:t>
            </a:r>
            <a:endParaRPr lang="en-US" sz="1000" noProof="0" dirty="0"/>
          </a:p>
        </p:txBody>
      </p:sp>
      <p:sp>
        <p:nvSpPr>
          <p:cNvPr id="15" name="Shape 13">
            <a:extLst>
              <a:ext uri="{FF2B5EF4-FFF2-40B4-BE49-F238E27FC236}">
                <a16:creationId xmlns:a16="http://schemas.microsoft.com/office/drawing/2014/main" id="{AE9DCB9A-3C2D-7FFD-3D61-9325327280F9}"/>
              </a:ext>
            </a:extLst>
          </p:cNvPr>
          <p:cNvSpPr/>
          <p:nvPr/>
        </p:nvSpPr>
        <p:spPr>
          <a:xfrm>
            <a:off x="4754880" y="1104549"/>
            <a:ext cx="3840480" cy="2330944"/>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6" name="Shape 14">
            <a:extLst>
              <a:ext uri="{FF2B5EF4-FFF2-40B4-BE49-F238E27FC236}">
                <a16:creationId xmlns:a16="http://schemas.microsoft.com/office/drawing/2014/main" id="{E0A68CEF-63F8-4F51-5858-C992A10FEC09}"/>
              </a:ext>
            </a:extLst>
          </p:cNvPr>
          <p:cNvSpPr/>
          <p:nvPr/>
        </p:nvSpPr>
        <p:spPr>
          <a:xfrm>
            <a:off x="4754880" y="1104549"/>
            <a:ext cx="54864" cy="2330944"/>
          </a:xfrm>
          <a:prstGeom prst="rect">
            <a:avLst/>
          </a:prstGeom>
          <a:solidFill>
            <a:srgbClr val="21295C"/>
          </a:solidFill>
          <a:ln/>
        </p:spPr>
        <p:txBody>
          <a:bodyPr/>
          <a:lstStyle/>
          <a:p>
            <a:pPr algn="just"/>
            <a:endParaRPr lang="en-US" sz="1000" noProof="0" dirty="0"/>
          </a:p>
        </p:txBody>
      </p:sp>
      <p:sp>
        <p:nvSpPr>
          <p:cNvPr id="17" name="Text 15">
            <a:extLst>
              <a:ext uri="{FF2B5EF4-FFF2-40B4-BE49-F238E27FC236}">
                <a16:creationId xmlns:a16="http://schemas.microsoft.com/office/drawing/2014/main" id="{965083F5-F92D-90ED-D6D7-59EDD9427175}"/>
              </a:ext>
            </a:extLst>
          </p:cNvPr>
          <p:cNvSpPr/>
          <p:nvPr/>
        </p:nvSpPr>
        <p:spPr>
          <a:xfrm>
            <a:off x="4937760" y="1150269"/>
            <a:ext cx="3520440" cy="2330944"/>
          </a:xfrm>
          <a:prstGeom prst="rect">
            <a:avLst/>
          </a:prstGeom>
          <a:noFill/>
          <a:ln/>
        </p:spPr>
        <p:txBody>
          <a:bodyPr wrap="square" rtlCol="0" anchor="t"/>
          <a:lstStyle/>
          <a:p>
            <a:pPr algn="just"/>
            <a:r>
              <a:rPr lang="en-US" sz="1000" b="1" kern="0" spc="200" noProof="0" dirty="0">
                <a:solidFill>
                  <a:srgbClr val="21295C"/>
                </a:solidFill>
              </a:rPr>
              <a:t>RESULTS</a:t>
            </a:r>
          </a:p>
          <a:p>
            <a:pPr marL="171450" indent="-171450" algn="just">
              <a:buFont typeface="Arial" panose="020B0604020202020204" pitchFamily="34" charset="0"/>
              <a:buChar char="•"/>
            </a:pPr>
            <a:r>
              <a:rPr lang="en-US" sz="1000" noProof="0" dirty="0">
                <a:solidFill>
                  <a:srgbClr val="64748B"/>
                </a:solidFill>
              </a:rPr>
              <a:t>Best model (</a:t>
            </a:r>
            <a:r>
              <a:rPr lang="en-US" sz="1000" noProof="0" dirty="0" err="1">
                <a:solidFill>
                  <a:srgbClr val="64748B"/>
                </a:solidFill>
              </a:rPr>
              <a:t>XGBoost</a:t>
            </a:r>
            <a:r>
              <a:rPr lang="en-US" sz="1000" noProof="0" dirty="0">
                <a:solidFill>
                  <a:srgbClr val="64748B"/>
                </a:solidFill>
              </a:rPr>
              <a:t>, 163 features): AUC 0.88 at 1h before clinical suspicion, AUC &gt;0.85 maintained up to 48h before suspicion. </a:t>
            </a:r>
          </a:p>
          <a:p>
            <a:pPr marL="171450" indent="-171450" algn="just">
              <a:buFont typeface="Arial" panose="020B0604020202020204" pitchFamily="34" charset="0"/>
              <a:buChar char="•"/>
            </a:pPr>
            <a:r>
              <a:rPr lang="en-US" sz="1000" noProof="0" dirty="0">
                <a:solidFill>
                  <a:srgbClr val="64748B"/>
                </a:solidFill>
              </a:rPr>
              <a:t>Reduced model (36 most common features): AUC 0.86 — still strong with half the variables. </a:t>
            </a:r>
          </a:p>
          <a:p>
            <a:pPr marL="171450" indent="-171450" algn="just">
              <a:buFont typeface="Arial" panose="020B0604020202020204" pitchFamily="34" charset="0"/>
              <a:buChar char="•"/>
            </a:pPr>
            <a:r>
              <a:rPr lang="en-US" sz="1000" noProof="0" dirty="0">
                <a:solidFill>
                  <a:srgbClr val="64748B"/>
                </a:solidFill>
              </a:rPr>
              <a:t>Vitals-only model (no lab tests): AUC 0.81.</a:t>
            </a:r>
          </a:p>
          <a:p>
            <a:pPr marL="171450" indent="-171450" algn="just">
              <a:buFont typeface="Arial" panose="020B0604020202020204" pitchFamily="34" charset="0"/>
              <a:buChar char="•"/>
            </a:pPr>
            <a:r>
              <a:rPr lang="en-US" sz="1000" noProof="0" dirty="0">
                <a:solidFill>
                  <a:srgbClr val="64748B"/>
                </a:solidFill>
              </a:rPr>
              <a:t>Compared to single temperature: AUC 0.59. Compared to </a:t>
            </a:r>
            <a:r>
              <a:rPr lang="en-US" sz="1000" noProof="0" dirty="0" err="1">
                <a:solidFill>
                  <a:srgbClr val="64748B"/>
                </a:solidFill>
              </a:rPr>
              <a:t>qSOFA</a:t>
            </a:r>
            <a:r>
              <a:rPr lang="en-US" sz="1000" noProof="0" dirty="0">
                <a:solidFill>
                  <a:srgbClr val="64748B"/>
                </a:solidFill>
              </a:rPr>
              <a:t> score: AUC 0.59. </a:t>
            </a:r>
          </a:p>
          <a:p>
            <a:pPr marL="171450" indent="-171450" algn="just">
              <a:buFont typeface="Arial" panose="020B0604020202020204" pitchFamily="34" charset="0"/>
              <a:buChar char="•"/>
            </a:pPr>
            <a:r>
              <a:rPr lang="en-US" sz="1000" noProof="0" dirty="0">
                <a:solidFill>
                  <a:srgbClr val="64748B"/>
                </a:solidFill>
              </a:rPr>
              <a:t>Model performed best for sepsis (recall 0.70) and bloodstream infection (recall 0.67), worst for urinary infections (recall 0.46). </a:t>
            </a:r>
          </a:p>
          <a:p>
            <a:pPr marL="171450" indent="-171450" algn="just">
              <a:buFont typeface="Arial" panose="020B0604020202020204" pitchFamily="34" charset="0"/>
              <a:buChar char="•"/>
            </a:pPr>
            <a:r>
              <a:rPr lang="en-US" sz="1000" noProof="0" dirty="0">
                <a:solidFill>
                  <a:srgbClr val="64748B"/>
                </a:solidFill>
              </a:rPr>
              <a:t>Top predictive features: albumin, SpO2, lactate, temperature, WBC.</a:t>
            </a:r>
          </a:p>
        </p:txBody>
      </p:sp>
      <p:sp>
        <p:nvSpPr>
          <p:cNvPr id="21" name="Shape 19">
            <a:extLst>
              <a:ext uri="{FF2B5EF4-FFF2-40B4-BE49-F238E27FC236}">
                <a16:creationId xmlns:a16="http://schemas.microsoft.com/office/drawing/2014/main" id="{C0D1CF20-E14A-5AD9-5D2C-8BDE0733A992}"/>
              </a:ext>
            </a:extLst>
          </p:cNvPr>
          <p:cNvSpPr/>
          <p:nvPr/>
        </p:nvSpPr>
        <p:spPr>
          <a:xfrm>
            <a:off x="4754880" y="3657277"/>
            <a:ext cx="3840480" cy="1197924"/>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2" name="Shape 20">
            <a:extLst>
              <a:ext uri="{FF2B5EF4-FFF2-40B4-BE49-F238E27FC236}">
                <a16:creationId xmlns:a16="http://schemas.microsoft.com/office/drawing/2014/main" id="{0A79BE97-8EDF-71F3-6C91-9D23F5D1CEA5}"/>
              </a:ext>
            </a:extLst>
          </p:cNvPr>
          <p:cNvSpPr/>
          <p:nvPr/>
        </p:nvSpPr>
        <p:spPr>
          <a:xfrm>
            <a:off x="4754880" y="3657277"/>
            <a:ext cx="54864" cy="1197924"/>
          </a:xfrm>
          <a:prstGeom prst="rect">
            <a:avLst/>
          </a:prstGeom>
          <a:solidFill>
            <a:srgbClr val="FF0000"/>
          </a:solidFill>
          <a:ln>
            <a:noFill/>
          </a:ln>
        </p:spPr>
        <p:txBody>
          <a:bodyPr/>
          <a:lstStyle/>
          <a:p>
            <a:pPr algn="just"/>
            <a:endParaRPr lang="en-US" sz="1000" noProof="0" dirty="0">
              <a:solidFill>
                <a:srgbClr val="FF0000"/>
              </a:solidFill>
            </a:endParaRPr>
          </a:p>
        </p:txBody>
      </p:sp>
      <p:sp>
        <p:nvSpPr>
          <p:cNvPr id="23" name="Text 21">
            <a:extLst>
              <a:ext uri="{FF2B5EF4-FFF2-40B4-BE49-F238E27FC236}">
                <a16:creationId xmlns:a16="http://schemas.microsoft.com/office/drawing/2014/main" id="{90C9510D-9A75-3F98-48E7-85ED56558762}"/>
              </a:ext>
            </a:extLst>
          </p:cNvPr>
          <p:cNvSpPr/>
          <p:nvPr/>
        </p:nvSpPr>
        <p:spPr>
          <a:xfrm>
            <a:off x="4937760" y="3702997"/>
            <a:ext cx="3520440" cy="1197924"/>
          </a:xfrm>
          <a:prstGeom prst="rect">
            <a:avLst/>
          </a:prstGeom>
          <a:noFill/>
          <a:ln/>
        </p:spPr>
        <p:txBody>
          <a:bodyPr wrap="square" rtlCol="0" anchor="t"/>
          <a:lstStyle/>
          <a:p>
            <a:pPr marL="0" indent="0" algn="just">
              <a:buNone/>
            </a:pPr>
            <a:r>
              <a:rPr lang="en-US" sz="1000" b="1" kern="0" spc="200" noProof="0" dirty="0">
                <a:solidFill>
                  <a:srgbClr val="FF0000"/>
                </a:solidFill>
              </a:rPr>
              <a:t>GAP / LIMITATION</a:t>
            </a:r>
            <a:endParaRPr lang="en-US" sz="1000" noProof="0" dirty="0">
              <a:solidFill>
                <a:srgbClr val="FF0000"/>
              </a:solidFill>
            </a:endParaRPr>
          </a:p>
          <a:p>
            <a:pPr algn="just"/>
            <a:r>
              <a:rPr lang="en-US" sz="1000" noProof="0" dirty="0">
                <a:solidFill>
                  <a:srgbClr val="64748B"/>
                </a:solidFill>
              </a:rPr>
              <a:t>All data retrospective — model not tested in real clinical practice. Data from before ICD-10 adoption, so infection labels based on older, less specific ICD-9 codes. Exact timing of clinical suspicion hard to determine precisely. Patients with comorbidities (e.g. fluid disorders, cancer, anemia) had higher false positive rates.</a:t>
            </a:r>
            <a:endParaRPr lang="en-US" sz="1000" noProof="0" dirty="0"/>
          </a:p>
        </p:txBody>
      </p:sp>
    </p:spTree>
    <p:extLst>
      <p:ext uri="{BB962C8B-B14F-4D97-AF65-F5344CB8AC3E}">
        <p14:creationId xmlns:p14="http://schemas.microsoft.com/office/powerpoint/2010/main" val="1940048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028E-A897-6AE9-6374-093259F3A0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933BF6-C1CB-3B58-6F2D-CD4B14FACB71}"/>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8F8D3778-D64F-3526-DEB6-4C4CF79C2ADF}"/>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#4</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67039964-0FA1-8D71-A38F-81E14B4348DD}"/>
              </a:ext>
            </a:extLst>
          </p:cNvPr>
          <p:cNvSpPr/>
          <p:nvPr/>
        </p:nvSpPr>
        <p:spPr>
          <a:xfrm>
            <a:off x="548640" y="825778"/>
            <a:ext cx="8046720" cy="457200"/>
          </a:xfrm>
          <a:prstGeom prst="rect">
            <a:avLst/>
          </a:prstGeom>
          <a:noFill/>
          <a:ln/>
        </p:spPr>
        <p:txBody>
          <a:bodyPr wrap="square" lIns="0" tIns="0" rIns="0" bIns="0" rtlCol="0" anchor="ctr"/>
          <a:lstStyle/>
          <a:p>
            <a:pPr algn="just"/>
            <a:r>
              <a:rPr lang="en-US" noProof="0" dirty="0"/>
              <a:t>Prediction of risk of acquiring urinary tract infection during hospital stay based on machine-learning: A retrospective cohort study</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59895ECD-5B0D-DD8A-DA4B-5D529DC1F896}"/>
              </a:ext>
            </a:extLst>
          </p:cNvPr>
          <p:cNvSpPr/>
          <p:nvPr/>
        </p:nvSpPr>
        <p:spPr>
          <a:xfrm>
            <a:off x="548640" y="1338362"/>
            <a:ext cx="8046720" cy="274320"/>
          </a:xfrm>
          <a:prstGeom prst="rect">
            <a:avLst/>
          </a:prstGeom>
          <a:noFill/>
          <a:ln/>
        </p:spPr>
        <p:txBody>
          <a:bodyPr wrap="square" lIns="0" tIns="0" rIns="0" bIns="0" rtlCol="0" anchor="ctr"/>
          <a:lstStyle/>
          <a:p>
            <a:pPr marL="0" indent="0" algn="just">
              <a:buNone/>
            </a:pPr>
            <a:r>
              <a:rPr lang="en-US" sz="1050" i="1" noProof="0" dirty="0">
                <a:solidFill>
                  <a:srgbClr val="64748B"/>
                </a:solidFill>
                <a:latin typeface="Calibri"/>
                <a:ea typeface="Calibri"/>
                <a:cs typeface="Calibri"/>
              </a:rPr>
              <a:t>Møller et al., 2021, PLOS ONE</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08EDF83D-36C0-39D8-44D4-EB116308E163}"/>
              </a:ext>
            </a:extLst>
          </p:cNvPr>
          <p:cNvSpPr/>
          <p:nvPr/>
        </p:nvSpPr>
        <p:spPr>
          <a:xfrm>
            <a:off x="545122" y="3637866"/>
            <a:ext cx="8058065" cy="1302592"/>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7" name="Shape 5">
            <a:extLst>
              <a:ext uri="{FF2B5EF4-FFF2-40B4-BE49-F238E27FC236}">
                <a16:creationId xmlns:a16="http://schemas.microsoft.com/office/drawing/2014/main" id="{44D3C529-083D-87CA-10D2-533A85BA99A2}"/>
              </a:ext>
            </a:extLst>
          </p:cNvPr>
          <p:cNvSpPr/>
          <p:nvPr/>
        </p:nvSpPr>
        <p:spPr>
          <a:xfrm>
            <a:off x="548640" y="3629166"/>
            <a:ext cx="54864" cy="1302592"/>
          </a:xfrm>
          <a:prstGeom prst="rect">
            <a:avLst/>
          </a:prstGeom>
          <a:solidFill>
            <a:srgbClr val="0D9488"/>
          </a:solidFill>
          <a:ln/>
        </p:spPr>
        <p:txBody>
          <a:bodyPr/>
          <a:lstStyle/>
          <a:p>
            <a:pPr algn="just"/>
            <a:endParaRPr lang="en-US" sz="1000" noProof="0" dirty="0"/>
          </a:p>
        </p:txBody>
      </p:sp>
      <p:sp>
        <p:nvSpPr>
          <p:cNvPr id="8" name="Text 6">
            <a:extLst>
              <a:ext uri="{FF2B5EF4-FFF2-40B4-BE49-F238E27FC236}">
                <a16:creationId xmlns:a16="http://schemas.microsoft.com/office/drawing/2014/main" id="{C28B1744-3C64-D8FC-DCCA-A5452AA5C19A}"/>
              </a:ext>
            </a:extLst>
          </p:cNvPr>
          <p:cNvSpPr/>
          <p:nvPr/>
        </p:nvSpPr>
        <p:spPr>
          <a:xfrm>
            <a:off x="731520" y="3724170"/>
            <a:ext cx="7688788" cy="1192400"/>
          </a:xfrm>
          <a:prstGeom prst="rect">
            <a:avLst/>
          </a:prstGeom>
          <a:noFill/>
          <a:ln/>
        </p:spPr>
        <p:txBody>
          <a:bodyPr wrap="square" rtlCol="0" anchor="t"/>
          <a:lstStyle/>
          <a:p>
            <a:pPr algn="just"/>
            <a:r>
              <a:rPr lang="en-US" sz="1000" b="1" kern="0" spc="200" noProof="0" dirty="0">
                <a:solidFill>
                  <a:srgbClr val="0D9488"/>
                </a:solidFill>
              </a:rPr>
              <a:t>INTENTION / RESEARCH QUESTION</a:t>
            </a:r>
          </a:p>
          <a:p>
            <a:pPr algn="just"/>
            <a:r>
              <a:rPr lang="en-US" sz="1000" noProof="0" dirty="0">
                <a:solidFill>
                  <a:srgbClr val="64748B"/>
                </a:solidFill>
              </a:rPr>
              <a:t>Can ML models predict which patients will develop a UTI during hospital stay — both at admission (Entry Model) and after 48h (HA-UTI Model)?</a:t>
            </a:r>
          </a:p>
        </p:txBody>
      </p:sp>
      <p:sp>
        <p:nvSpPr>
          <p:cNvPr id="24" name="Shape 22">
            <a:extLst>
              <a:ext uri="{FF2B5EF4-FFF2-40B4-BE49-F238E27FC236}">
                <a16:creationId xmlns:a16="http://schemas.microsoft.com/office/drawing/2014/main" id="{E282560E-F469-54FB-4D61-DA3E4813126E}"/>
              </a:ext>
            </a:extLst>
          </p:cNvPr>
          <p:cNvSpPr/>
          <p:nvPr/>
        </p:nvSpPr>
        <p:spPr>
          <a:xfrm>
            <a:off x="556468" y="1744251"/>
            <a:ext cx="8046720" cy="1762046"/>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5" name="Shape 23">
            <a:extLst>
              <a:ext uri="{FF2B5EF4-FFF2-40B4-BE49-F238E27FC236}">
                <a16:creationId xmlns:a16="http://schemas.microsoft.com/office/drawing/2014/main" id="{8C169BA3-434C-E93B-66BD-2EC62AFD2115}"/>
              </a:ext>
            </a:extLst>
          </p:cNvPr>
          <p:cNvSpPr/>
          <p:nvPr/>
        </p:nvSpPr>
        <p:spPr>
          <a:xfrm>
            <a:off x="556468" y="1744251"/>
            <a:ext cx="47036" cy="1762046"/>
          </a:xfrm>
          <a:prstGeom prst="rect">
            <a:avLst/>
          </a:prstGeom>
          <a:solidFill>
            <a:srgbClr val="D97706"/>
          </a:solidFill>
          <a:ln/>
        </p:spPr>
        <p:txBody>
          <a:bodyPr/>
          <a:lstStyle/>
          <a:p>
            <a:pPr algn="just"/>
            <a:endParaRPr lang="en-US" sz="1000" noProof="0" dirty="0"/>
          </a:p>
        </p:txBody>
      </p:sp>
      <p:sp>
        <p:nvSpPr>
          <p:cNvPr id="26" name="Text 24">
            <a:extLst>
              <a:ext uri="{FF2B5EF4-FFF2-40B4-BE49-F238E27FC236}">
                <a16:creationId xmlns:a16="http://schemas.microsoft.com/office/drawing/2014/main" id="{3BBE4BEE-53F1-C1AC-CCB8-CC6FCD962EDC}"/>
              </a:ext>
            </a:extLst>
          </p:cNvPr>
          <p:cNvSpPr/>
          <p:nvPr/>
        </p:nvSpPr>
        <p:spPr>
          <a:xfrm>
            <a:off x="830788" y="1819275"/>
            <a:ext cx="7589520" cy="1601906"/>
          </a:xfrm>
          <a:prstGeom prst="rect">
            <a:avLst/>
          </a:prstGeom>
          <a:noFill/>
          <a:ln/>
        </p:spPr>
        <p:txBody>
          <a:bodyPr wrap="square" lIns="91440" tIns="45720" rIns="91440" bIns="45720" rtlCol="0" anchor="t"/>
          <a:lstStyle/>
          <a:p>
            <a:pPr algn="just"/>
            <a:r>
              <a:rPr lang="en-US" sz="1000" b="1" kern="0" spc="200" noProof="0" dirty="0">
                <a:solidFill>
                  <a:schemeClr val="accent2"/>
                </a:solidFill>
              </a:rPr>
              <a:t>SUMMARY</a:t>
            </a:r>
            <a:r>
              <a:rPr lang="en-US" sz="1000" b="1" kern="0" spc="200" noProof="0" dirty="0">
                <a:solidFill>
                  <a:srgbClr val="DC2626"/>
                </a:solidFill>
              </a:rPr>
              <a:t>  </a:t>
            </a:r>
          </a:p>
          <a:p>
            <a:pPr algn="just"/>
            <a:r>
              <a:rPr lang="en-US" sz="1000" noProof="0" dirty="0">
                <a:solidFill>
                  <a:srgbClr val="64748B"/>
                </a:solidFill>
              </a:rPr>
              <a:t>This study developed two ML models to predict which patients are at risk of developing a urinary tract infection (UTI) during hospital stay — one at the moment of admission, one after 48h. Data came from ~300,000 admissions in southern Denmark. Both models performed well and the authors believe they can serve as real-time early warning systems for clinical staff. Decision Trees were chosen as the preferred model type due to their transparency and ease of clinical interpretation.</a:t>
            </a:r>
            <a:endParaRPr lang="en-US" sz="1000" noProof="0" dirty="0"/>
          </a:p>
        </p:txBody>
      </p:sp>
    </p:spTree>
    <p:extLst>
      <p:ext uri="{BB962C8B-B14F-4D97-AF65-F5344CB8AC3E}">
        <p14:creationId xmlns:p14="http://schemas.microsoft.com/office/powerpoint/2010/main" val="525110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15D37-F294-0128-9986-EECF7D7090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E51A5A-F335-4DC6-4BD4-33B1ADF3F592}"/>
              </a:ext>
            </a:extLst>
          </p:cNvPr>
          <p:cNvSpPr/>
          <p:nvPr/>
        </p:nvSpPr>
        <p:spPr>
          <a:xfrm>
            <a:off x="1" y="0"/>
            <a:ext cx="9144000" cy="729015"/>
          </a:xfrm>
          <a:prstGeom prst="rect">
            <a:avLst/>
          </a:prstGeom>
          <a:solidFill>
            <a:srgbClr val="065A82"/>
          </a:solidFill>
          <a:ln/>
        </p:spPr>
        <p:txBody>
          <a:bodyPr/>
          <a:lstStyle/>
          <a:p>
            <a:pPr algn="just"/>
            <a:endParaRPr lang="en-US" noProof="0" dirty="0"/>
          </a:p>
        </p:txBody>
      </p:sp>
      <p:sp>
        <p:nvSpPr>
          <p:cNvPr id="3" name="Text 1">
            <a:extLst>
              <a:ext uri="{FF2B5EF4-FFF2-40B4-BE49-F238E27FC236}">
                <a16:creationId xmlns:a16="http://schemas.microsoft.com/office/drawing/2014/main" id="{00116D26-7680-156F-CC50-CBD91E18659F}"/>
              </a:ext>
            </a:extLst>
          </p:cNvPr>
          <p:cNvSpPr/>
          <p:nvPr/>
        </p:nvSpPr>
        <p:spPr>
          <a:xfrm>
            <a:off x="572126" y="0"/>
            <a:ext cx="8023234" cy="729015"/>
          </a:xfrm>
          <a:prstGeom prst="rect">
            <a:avLst/>
          </a:prstGeom>
          <a:noFill/>
          <a:ln/>
        </p:spPr>
        <p:txBody>
          <a:bodyPr wrap="square" lIns="91440" tIns="45720" rIns="91440" bIns="45720" rtlCol="0" anchor="ctr"/>
          <a:lstStyle/>
          <a:p>
            <a:pPr marL="0" indent="0" algn="just">
              <a:buNone/>
            </a:pPr>
            <a:r>
              <a:rPr lang="en-US" sz="1400" b="1" kern="0" spc="400" noProof="0" dirty="0">
                <a:solidFill>
                  <a:srgbClr val="FFFFFF"/>
                </a:solidFill>
                <a:latin typeface="Trebuchet MS"/>
                <a:ea typeface="Trebuchet MS" pitchFamily="34" charset="-122"/>
                <a:cs typeface="Trebuchet MS" pitchFamily="34" charset="-120"/>
              </a:rPr>
              <a:t>ARTICLE #4</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13C1749A-EE0D-564D-7EC1-01BAB0A8E166}"/>
              </a:ext>
            </a:extLst>
          </p:cNvPr>
          <p:cNvSpPr/>
          <p:nvPr/>
        </p:nvSpPr>
        <p:spPr>
          <a:xfrm>
            <a:off x="601272" y="1104548"/>
            <a:ext cx="3840480" cy="2330945"/>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0" name="Shape 8">
            <a:extLst>
              <a:ext uri="{FF2B5EF4-FFF2-40B4-BE49-F238E27FC236}">
                <a16:creationId xmlns:a16="http://schemas.microsoft.com/office/drawing/2014/main" id="{0E1ADC26-CAD4-2805-EDF5-71F919D87D2B}"/>
              </a:ext>
            </a:extLst>
          </p:cNvPr>
          <p:cNvSpPr/>
          <p:nvPr/>
        </p:nvSpPr>
        <p:spPr>
          <a:xfrm>
            <a:off x="601272" y="1104548"/>
            <a:ext cx="54864" cy="2330945"/>
          </a:xfrm>
          <a:prstGeom prst="rect">
            <a:avLst/>
          </a:prstGeom>
          <a:solidFill>
            <a:srgbClr val="1C7293"/>
          </a:solidFill>
          <a:ln/>
        </p:spPr>
        <p:txBody>
          <a:bodyPr/>
          <a:lstStyle/>
          <a:p>
            <a:pPr algn="just"/>
            <a:endParaRPr lang="en-US" sz="1000" noProof="0" dirty="0"/>
          </a:p>
        </p:txBody>
      </p:sp>
      <p:sp>
        <p:nvSpPr>
          <p:cNvPr id="11" name="Text 9">
            <a:extLst>
              <a:ext uri="{FF2B5EF4-FFF2-40B4-BE49-F238E27FC236}">
                <a16:creationId xmlns:a16="http://schemas.microsoft.com/office/drawing/2014/main" id="{1676E43E-4D61-1440-7194-E5FBB8C2706D}"/>
              </a:ext>
            </a:extLst>
          </p:cNvPr>
          <p:cNvSpPr/>
          <p:nvPr/>
        </p:nvSpPr>
        <p:spPr>
          <a:xfrm>
            <a:off x="784152" y="1150268"/>
            <a:ext cx="3520440" cy="2330945"/>
          </a:xfrm>
          <a:prstGeom prst="rect">
            <a:avLst/>
          </a:prstGeom>
          <a:noFill/>
          <a:ln/>
        </p:spPr>
        <p:txBody>
          <a:bodyPr wrap="square" rtlCol="0" anchor="t"/>
          <a:lstStyle/>
          <a:p>
            <a:pPr marL="0" indent="0" algn="just">
              <a:buNone/>
            </a:pPr>
            <a:r>
              <a:rPr lang="en-US" sz="1000" b="1" kern="0" spc="200" noProof="0" dirty="0">
                <a:solidFill>
                  <a:srgbClr val="1C7293"/>
                </a:solidFill>
              </a:rPr>
              <a:t>DATASET</a:t>
            </a:r>
            <a:endParaRPr lang="en-US" sz="1000" noProof="0" dirty="0"/>
          </a:p>
          <a:p>
            <a:pPr marL="171450" indent="-171450" algn="just">
              <a:buFont typeface="Arial" panose="020B0604020202020204" pitchFamily="34" charset="0"/>
              <a:buChar char="•"/>
            </a:pPr>
            <a:r>
              <a:rPr lang="en-US" sz="1000" noProof="0" dirty="0">
                <a:solidFill>
                  <a:srgbClr val="64748B"/>
                </a:solidFill>
              </a:rPr>
              <a:t>Region of Southern Denmark, 301,932 adult admissions across 4 hospital trusts, January 2017 – May 2018.</a:t>
            </a:r>
          </a:p>
          <a:p>
            <a:pPr marL="171450" indent="-171450" algn="just">
              <a:buFont typeface="Arial" panose="020B0604020202020204" pitchFamily="34" charset="0"/>
              <a:buChar char="•"/>
            </a:pPr>
            <a:r>
              <a:rPr lang="en-US" sz="1000" b="1" noProof="0" dirty="0">
                <a:solidFill>
                  <a:srgbClr val="64748B"/>
                </a:solidFill>
              </a:rPr>
              <a:t>Variables:</a:t>
            </a:r>
            <a:r>
              <a:rPr lang="en-US" sz="1000" noProof="0" dirty="0">
                <a:solidFill>
                  <a:srgbClr val="64748B"/>
                </a:solidFill>
              </a:rPr>
              <a:t> demographics (age, sex), admission type, readmission status, ICD-10 diagnosis codes (diabetes, urinary retention, kidney disease, stroke, hypertension, COPD, etc.), previous UTIs, previous indwelling urinary catheter (IUC), antibiotic treatment. HA-UTI model additionally used observational data extracted via text mining from clinical notes (fever, dysuria, frequency, urgency, suprapubic tenderness, IUC during admission).</a:t>
            </a:r>
          </a:p>
          <a:p>
            <a:pPr marL="171450" indent="-171450" algn="just">
              <a:buFont typeface="Arial" panose="020B0604020202020204" pitchFamily="34" charset="0"/>
              <a:buChar char="•"/>
            </a:pPr>
            <a:r>
              <a:rPr lang="en-US" sz="1000" b="1" noProof="0" dirty="0">
                <a:solidFill>
                  <a:srgbClr val="64748B"/>
                </a:solidFill>
              </a:rPr>
              <a:t>Predicted:</a:t>
            </a:r>
            <a:r>
              <a:rPr lang="en-US" sz="1000" noProof="0" dirty="0">
                <a:solidFill>
                  <a:srgbClr val="64748B"/>
                </a:solidFill>
              </a:rPr>
              <a:t> Entry Model — any UTI (CA-UTI or HA-UTI) at admission. HA-UTI Model — hospital-acquired UTI developing after 48h of admission.</a:t>
            </a:r>
            <a:endParaRPr lang="en-US" sz="1000" noProof="0" dirty="0"/>
          </a:p>
        </p:txBody>
      </p:sp>
      <p:sp>
        <p:nvSpPr>
          <p:cNvPr id="12" name="Shape 10">
            <a:extLst>
              <a:ext uri="{FF2B5EF4-FFF2-40B4-BE49-F238E27FC236}">
                <a16:creationId xmlns:a16="http://schemas.microsoft.com/office/drawing/2014/main" id="{B64F1494-BAF9-EE29-2449-416608EB09B5}"/>
              </a:ext>
            </a:extLst>
          </p:cNvPr>
          <p:cNvSpPr/>
          <p:nvPr/>
        </p:nvSpPr>
        <p:spPr>
          <a:xfrm>
            <a:off x="548640" y="3657277"/>
            <a:ext cx="3840480" cy="1197924"/>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3" name="Shape 11">
            <a:extLst>
              <a:ext uri="{FF2B5EF4-FFF2-40B4-BE49-F238E27FC236}">
                <a16:creationId xmlns:a16="http://schemas.microsoft.com/office/drawing/2014/main" id="{EA808773-307C-1614-7AF6-B9AED20FAA1F}"/>
              </a:ext>
            </a:extLst>
          </p:cNvPr>
          <p:cNvSpPr/>
          <p:nvPr/>
        </p:nvSpPr>
        <p:spPr>
          <a:xfrm>
            <a:off x="548640" y="3657277"/>
            <a:ext cx="54864" cy="1197924"/>
          </a:xfrm>
          <a:prstGeom prst="rect">
            <a:avLst/>
          </a:prstGeom>
          <a:solidFill>
            <a:srgbClr val="065A82"/>
          </a:solidFill>
          <a:ln/>
        </p:spPr>
        <p:txBody>
          <a:bodyPr/>
          <a:lstStyle/>
          <a:p>
            <a:pPr algn="just"/>
            <a:endParaRPr lang="en-US" sz="1000" noProof="0" dirty="0"/>
          </a:p>
        </p:txBody>
      </p:sp>
      <p:sp>
        <p:nvSpPr>
          <p:cNvPr id="14" name="Text 12">
            <a:extLst>
              <a:ext uri="{FF2B5EF4-FFF2-40B4-BE49-F238E27FC236}">
                <a16:creationId xmlns:a16="http://schemas.microsoft.com/office/drawing/2014/main" id="{C8498C63-72A6-FEB5-3CEC-E68439A54971}"/>
              </a:ext>
            </a:extLst>
          </p:cNvPr>
          <p:cNvSpPr/>
          <p:nvPr/>
        </p:nvSpPr>
        <p:spPr>
          <a:xfrm>
            <a:off x="731520" y="3702997"/>
            <a:ext cx="3520440" cy="1197924"/>
          </a:xfrm>
          <a:prstGeom prst="rect">
            <a:avLst/>
          </a:prstGeom>
          <a:noFill/>
          <a:ln/>
        </p:spPr>
        <p:txBody>
          <a:bodyPr wrap="square" rtlCol="0" anchor="t"/>
          <a:lstStyle/>
          <a:p>
            <a:pPr algn="just"/>
            <a:r>
              <a:rPr lang="en-US" sz="1000" b="1" kern="0" spc="200" noProof="0" dirty="0">
                <a:solidFill>
                  <a:srgbClr val="065A82"/>
                </a:solidFill>
              </a:rPr>
              <a:t>MODELS USED</a:t>
            </a:r>
          </a:p>
          <a:p>
            <a:pPr algn="just"/>
            <a:r>
              <a:rPr lang="en-US" sz="1000" noProof="0" dirty="0">
                <a:solidFill>
                  <a:srgbClr val="64748B"/>
                </a:solidFill>
              </a:rPr>
              <a:t>Five algorithms compared: Decision Tree, Decision Tree 3-Way Split, Gradient Boosting, Neural Network, Regression. Decision Tree selected as champion model for its transparency. Text mining (NLP) used to extract clinical triggers from unstructured EMR notes. No imputation needed — very few missing values.</a:t>
            </a:r>
            <a:endParaRPr lang="en-US" sz="1000" noProof="0" dirty="0"/>
          </a:p>
        </p:txBody>
      </p:sp>
      <p:sp>
        <p:nvSpPr>
          <p:cNvPr id="15" name="Shape 13">
            <a:extLst>
              <a:ext uri="{FF2B5EF4-FFF2-40B4-BE49-F238E27FC236}">
                <a16:creationId xmlns:a16="http://schemas.microsoft.com/office/drawing/2014/main" id="{71C26828-975C-4D85-BB2D-70CDEA018A46}"/>
              </a:ext>
            </a:extLst>
          </p:cNvPr>
          <p:cNvSpPr/>
          <p:nvPr/>
        </p:nvSpPr>
        <p:spPr>
          <a:xfrm>
            <a:off x="4754880" y="1104549"/>
            <a:ext cx="3840480" cy="2330944"/>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16" name="Shape 14">
            <a:extLst>
              <a:ext uri="{FF2B5EF4-FFF2-40B4-BE49-F238E27FC236}">
                <a16:creationId xmlns:a16="http://schemas.microsoft.com/office/drawing/2014/main" id="{7E6186C2-E7EE-0B42-0DF8-D266BCC30881}"/>
              </a:ext>
            </a:extLst>
          </p:cNvPr>
          <p:cNvSpPr/>
          <p:nvPr/>
        </p:nvSpPr>
        <p:spPr>
          <a:xfrm>
            <a:off x="4754880" y="1104549"/>
            <a:ext cx="54864" cy="2330944"/>
          </a:xfrm>
          <a:prstGeom prst="rect">
            <a:avLst/>
          </a:prstGeom>
          <a:solidFill>
            <a:srgbClr val="21295C"/>
          </a:solidFill>
          <a:ln/>
        </p:spPr>
        <p:txBody>
          <a:bodyPr/>
          <a:lstStyle/>
          <a:p>
            <a:pPr algn="just"/>
            <a:endParaRPr lang="en-US" sz="1000" noProof="0" dirty="0"/>
          </a:p>
        </p:txBody>
      </p:sp>
      <p:sp>
        <p:nvSpPr>
          <p:cNvPr id="17" name="Text 15">
            <a:extLst>
              <a:ext uri="{FF2B5EF4-FFF2-40B4-BE49-F238E27FC236}">
                <a16:creationId xmlns:a16="http://schemas.microsoft.com/office/drawing/2014/main" id="{00A42E49-83A9-648F-DB8F-7FCF402BA911}"/>
              </a:ext>
            </a:extLst>
          </p:cNvPr>
          <p:cNvSpPr/>
          <p:nvPr/>
        </p:nvSpPr>
        <p:spPr>
          <a:xfrm>
            <a:off x="4937760" y="1150269"/>
            <a:ext cx="3520440" cy="2330944"/>
          </a:xfrm>
          <a:prstGeom prst="rect">
            <a:avLst/>
          </a:prstGeom>
          <a:noFill/>
          <a:ln/>
        </p:spPr>
        <p:txBody>
          <a:bodyPr wrap="square" rtlCol="0" anchor="t"/>
          <a:lstStyle/>
          <a:p>
            <a:pPr algn="just"/>
            <a:r>
              <a:rPr lang="en-US" sz="1000" b="1" kern="0" spc="200" noProof="0" dirty="0">
                <a:solidFill>
                  <a:srgbClr val="21295C"/>
                </a:solidFill>
              </a:rPr>
              <a:t>RESULTS</a:t>
            </a:r>
          </a:p>
          <a:p>
            <a:pPr marL="171450" indent="-171450" algn="just">
              <a:buFont typeface="Arial" panose="020B0604020202020204" pitchFamily="34" charset="0"/>
              <a:buChar char="•"/>
            </a:pPr>
            <a:r>
              <a:rPr lang="en-US" sz="1000" noProof="0" dirty="0">
                <a:solidFill>
                  <a:srgbClr val="64748B"/>
                </a:solidFill>
              </a:rPr>
              <a:t>Entry Model (AUC): 0.81–0.84 across all five algorithms — no major differences between them (ANN were the best, but not transparent </a:t>
            </a:r>
            <a:r>
              <a:rPr lang="en-US" sz="1000" noProof="0" dirty="0">
                <a:solidFill>
                  <a:srgbClr val="64748B"/>
                </a:solidFill>
                <a:sym typeface="Wingdings" panose="05000000000000000000" pitchFamily="2" charset="2"/>
              </a:rPr>
              <a:t> decision tree used at the end)</a:t>
            </a:r>
            <a:r>
              <a:rPr lang="en-US" sz="1000" noProof="0" dirty="0">
                <a:solidFill>
                  <a:srgbClr val="64748B"/>
                </a:solidFill>
              </a:rPr>
              <a:t>.</a:t>
            </a:r>
          </a:p>
          <a:p>
            <a:pPr marL="171450" indent="-171450" algn="just">
              <a:buFont typeface="Arial" panose="020B0604020202020204" pitchFamily="34" charset="0"/>
              <a:buChar char="•"/>
            </a:pPr>
            <a:r>
              <a:rPr lang="en-US" sz="1000" noProof="0" dirty="0">
                <a:solidFill>
                  <a:srgbClr val="64748B"/>
                </a:solidFill>
              </a:rPr>
              <a:t>HA-UTI Model (AUC): 0.71–0.77 — lower, as expected (predicting further into the future is harder). </a:t>
            </a:r>
          </a:p>
          <a:p>
            <a:pPr marL="171450" indent="-171450" algn="just">
              <a:buFont typeface="Arial" panose="020B0604020202020204" pitchFamily="34" charset="0"/>
              <a:buChar char="•"/>
            </a:pPr>
            <a:r>
              <a:rPr lang="en-US" sz="1000" noProof="0" dirty="0">
                <a:solidFill>
                  <a:srgbClr val="64748B"/>
                </a:solidFill>
              </a:rPr>
              <a:t>Top predictive features: age, previous CA-UTI, admission type, sex, previous HA-UTI.</a:t>
            </a:r>
          </a:p>
          <a:p>
            <a:pPr marL="171450" indent="-171450" algn="just">
              <a:buFont typeface="Arial" panose="020B0604020202020204" pitchFamily="34" charset="0"/>
              <a:buChar char="•"/>
            </a:pPr>
            <a:r>
              <a:rPr lang="en-US" sz="1000" noProof="0" dirty="0">
                <a:solidFill>
                  <a:srgbClr val="64748B"/>
                </a:solidFill>
              </a:rPr>
              <a:t>Cumulative lift: among the top 10% highest-risk patients, the model found 4x more UTI cases than random selection. Preliminary pilot: 72% of patients who developed HA-UTI had a risk score ≥0.15 at admission.</a:t>
            </a:r>
          </a:p>
        </p:txBody>
      </p:sp>
      <p:sp>
        <p:nvSpPr>
          <p:cNvPr id="21" name="Shape 19">
            <a:extLst>
              <a:ext uri="{FF2B5EF4-FFF2-40B4-BE49-F238E27FC236}">
                <a16:creationId xmlns:a16="http://schemas.microsoft.com/office/drawing/2014/main" id="{252EAC28-C2A6-8CF2-8C68-6AF014776590}"/>
              </a:ext>
            </a:extLst>
          </p:cNvPr>
          <p:cNvSpPr/>
          <p:nvPr/>
        </p:nvSpPr>
        <p:spPr>
          <a:xfrm>
            <a:off x="4754880" y="3657277"/>
            <a:ext cx="3840480" cy="1197924"/>
          </a:xfrm>
          <a:prstGeom prst="rect">
            <a:avLst/>
          </a:prstGeom>
          <a:solidFill>
            <a:srgbClr val="FFFFFF"/>
          </a:solidFill>
          <a:ln/>
          <a:effectLst>
            <a:outerShdw blurRad="50800" dist="25400" dir="8100000" algn="bl" rotWithShape="0">
              <a:srgbClr val="000000">
                <a:alpha val="10000"/>
              </a:srgbClr>
            </a:outerShdw>
          </a:effectLst>
        </p:spPr>
        <p:txBody>
          <a:bodyPr/>
          <a:lstStyle/>
          <a:p>
            <a:pPr algn="just"/>
            <a:endParaRPr lang="en-US" sz="1000" noProof="0" dirty="0"/>
          </a:p>
        </p:txBody>
      </p:sp>
      <p:sp>
        <p:nvSpPr>
          <p:cNvPr id="22" name="Shape 20">
            <a:extLst>
              <a:ext uri="{FF2B5EF4-FFF2-40B4-BE49-F238E27FC236}">
                <a16:creationId xmlns:a16="http://schemas.microsoft.com/office/drawing/2014/main" id="{7B0178F8-6F7D-8F1A-E462-D14E0E35F916}"/>
              </a:ext>
            </a:extLst>
          </p:cNvPr>
          <p:cNvSpPr/>
          <p:nvPr/>
        </p:nvSpPr>
        <p:spPr>
          <a:xfrm>
            <a:off x="4754880" y="3657277"/>
            <a:ext cx="54864" cy="1197924"/>
          </a:xfrm>
          <a:prstGeom prst="rect">
            <a:avLst/>
          </a:prstGeom>
          <a:solidFill>
            <a:srgbClr val="FF0000"/>
          </a:solidFill>
          <a:ln>
            <a:noFill/>
          </a:ln>
        </p:spPr>
        <p:txBody>
          <a:bodyPr/>
          <a:lstStyle/>
          <a:p>
            <a:pPr algn="just"/>
            <a:endParaRPr lang="en-US" sz="1000" noProof="0" dirty="0">
              <a:solidFill>
                <a:srgbClr val="FF0000"/>
              </a:solidFill>
            </a:endParaRPr>
          </a:p>
        </p:txBody>
      </p:sp>
      <p:sp>
        <p:nvSpPr>
          <p:cNvPr id="23" name="Text 21">
            <a:extLst>
              <a:ext uri="{FF2B5EF4-FFF2-40B4-BE49-F238E27FC236}">
                <a16:creationId xmlns:a16="http://schemas.microsoft.com/office/drawing/2014/main" id="{93FEF326-B533-AE45-03EB-F09985F4B2C5}"/>
              </a:ext>
            </a:extLst>
          </p:cNvPr>
          <p:cNvSpPr/>
          <p:nvPr/>
        </p:nvSpPr>
        <p:spPr>
          <a:xfrm>
            <a:off x="4937760" y="3702997"/>
            <a:ext cx="3520440" cy="1197924"/>
          </a:xfrm>
          <a:prstGeom prst="rect">
            <a:avLst/>
          </a:prstGeom>
          <a:noFill/>
          <a:ln/>
        </p:spPr>
        <p:txBody>
          <a:bodyPr wrap="square" rtlCol="0" anchor="t"/>
          <a:lstStyle/>
          <a:p>
            <a:pPr marL="0" indent="0" algn="just">
              <a:buNone/>
            </a:pPr>
            <a:r>
              <a:rPr lang="en-US" sz="1000" b="1" kern="0" spc="200" noProof="0" dirty="0">
                <a:solidFill>
                  <a:srgbClr val="FF0000"/>
                </a:solidFill>
              </a:rPr>
              <a:t>GAP / LIMITATION</a:t>
            </a:r>
            <a:endParaRPr lang="en-US" sz="1000" noProof="0" dirty="0">
              <a:solidFill>
                <a:srgbClr val="FF0000"/>
              </a:solidFill>
            </a:endParaRPr>
          </a:p>
          <a:p>
            <a:pPr algn="just"/>
            <a:r>
              <a:rPr lang="en-US" sz="1000" noProof="0" dirty="0">
                <a:solidFill>
                  <a:srgbClr val="64748B"/>
                </a:solidFill>
              </a:rPr>
              <a:t>All data retrospective — model not tested in real clinical practice. Data from before ICD-10 adoption, so infection labels based on older, less specific ICD-9 codes. Exact timing of clinical suspicion hard to determine precisely. Patients with comorbidities (e.g. fluid disorders, cancer, anemia) had higher false positive rates.</a:t>
            </a:r>
            <a:endParaRPr lang="en-US" sz="1000" noProof="0" dirty="0"/>
          </a:p>
        </p:txBody>
      </p:sp>
    </p:spTree>
    <p:extLst>
      <p:ext uri="{BB962C8B-B14F-4D97-AF65-F5344CB8AC3E}">
        <p14:creationId xmlns:p14="http://schemas.microsoft.com/office/powerpoint/2010/main" val="3927583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1" y="0"/>
            <a:ext cx="9144000" cy="729015"/>
          </a:xfrm>
          <a:prstGeom prst="rect">
            <a:avLst/>
          </a:prstGeom>
          <a:solidFill>
            <a:srgbClr val="065A82"/>
          </a:solidFill>
          <a:ln/>
        </p:spPr>
        <p:txBody>
          <a:bodyPr/>
          <a:lstStyle/>
          <a:p>
            <a:endParaRPr lang="en-US" noProof="0" dirty="0"/>
          </a:p>
        </p:txBody>
      </p:sp>
      <p:sp>
        <p:nvSpPr>
          <p:cNvPr id="3" name="Text 1"/>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Trebuchet MS" pitchFamily="34" charset="-122"/>
                <a:cs typeface="Trebuchet MS" pitchFamily="34" charset="-120"/>
              </a:rPr>
              <a:t>ARTICLE TEMPLATE</a:t>
            </a:r>
            <a:endParaRPr lang="en-US" sz="1400" noProof="0" dirty="0">
              <a:latin typeface="Trebuchet MS"/>
              <a:ea typeface="Calibri"/>
              <a:cs typeface="Calibri"/>
            </a:endParaRPr>
          </a:p>
        </p:txBody>
      </p:sp>
      <p:sp>
        <p:nvSpPr>
          <p:cNvPr id="4" name="Text 2"/>
          <p:cNvSpPr/>
          <p:nvPr/>
        </p:nvSpPr>
        <p:spPr>
          <a:xfrm>
            <a:off x="548640" y="825778"/>
            <a:ext cx="8046720" cy="457200"/>
          </a:xfrm>
          <a:prstGeom prst="rect">
            <a:avLst/>
          </a:prstGeom>
          <a:noFill/>
          <a:ln/>
        </p:spPr>
        <p:txBody>
          <a:bodyPr wrap="square" lIns="0" tIns="0" rIns="0" bIns="0" rtlCol="0" anchor="ctr"/>
          <a:lstStyle/>
          <a:p>
            <a:pPr marL="0" indent="0">
              <a:buNone/>
            </a:pPr>
            <a:r>
              <a:rPr lang="en-US" b="1" noProof="0" dirty="0">
                <a:solidFill>
                  <a:srgbClr val="0B1D35"/>
                </a:solidFill>
                <a:latin typeface="Trebuchet MS"/>
                <a:ea typeface="Trebuchet MS" pitchFamily="34" charset="-122"/>
                <a:cs typeface="Trebuchet MS" pitchFamily="34" charset="-120"/>
              </a:rPr>
              <a:t>[Article Title]</a:t>
            </a:r>
            <a:endParaRPr lang="en-US" noProof="0" dirty="0">
              <a:latin typeface="Trebuchet MS"/>
              <a:ea typeface="Calibri"/>
              <a:cs typeface="Calibri"/>
            </a:endParaRPr>
          </a:p>
        </p:txBody>
      </p:sp>
      <p:sp>
        <p:nvSpPr>
          <p:cNvPr id="5" name="Text 3"/>
          <p:cNvSpPr/>
          <p:nvPr/>
        </p:nvSpPr>
        <p:spPr>
          <a:xfrm>
            <a:off x="548640" y="1338362"/>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[Authors, Year, Journal]</a:t>
            </a:r>
            <a:endParaRPr lang="en-US" sz="1050" noProof="0" dirty="0">
              <a:latin typeface="Calibri"/>
              <a:ea typeface="Calibri"/>
              <a:cs typeface="Calibri"/>
            </a:endParaRPr>
          </a:p>
        </p:txBody>
      </p:sp>
      <p:sp>
        <p:nvSpPr>
          <p:cNvPr id="6" name="Shape 4"/>
          <p:cNvSpPr/>
          <p:nvPr/>
        </p:nvSpPr>
        <p:spPr>
          <a:xfrm>
            <a:off x="545122" y="3637866"/>
            <a:ext cx="8058065" cy="130259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p:cNvSpPr/>
          <p:nvPr/>
        </p:nvSpPr>
        <p:spPr>
          <a:xfrm>
            <a:off x="548640" y="3629166"/>
            <a:ext cx="54864" cy="1302592"/>
          </a:xfrm>
          <a:prstGeom prst="rect">
            <a:avLst/>
          </a:prstGeom>
          <a:solidFill>
            <a:srgbClr val="0D9488"/>
          </a:solidFill>
          <a:ln/>
        </p:spPr>
        <p:txBody>
          <a:bodyPr/>
          <a:lstStyle/>
          <a:p>
            <a:endParaRPr lang="en-US" sz="1000" noProof="0" dirty="0"/>
          </a:p>
        </p:txBody>
      </p:sp>
      <p:sp>
        <p:nvSpPr>
          <p:cNvPr id="8" name="Text 6"/>
          <p:cNvSpPr/>
          <p:nvPr/>
        </p:nvSpPr>
        <p:spPr>
          <a:xfrm>
            <a:off x="731520" y="3724170"/>
            <a:ext cx="3520440" cy="1192400"/>
          </a:xfrm>
          <a:prstGeom prst="rect">
            <a:avLst/>
          </a:prstGeom>
          <a:noFill/>
          <a:ln/>
        </p:spPr>
        <p:txBody>
          <a:bodyPr wrap="square" rtlCol="0" anchor="t"/>
          <a:lstStyle/>
          <a:p>
            <a:r>
              <a:rPr lang="en-US" sz="1000" b="1" kern="0" spc="200" noProof="0" dirty="0">
                <a:solidFill>
                  <a:srgbClr val="0D9488"/>
                </a:solidFill>
              </a:rPr>
              <a:t>INTENTION / RESEARCH QUESTION</a:t>
            </a:r>
          </a:p>
          <a:p>
            <a:r>
              <a:rPr lang="en-US" sz="1000" noProof="0" dirty="0">
                <a:solidFill>
                  <a:srgbClr val="64748B"/>
                </a:solidFill>
              </a:rPr>
              <a:t>[What did they try to find out or improve?]</a:t>
            </a:r>
          </a:p>
        </p:txBody>
      </p:sp>
      <p:sp>
        <p:nvSpPr>
          <p:cNvPr id="24" name="Shape 22"/>
          <p:cNvSpPr/>
          <p:nvPr/>
        </p:nvSpPr>
        <p:spPr>
          <a:xfrm>
            <a:off x="556468" y="1744251"/>
            <a:ext cx="8046720" cy="1762046"/>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p:cNvSpPr/>
          <p:nvPr/>
        </p:nvSpPr>
        <p:spPr>
          <a:xfrm>
            <a:off x="556468" y="1744251"/>
            <a:ext cx="47036" cy="1762046"/>
          </a:xfrm>
          <a:prstGeom prst="rect">
            <a:avLst/>
          </a:prstGeom>
          <a:solidFill>
            <a:srgbClr val="D97706"/>
          </a:solidFill>
          <a:ln/>
        </p:spPr>
        <p:txBody>
          <a:bodyPr/>
          <a:lstStyle/>
          <a:p>
            <a:endParaRPr lang="en-US" sz="1000" noProof="0" dirty="0"/>
          </a:p>
        </p:txBody>
      </p:sp>
      <p:sp>
        <p:nvSpPr>
          <p:cNvPr id="26" name="Text 24"/>
          <p:cNvSpPr/>
          <p:nvPr/>
        </p:nvSpPr>
        <p:spPr>
          <a:xfrm>
            <a:off x="830788" y="1819275"/>
            <a:ext cx="7589520" cy="1601906"/>
          </a:xfrm>
          <a:prstGeom prst="rect">
            <a:avLst/>
          </a:prstGeom>
          <a:noFill/>
          <a:ln/>
        </p:spPr>
        <p:txBody>
          <a:bodyPr wrap="square" lIns="91440" tIns="45720" rIns="91440" bIns="45720" rtlCol="0" anchor="t"/>
          <a:lstStyle/>
          <a:p>
            <a:r>
              <a:rPr lang="en-US" sz="1000" b="1" kern="0" spc="200" noProof="0" dirty="0">
                <a:solidFill>
                  <a:schemeClr val="accent2"/>
                </a:solidFill>
              </a:rPr>
              <a:t>SUMMARY</a:t>
            </a:r>
            <a:r>
              <a:rPr lang="en-US" sz="1000" b="1" kern="0" spc="200" noProof="0" dirty="0">
                <a:solidFill>
                  <a:srgbClr val="DC2626"/>
                </a:solidFill>
              </a:rPr>
              <a:t>  </a:t>
            </a:r>
          </a:p>
          <a:p>
            <a:r>
              <a:rPr lang="en-US" sz="1000" noProof="0" dirty="0">
                <a:solidFill>
                  <a:srgbClr val="64748B"/>
                </a:solidFill>
              </a:rPr>
              <a:t>[Overview of the paper]</a:t>
            </a:r>
            <a:endParaRPr lang="en-US" sz="10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55C0A0-5943-62A3-6BB9-9E12C3A74D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EC0CB4-7940-BF44-232B-8F84796130C5}"/>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A12B2622-5C74-CC42-411E-80A3F803A399}"/>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Trebuchet MS" pitchFamily="34" charset="-122"/>
                <a:cs typeface="Trebuchet MS" pitchFamily="34" charset="-120"/>
              </a:rPr>
              <a:t>ARTICLE TEMPLATE</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ACB9CB0C-4FCE-8DE1-A8E5-E1C2D9CCEBD7}"/>
              </a:ext>
            </a:extLst>
          </p:cNvPr>
          <p:cNvSpPr/>
          <p:nvPr/>
        </p:nvSpPr>
        <p:spPr>
          <a:xfrm>
            <a:off x="601272" y="1104549"/>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18FFCF2B-D0DB-46CB-B5DD-00A71AA378A4}"/>
              </a:ext>
            </a:extLst>
          </p:cNvPr>
          <p:cNvSpPr/>
          <p:nvPr/>
        </p:nvSpPr>
        <p:spPr>
          <a:xfrm>
            <a:off x="601272" y="1104549"/>
            <a:ext cx="54864" cy="1080000"/>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3B24488B-A476-D82D-3A61-7DE1601D594E}"/>
              </a:ext>
            </a:extLst>
          </p:cNvPr>
          <p:cNvSpPr/>
          <p:nvPr/>
        </p:nvSpPr>
        <p:spPr>
          <a:xfrm>
            <a:off x="784152" y="1150269"/>
            <a:ext cx="3520440" cy="1080000"/>
          </a:xfrm>
          <a:prstGeom prst="rect">
            <a:avLst/>
          </a:prstGeom>
          <a:noFill/>
          <a:ln/>
        </p:spPr>
        <p:txBody>
          <a:bodyPr wrap="square" rtlCol="0" anchor="t"/>
          <a:lstStyle/>
          <a:p>
            <a:pPr marL="0" indent="0">
              <a:buNone/>
            </a:pPr>
            <a:r>
              <a:rPr lang="en-US" sz="1000" b="1" kern="0" spc="200" noProof="0" dirty="0">
                <a:solidFill>
                  <a:srgbClr val="1C7293"/>
                </a:solidFill>
              </a:rPr>
              <a:t>DATASET</a:t>
            </a:r>
            <a:endParaRPr lang="en-US" sz="1000" noProof="0" dirty="0"/>
          </a:p>
          <a:p>
            <a:r>
              <a:rPr lang="en-US" sz="1000" noProof="0" dirty="0">
                <a:solidFill>
                  <a:srgbClr val="64748B"/>
                </a:solidFill>
              </a:rPr>
              <a:t>[Source, size, parameters, time span]</a:t>
            </a:r>
            <a:endParaRPr lang="en-US" sz="1000" noProof="0" dirty="0"/>
          </a:p>
        </p:txBody>
      </p:sp>
      <p:sp>
        <p:nvSpPr>
          <p:cNvPr id="12" name="Shape 10">
            <a:extLst>
              <a:ext uri="{FF2B5EF4-FFF2-40B4-BE49-F238E27FC236}">
                <a16:creationId xmlns:a16="http://schemas.microsoft.com/office/drawing/2014/main" id="{F3FFBBB8-AF9C-8BBB-BB5E-36387E9E96B9}"/>
              </a:ext>
            </a:extLst>
          </p:cNvPr>
          <p:cNvSpPr/>
          <p:nvPr/>
        </p:nvSpPr>
        <p:spPr>
          <a:xfrm>
            <a:off x="601272" y="2356269"/>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E5221BE0-047E-4B9A-C658-7CF802B0F40B}"/>
              </a:ext>
            </a:extLst>
          </p:cNvPr>
          <p:cNvSpPr/>
          <p:nvPr/>
        </p:nvSpPr>
        <p:spPr>
          <a:xfrm>
            <a:off x="601272" y="2356269"/>
            <a:ext cx="54864" cy="1080000"/>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D6CBF904-DF0C-8251-A715-D1585F2F5981}"/>
              </a:ext>
            </a:extLst>
          </p:cNvPr>
          <p:cNvSpPr/>
          <p:nvPr/>
        </p:nvSpPr>
        <p:spPr>
          <a:xfrm>
            <a:off x="784152" y="2401989"/>
            <a:ext cx="3520440" cy="1080000"/>
          </a:xfrm>
          <a:prstGeom prst="rect">
            <a:avLst/>
          </a:prstGeom>
          <a:noFill/>
          <a:ln/>
        </p:spPr>
        <p:txBody>
          <a:bodyPr wrap="square" rtlCol="0" anchor="t"/>
          <a:lstStyle/>
          <a:p>
            <a:r>
              <a:rPr lang="en-US" sz="1000" b="1" kern="0" spc="200" noProof="0" dirty="0">
                <a:solidFill>
                  <a:srgbClr val="065A82"/>
                </a:solidFill>
              </a:rPr>
              <a:t>MODELS USED</a:t>
            </a:r>
          </a:p>
          <a:p>
            <a:r>
              <a:rPr lang="en-US" sz="1000" noProof="0" dirty="0">
                <a:solidFill>
                  <a:srgbClr val="64748B"/>
                </a:solidFill>
              </a:rPr>
              <a:t>[ML methods, architectures, training approach]</a:t>
            </a:r>
            <a:endParaRPr lang="en-US" sz="1000" noProof="0" dirty="0"/>
          </a:p>
        </p:txBody>
      </p:sp>
      <p:sp>
        <p:nvSpPr>
          <p:cNvPr id="15" name="Shape 13">
            <a:extLst>
              <a:ext uri="{FF2B5EF4-FFF2-40B4-BE49-F238E27FC236}">
                <a16:creationId xmlns:a16="http://schemas.microsoft.com/office/drawing/2014/main" id="{B8A93681-8001-BE34-CAF5-E3D6F4C3D45A}"/>
              </a:ext>
            </a:extLst>
          </p:cNvPr>
          <p:cNvSpPr/>
          <p:nvPr/>
        </p:nvSpPr>
        <p:spPr>
          <a:xfrm>
            <a:off x="4754880" y="1104549"/>
            <a:ext cx="3840480" cy="1699154"/>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93E8EAB2-CDDB-E089-9CB2-EFD5011F7BBB}"/>
              </a:ext>
            </a:extLst>
          </p:cNvPr>
          <p:cNvSpPr/>
          <p:nvPr/>
        </p:nvSpPr>
        <p:spPr>
          <a:xfrm>
            <a:off x="4754880" y="1104549"/>
            <a:ext cx="54864" cy="1699154"/>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F2503B21-EFCF-DB59-5DA8-E4A496A36364}"/>
              </a:ext>
            </a:extLst>
          </p:cNvPr>
          <p:cNvSpPr/>
          <p:nvPr/>
        </p:nvSpPr>
        <p:spPr>
          <a:xfrm>
            <a:off x="4937760" y="1150269"/>
            <a:ext cx="3520440" cy="1699154"/>
          </a:xfrm>
          <a:prstGeom prst="rect">
            <a:avLst/>
          </a:prstGeom>
          <a:noFill/>
          <a:ln/>
        </p:spPr>
        <p:txBody>
          <a:bodyPr wrap="square" rtlCol="0" anchor="t"/>
          <a:lstStyle/>
          <a:p>
            <a:r>
              <a:rPr lang="en-US" sz="1000" b="1" kern="0" spc="200" noProof="0" dirty="0">
                <a:solidFill>
                  <a:srgbClr val="21295C"/>
                </a:solidFill>
              </a:rPr>
              <a:t>RESULTS</a:t>
            </a:r>
          </a:p>
          <a:p>
            <a:r>
              <a:rPr lang="en-US" sz="1000" noProof="0" dirty="0">
                <a:solidFill>
                  <a:srgbClr val="64748B"/>
                </a:solidFill>
              </a:rPr>
              <a:t>[Key metrics: RMSE, AUC, Accuracy, R², ...]</a:t>
            </a:r>
          </a:p>
        </p:txBody>
      </p:sp>
      <p:sp>
        <p:nvSpPr>
          <p:cNvPr id="18" name="Shape 16">
            <a:extLst>
              <a:ext uri="{FF2B5EF4-FFF2-40B4-BE49-F238E27FC236}">
                <a16:creationId xmlns:a16="http://schemas.microsoft.com/office/drawing/2014/main" id="{9FCE0BA1-C816-5753-87D5-814910A8C824}"/>
              </a:ext>
            </a:extLst>
          </p:cNvPr>
          <p:cNvSpPr/>
          <p:nvPr/>
        </p:nvSpPr>
        <p:spPr>
          <a:xfrm>
            <a:off x="4754880" y="2992404"/>
            <a:ext cx="3840480" cy="1699153"/>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ABF72BC3-F97D-9901-4415-75FABDE334F9}"/>
              </a:ext>
            </a:extLst>
          </p:cNvPr>
          <p:cNvSpPr/>
          <p:nvPr/>
        </p:nvSpPr>
        <p:spPr>
          <a:xfrm>
            <a:off x="4754880" y="2992404"/>
            <a:ext cx="54864" cy="1699153"/>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EDA3A0B0-B055-B814-3406-9AEB573945A3}"/>
              </a:ext>
            </a:extLst>
          </p:cNvPr>
          <p:cNvSpPr/>
          <p:nvPr/>
        </p:nvSpPr>
        <p:spPr>
          <a:xfrm>
            <a:off x="4937760" y="3038124"/>
            <a:ext cx="3520440" cy="1699153"/>
          </a:xfrm>
          <a:prstGeom prst="rect">
            <a:avLst/>
          </a:prstGeom>
          <a:noFill/>
          <a:ln/>
        </p:spPr>
        <p:txBody>
          <a:bodyPr wrap="square" rtlCol="0" anchor="t"/>
          <a:lstStyle/>
          <a:p>
            <a:r>
              <a:rPr lang="en-US" sz="1000" b="1" kern="0" spc="200" noProof="0" dirty="0">
                <a:solidFill>
                  <a:srgbClr val="0D9488"/>
                </a:solidFill>
              </a:rPr>
              <a:t>NOTES</a:t>
            </a:r>
          </a:p>
          <a:p>
            <a:pPr marL="0" indent="0">
              <a:buNone/>
            </a:pPr>
            <a:r>
              <a:rPr lang="en-US" sz="1000" noProof="0" dirty="0">
                <a:solidFill>
                  <a:srgbClr val="64748B"/>
                </a:solidFill>
              </a:rPr>
              <a:t>[My notes]</a:t>
            </a:r>
            <a:endParaRPr lang="en-US" sz="1000" noProof="0" dirty="0"/>
          </a:p>
        </p:txBody>
      </p:sp>
      <p:sp>
        <p:nvSpPr>
          <p:cNvPr id="21" name="Shape 19">
            <a:extLst>
              <a:ext uri="{FF2B5EF4-FFF2-40B4-BE49-F238E27FC236}">
                <a16:creationId xmlns:a16="http://schemas.microsoft.com/office/drawing/2014/main" id="{54301CBB-D504-D498-1617-75A68C20F686}"/>
              </a:ext>
            </a:extLst>
          </p:cNvPr>
          <p:cNvSpPr/>
          <p:nvPr/>
        </p:nvSpPr>
        <p:spPr>
          <a:xfrm>
            <a:off x="601272" y="3611557"/>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2" name="Shape 20">
            <a:extLst>
              <a:ext uri="{FF2B5EF4-FFF2-40B4-BE49-F238E27FC236}">
                <a16:creationId xmlns:a16="http://schemas.microsoft.com/office/drawing/2014/main" id="{700F89E9-CB38-0A43-4EC0-DDCFF5CCE2A5}"/>
              </a:ext>
            </a:extLst>
          </p:cNvPr>
          <p:cNvSpPr/>
          <p:nvPr/>
        </p:nvSpPr>
        <p:spPr>
          <a:xfrm>
            <a:off x="601272" y="3611557"/>
            <a:ext cx="54864" cy="1080000"/>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21">
            <a:extLst>
              <a:ext uri="{FF2B5EF4-FFF2-40B4-BE49-F238E27FC236}">
                <a16:creationId xmlns:a16="http://schemas.microsoft.com/office/drawing/2014/main" id="{9B1FF90C-C359-B92F-E975-EBC82ACEFF37}"/>
              </a:ext>
            </a:extLst>
          </p:cNvPr>
          <p:cNvSpPr/>
          <p:nvPr/>
        </p:nvSpPr>
        <p:spPr>
          <a:xfrm>
            <a:off x="784152" y="3657277"/>
            <a:ext cx="3520440" cy="1080000"/>
          </a:xfrm>
          <a:prstGeom prst="rect">
            <a:avLst/>
          </a:prstGeom>
          <a:noFill/>
          <a:ln/>
        </p:spPr>
        <p:txBody>
          <a:bodyPr wrap="square" rtlCol="0" anchor="t"/>
          <a:lstStyle/>
          <a:p>
            <a:pPr marL="0" indent="0">
              <a:buNone/>
            </a:pPr>
            <a:r>
              <a:rPr lang="en-US" sz="1000" b="1" kern="0" spc="200" noProof="0" dirty="0">
                <a:solidFill>
                  <a:srgbClr val="FF0000"/>
                </a:solidFill>
              </a:rPr>
              <a:t>GAP / LIMITATION</a:t>
            </a:r>
            <a:endParaRPr lang="en-US" sz="1000" noProof="0" dirty="0">
              <a:solidFill>
                <a:srgbClr val="FF0000"/>
              </a:solidFill>
            </a:endParaRPr>
          </a:p>
          <a:p>
            <a:r>
              <a:rPr lang="en-US" sz="1000" noProof="0" dirty="0">
                <a:solidFill>
                  <a:srgbClr val="64748B"/>
                </a:solidFill>
              </a:rPr>
              <a:t>[What's missing? What could be improved? What wasn't addressed?]</a:t>
            </a:r>
            <a:endParaRPr lang="en-US" sz="1000" noProof="0" dirty="0"/>
          </a:p>
        </p:txBody>
      </p:sp>
    </p:spTree>
    <p:extLst>
      <p:ext uri="{BB962C8B-B14F-4D97-AF65-F5344CB8AC3E}">
        <p14:creationId xmlns:p14="http://schemas.microsoft.com/office/powerpoint/2010/main" val="237706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2F858399-983F-B62C-02A9-2A8F46DD65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6647B6-B582-75C5-275F-0804B3D304A7}"/>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235368C2-204F-9256-8068-5D84E40954F7}"/>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ECCFA140-F54A-7198-6D71-ADEAB25BAEF8}"/>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ea typeface="Trebuchet MS" pitchFamily="34" charset="-122"/>
                <a:cs typeface="Trebuchet MS" pitchFamily="34" charset="-120"/>
              </a:rPr>
              <a:t>Systematic reviews</a:t>
            </a:r>
            <a:endParaRPr lang="en-US" sz="3600" noProof="0" dirty="0"/>
          </a:p>
        </p:txBody>
      </p:sp>
      <p:sp>
        <p:nvSpPr>
          <p:cNvPr id="5" name="Text 3">
            <a:extLst>
              <a:ext uri="{FF2B5EF4-FFF2-40B4-BE49-F238E27FC236}">
                <a16:creationId xmlns:a16="http://schemas.microsoft.com/office/drawing/2014/main" id="{FFAABBED-B91D-7BE8-8973-3FE3DEACF314}"/>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53D3E308-6289-DDD6-41EE-C64A7F71874F}"/>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B746D108-CFC3-C20D-B526-1BC7CB0F1DCA}"/>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3625182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77824"/>
          </a:xfrm>
          <a:prstGeom prst="rect">
            <a:avLst/>
          </a:prstGeom>
          <a:solidFill>
            <a:srgbClr val="126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TextBox 2"/>
          <p:cNvSpPr txBox="1"/>
          <p:nvPr/>
        </p:nvSpPr>
        <p:spPr>
          <a:xfrm>
            <a:off x="411480" y="210312"/>
            <a:ext cx="8313420" cy="400110"/>
          </a:xfrm>
          <a:prstGeom prst="rect">
            <a:avLst/>
          </a:prstGeom>
          <a:noFill/>
        </p:spPr>
        <p:txBody>
          <a:bodyPr wrap="square">
            <a:spAutoFit/>
          </a:bodyPr>
          <a:lstStyle/>
          <a:p>
            <a:r>
              <a:rPr lang="en-US" sz="2000" b="1" noProof="0" dirty="0">
                <a:solidFill>
                  <a:srgbClr val="FAFAFA"/>
                </a:solidFill>
                <a:latin typeface="Aptos"/>
              </a:rPr>
              <a:t>SYSTEMATIC REVIEWS USED FOR GAP MAPPING</a:t>
            </a:r>
          </a:p>
        </p:txBody>
      </p:sp>
      <p:sp>
        <p:nvSpPr>
          <p:cNvPr id="7" name="Rectangle 6"/>
          <p:cNvSpPr/>
          <p:nvPr/>
        </p:nvSpPr>
        <p:spPr>
          <a:xfrm>
            <a:off x="571881" y="1010829"/>
            <a:ext cx="69840" cy="3904526"/>
          </a:xfrm>
          <a:prstGeom prst="rect">
            <a:avLst/>
          </a:prstGeom>
          <a:solidFill>
            <a:srgbClr val="E3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8" name="TextBox 7"/>
          <p:cNvSpPr txBox="1"/>
          <p:nvPr/>
        </p:nvSpPr>
        <p:spPr>
          <a:xfrm>
            <a:off x="699897" y="877824"/>
            <a:ext cx="8045623" cy="338554"/>
          </a:xfrm>
          <a:prstGeom prst="rect">
            <a:avLst/>
          </a:prstGeom>
          <a:noFill/>
        </p:spPr>
        <p:txBody>
          <a:bodyPr wrap="square">
            <a:spAutoFit/>
          </a:bodyPr>
          <a:lstStyle/>
          <a:p>
            <a:r>
              <a:rPr lang="en-US" sz="1600" b="1" noProof="0" dirty="0">
                <a:solidFill>
                  <a:srgbClr val="E39100"/>
                </a:solidFill>
                <a:latin typeface="Aptos"/>
              </a:rPr>
              <a:t>Review list</a:t>
            </a:r>
          </a:p>
        </p:txBody>
      </p:sp>
      <p:sp>
        <p:nvSpPr>
          <p:cNvPr id="9" name="TextBox 8"/>
          <p:cNvSpPr txBox="1"/>
          <p:nvPr/>
        </p:nvSpPr>
        <p:spPr>
          <a:xfrm>
            <a:off x="699898" y="1152144"/>
            <a:ext cx="7989750" cy="4481227"/>
          </a:xfrm>
          <a:prstGeom prst="rect">
            <a:avLst/>
          </a:prstGeom>
          <a:noFill/>
        </p:spPr>
        <p:txBody>
          <a:bodyPr wrap="square" lIns="0" tIns="0" rIns="0" bIns="0">
            <a:spAutoFit/>
          </a:bodyPr>
          <a:lstStyle/>
          <a:p>
            <a:pPr marL="228600" indent="-228600">
              <a:lnSpc>
                <a:spcPct val="100000"/>
              </a:lnSpc>
              <a:spcAft>
                <a:spcPts val="150"/>
              </a:spcAft>
              <a:buAutoNum type="arabicPeriod"/>
            </a:pPr>
            <a:r>
              <a:rPr lang="en-US" sz="1120" b="1" noProof="0" dirty="0">
                <a:solidFill>
                  <a:srgbClr val="536680"/>
                </a:solidFill>
                <a:latin typeface="Aptos"/>
              </a:rPr>
              <a:t>AI-Based Modeling of Indoor Air Quality and Thermal Comfort: A Systematic Review of Human-Centric and Adaptive Approaches</a:t>
            </a:r>
            <a:endParaRPr lang="en-US" sz="1080" b="1" noProof="0" dirty="0">
              <a:solidFill>
                <a:srgbClr val="536680"/>
              </a:solidFill>
              <a:latin typeface="Aptos"/>
            </a:endParaRPr>
          </a:p>
          <a:p>
            <a:pPr>
              <a:lnSpc>
                <a:spcPct val="100000"/>
              </a:lnSpc>
              <a:spcAft>
                <a:spcPts val="150"/>
              </a:spcAft>
            </a:pPr>
            <a:r>
              <a:rPr lang="en-US" sz="1080" noProof="0" dirty="0">
                <a:solidFill>
                  <a:srgbClr val="536680"/>
                </a:solidFill>
                <a:latin typeface="Aptos"/>
              </a:rPr>
              <a:t>Aziz, N.A.; Razak, T.R.; Nordin, S.; Jarimi, H.; Su, Y.; Riffat, S. - 2025 - Journal of Climate Change</a:t>
            </a:r>
          </a:p>
          <a:p>
            <a:pPr>
              <a:lnSpc>
                <a:spcPct val="100000"/>
              </a:lnSpc>
              <a:spcAft>
                <a:spcPts val="150"/>
              </a:spcAft>
            </a:pPr>
            <a:r>
              <a:rPr lang="en-US" sz="1120" b="1" noProof="0" dirty="0">
                <a:solidFill>
                  <a:srgbClr val="536680"/>
                </a:solidFill>
                <a:latin typeface="Aptos"/>
              </a:rPr>
              <a:t>2. Quantifying airborne transmission in ventilated settings: A review</a:t>
            </a:r>
            <a:r>
              <a:rPr lang="en-US" sz="1080" noProof="0" dirty="0">
                <a:solidFill>
                  <a:srgbClr val="536680"/>
                </a:solidFill>
                <a:latin typeface="Aptos"/>
              </a:rPr>
              <a:t>
Giri et al. - 2024 - Building and Environment</a:t>
            </a:r>
          </a:p>
          <a:p>
            <a:r>
              <a:rPr lang="en-US" sz="1100" b="1" noProof="0" dirty="0">
                <a:solidFill>
                  <a:srgbClr val="536680"/>
                </a:solidFill>
                <a:latin typeface="Aptos"/>
              </a:rPr>
              <a:t>3. Systematic review on uncertainty quantification in machine learning-based building energy modeling </a:t>
            </a:r>
          </a:p>
          <a:p>
            <a:pPr>
              <a:lnSpc>
                <a:spcPct val="100000"/>
              </a:lnSpc>
              <a:spcAft>
                <a:spcPts val="150"/>
              </a:spcAft>
            </a:pPr>
            <a:r>
              <a:rPr lang="en-US" sz="1050" noProof="0" dirty="0">
                <a:solidFill>
                  <a:srgbClr val="536680"/>
                </a:solidFill>
                <a:latin typeface="Aptos"/>
              </a:rPr>
              <a:t>Xu et al. - 2025 - Building and Environment</a:t>
            </a:r>
          </a:p>
          <a:p>
            <a:pPr>
              <a:lnSpc>
                <a:spcPct val="100000"/>
              </a:lnSpc>
              <a:spcAft>
                <a:spcPts val="150"/>
              </a:spcAft>
            </a:pPr>
            <a:r>
              <a:rPr lang="en-US" sz="1120" b="1" noProof="0" dirty="0">
                <a:solidFill>
                  <a:srgbClr val="536680"/>
                </a:solidFill>
                <a:latin typeface="Aptos"/>
              </a:rPr>
              <a:t>4. Review on uncertainty quantification in ML-based building energy modeling</a:t>
            </a:r>
            <a:r>
              <a:rPr lang="en-US" sz="1080" noProof="0" dirty="0">
                <a:solidFill>
                  <a:srgbClr val="536680"/>
                </a:solidFill>
                <a:latin typeface="Aptos"/>
              </a:rPr>
              <a:t>
2024 review on UQ in ML-based BEM; the current slide in the deck appears to have a title mismatch.</a:t>
            </a:r>
          </a:p>
          <a:p>
            <a:pPr>
              <a:lnSpc>
                <a:spcPct val="100000"/>
              </a:lnSpc>
              <a:spcAft>
                <a:spcPts val="150"/>
              </a:spcAft>
            </a:pPr>
            <a:r>
              <a:rPr lang="en-US" sz="1120" b="1" noProof="0" dirty="0">
                <a:solidFill>
                  <a:srgbClr val="536680"/>
                </a:solidFill>
                <a:latin typeface="Aptos"/>
              </a:rPr>
              <a:t>5. Machine Learning and Deep Learning Methods for Enhancing Building Energy Efficiency and Indoor Environmental Quality - A Review</a:t>
            </a:r>
            <a:r>
              <a:rPr lang="en-US" sz="1080" noProof="0" dirty="0">
                <a:solidFill>
                  <a:srgbClr val="536680"/>
                </a:solidFill>
                <a:latin typeface="Aptos"/>
              </a:rPr>
              <a:t>
Tien et al. - 2022 - Energy and AI</a:t>
            </a:r>
          </a:p>
          <a:p>
            <a:pPr>
              <a:lnSpc>
                <a:spcPct val="100000"/>
              </a:lnSpc>
              <a:spcAft>
                <a:spcPts val="150"/>
              </a:spcAft>
            </a:pPr>
            <a:r>
              <a:rPr lang="en-US" sz="1100" b="1" noProof="0" dirty="0">
                <a:solidFill>
                  <a:srgbClr val="536680"/>
                </a:solidFill>
                <a:latin typeface="Aptos"/>
              </a:rPr>
              <a:t>6. Physics-informed machine learning for building performance simulation - A review of a nascent field</a:t>
            </a:r>
            <a:r>
              <a:rPr lang="en-US" sz="1050" noProof="0" dirty="0">
                <a:solidFill>
                  <a:srgbClr val="536680"/>
                </a:solidFill>
                <a:latin typeface="Aptos"/>
              </a:rPr>
              <a:t>
Jiang et al. - 2025 - Advances in Applied Energy</a:t>
            </a:r>
          </a:p>
          <a:p>
            <a:pPr>
              <a:lnSpc>
                <a:spcPct val="100000"/>
              </a:lnSpc>
              <a:spcAft>
                <a:spcPts val="150"/>
              </a:spcAft>
            </a:pPr>
            <a:r>
              <a:rPr lang="en-US" sz="1100" b="1" noProof="0" dirty="0">
                <a:solidFill>
                  <a:srgbClr val="536680"/>
                </a:solidFill>
                <a:latin typeface="Aptos"/>
              </a:rPr>
              <a:t>7.</a:t>
            </a:r>
            <a:r>
              <a:rPr lang="en-US" sz="1100" noProof="0" dirty="0">
                <a:solidFill>
                  <a:srgbClr val="536680"/>
                </a:solidFill>
                <a:latin typeface="Aptos"/>
              </a:rPr>
              <a:t> </a:t>
            </a:r>
            <a:r>
              <a:rPr lang="en-US" sz="1100" b="1" noProof="0" dirty="0">
                <a:solidFill>
                  <a:srgbClr val="536680"/>
                </a:solidFill>
                <a:latin typeface="Aptos"/>
              </a:rPr>
              <a:t>Machine Learning for Energy Management in Buildings: A Systematic Review on Real-World Applications</a:t>
            </a:r>
            <a:r>
              <a:rPr lang="en-US" sz="1050" noProof="0" dirty="0">
                <a:solidFill>
                  <a:srgbClr val="536680"/>
                </a:solidFill>
                <a:latin typeface="Aptos"/>
              </a:rPr>
              <a:t>
Aziz et al. - 2025 - Journal of Climate Change</a:t>
            </a:r>
          </a:p>
          <a:p>
            <a:pPr>
              <a:lnSpc>
                <a:spcPct val="100000"/>
              </a:lnSpc>
              <a:spcAft>
                <a:spcPts val="150"/>
              </a:spcAft>
            </a:pPr>
            <a:r>
              <a:rPr lang="en-US" sz="1100" b="1" noProof="0" dirty="0">
                <a:solidFill>
                  <a:srgbClr val="536680"/>
                </a:solidFill>
                <a:latin typeface="Aptos"/>
              </a:rPr>
              <a:t>8.</a:t>
            </a:r>
            <a:r>
              <a:rPr lang="en-US" sz="1100" noProof="0" dirty="0">
                <a:solidFill>
                  <a:srgbClr val="536680"/>
                </a:solidFill>
                <a:latin typeface="Aptos"/>
              </a:rPr>
              <a:t> </a:t>
            </a:r>
            <a:r>
              <a:rPr lang="en-US" sz="1100" b="1" noProof="0" dirty="0">
                <a:solidFill>
                  <a:srgbClr val="536680"/>
                </a:solidFill>
                <a:latin typeface="Aptos"/>
              </a:rPr>
              <a:t>Predicting and Enhancing Indoor Environmental Quality in Educational Environments: Latest Trends in AI and Machine Learning Applications</a:t>
            </a:r>
            <a:r>
              <a:rPr lang="en-US" sz="1050" noProof="0" dirty="0">
                <a:solidFill>
                  <a:srgbClr val="536680"/>
                </a:solidFill>
                <a:latin typeface="Aptos"/>
              </a:rPr>
              <a:t>
Baru et al. - 2025 - CIB Conferences</a:t>
            </a:r>
          </a:p>
          <a:p>
            <a:pPr>
              <a:spcAft>
                <a:spcPts val="150"/>
              </a:spcAft>
            </a:pPr>
            <a:r>
              <a:rPr lang="en-US" sz="1100" b="1" noProof="0" dirty="0">
                <a:solidFill>
                  <a:srgbClr val="536680"/>
                </a:solidFill>
                <a:latin typeface="Aptos"/>
              </a:rPr>
              <a:t>9. A Systematic Review on the Use of AI for Energy Efficiency and Indoor Environmental Quality in Buildings</a:t>
            </a:r>
          </a:p>
          <a:p>
            <a:pPr>
              <a:spcAft>
                <a:spcPts val="150"/>
              </a:spcAft>
            </a:pPr>
            <a:r>
              <a:rPr lang="en-US" sz="1050" noProof="0" dirty="0" err="1">
                <a:solidFill>
                  <a:srgbClr val="536680"/>
                </a:solidFill>
                <a:latin typeface="Aptos"/>
              </a:rPr>
              <a:t>Ogundiran</a:t>
            </a:r>
            <a:r>
              <a:rPr lang="en-US" sz="1050" noProof="0" dirty="0">
                <a:solidFill>
                  <a:srgbClr val="536680"/>
                </a:solidFill>
                <a:latin typeface="Aptos"/>
              </a:rPr>
              <a:t> et al., 2024, Sustainability, Vol. 16, Article 3627</a:t>
            </a:r>
          </a:p>
          <a:p>
            <a:pPr>
              <a:spcAft>
                <a:spcPts val="150"/>
              </a:spcAft>
            </a:pPr>
            <a:endParaRPr lang="en-US" sz="1100" b="1" noProof="0" dirty="0">
              <a:solidFill>
                <a:srgbClr val="536680"/>
              </a:solidFill>
              <a:latin typeface="Aptos"/>
            </a:endParaRPr>
          </a:p>
          <a:p>
            <a:pPr>
              <a:lnSpc>
                <a:spcPct val="100000"/>
              </a:lnSpc>
              <a:spcAft>
                <a:spcPts val="150"/>
              </a:spcAft>
            </a:pPr>
            <a:endParaRPr lang="en-US" sz="1050" noProof="0" dirty="0">
              <a:solidFill>
                <a:srgbClr val="536680"/>
              </a:solidFill>
              <a:latin typeface="Aptos"/>
            </a:endParaRPr>
          </a:p>
          <a:p>
            <a:pPr>
              <a:lnSpc>
                <a:spcPct val="100000"/>
              </a:lnSpc>
              <a:spcAft>
                <a:spcPts val="150"/>
              </a:spcAft>
            </a:pPr>
            <a:endParaRPr lang="en-US" sz="1080" noProof="0" dirty="0">
              <a:solidFill>
                <a:srgbClr val="536680"/>
              </a:solidFill>
              <a:latin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23A50F-AB2A-764C-4F5B-8A4B3286E1F5}"/>
              </a:ext>
            </a:extLst>
          </p:cNvPr>
          <p:cNvPicPr>
            <a:picLocks noChangeAspect="1"/>
          </p:cNvPicPr>
          <p:nvPr/>
        </p:nvPicPr>
        <p:blipFill>
          <a:blip r:embed="rId2"/>
          <a:srcRect l="10168" t="7407" r="10583" b="5334"/>
          <a:stretch>
            <a:fillRect/>
          </a:stretch>
        </p:blipFill>
        <p:spPr>
          <a:xfrm>
            <a:off x="567690" y="79549"/>
            <a:ext cx="8176260" cy="5063951"/>
          </a:xfrm>
          <a:prstGeom prst="rect">
            <a:avLst/>
          </a:prstGeom>
        </p:spPr>
      </p:pic>
      <p:sp>
        <p:nvSpPr>
          <p:cNvPr id="4" name="TextBox 3">
            <a:extLst>
              <a:ext uri="{FF2B5EF4-FFF2-40B4-BE49-F238E27FC236}">
                <a16:creationId xmlns:a16="http://schemas.microsoft.com/office/drawing/2014/main" id="{7E46518A-298F-10C0-5C02-3D7C2C0A8129}"/>
              </a:ext>
            </a:extLst>
          </p:cNvPr>
          <p:cNvSpPr txBox="1"/>
          <p:nvPr/>
        </p:nvSpPr>
        <p:spPr>
          <a:xfrm rot="16200000">
            <a:off x="-2387084" y="2387084"/>
            <a:ext cx="5143500" cy="369332"/>
          </a:xfrm>
          <a:prstGeom prst="rect">
            <a:avLst/>
          </a:prstGeom>
          <a:noFill/>
        </p:spPr>
        <p:txBody>
          <a:bodyPr wrap="square" rtlCol="0">
            <a:spAutoFit/>
          </a:bodyPr>
          <a:lstStyle/>
          <a:p>
            <a:pPr algn="ctr"/>
            <a:r>
              <a:rPr lang="en-US" noProof="0" dirty="0"/>
              <a:t>Research gaps identified by reviews</a:t>
            </a:r>
          </a:p>
        </p:txBody>
      </p:sp>
    </p:spTree>
    <p:extLst>
      <p:ext uri="{BB962C8B-B14F-4D97-AF65-F5344CB8AC3E}">
        <p14:creationId xmlns:p14="http://schemas.microsoft.com/office/powerpoint/2010/main" val="401771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EE1C30-8B8D-C884-7A3C-9492A6A613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4BAD57-0834-91B3-E345-D457E7080B68}"/>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E9C75A02-1817-D0A0-C0C1-3906EFCC57B6}"/>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Trebuchet MS" pitchFamily="34" charset="-122"/>
                <a:cs typeface="Trebuchet MS" pitchFamily="34" charset="-120"/>
              </a:rPr>
              <a:t>REVIEW TEMPLATE</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8BD4D9C8-D004-BCDA-6ED9-81868733B02C}"/>
              </a:ext>
            </a:extLst>
          </p:cNvPr>
          <p:cNvSpPr/>
          <p:nvPr/>
        </p:nvSpPr>
        <p:spPr>
          <a:xfrm>
            <a:off x="548640" y="825778"/>
            <a:ext cx="8046720" cy="457200"/>
          </a:xfrm>
          <a:prstGeom prst="rect">
            <a:avLst/>
          </a:prstGeom>
          <a:noFill/>
          <a:ln/>
        </p:spPr>
        <p:txBody>
          <a:bodyPr wrap="square" lIns="0" tIns="0" rIns="0" bIns="0" rtlCol="0" anchor="ctr"/>
          <a:lstStyle/>
          <a:p>
            <a:pPr marL="0" indent="0">
              <a:buNone/>
            </a:pPr>
            <a:r>
              <a:rPr lang="en-US" b="1" noProof="0" dirty="0">
                <a:solidFill>
                  <a:srgbClr val="0B1D35"/>
                </a:solidFill>
                <a:latin typeface="Trebuchet MS"/>
                <a:ea typeface="Trebuchet MS" pitchFamily="34" charset="-122"/>
                <a:cs typeface="Trebuchet MS" pitchFamily="34" charset="-120"/>
              </a:rPr>
              <a:t>[Article Title]</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45CFD77E-5288-CA86-448E-5FD3511C1FF1}"/>
              </a:ext>
            </a:extLst>
          </p:cNvPr>
          <p:cNvSpPr/>
          <p:nvPr/>
        </p:nvSpPr>
        <p:spPr>
          <a:xfrm>
            <a:off x="548640" y="1338362"/>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[Authors, Year, Journal]</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D155A041-458D-C0F7-0E87-97A9F4D6BD53}"/>
              </a:ext>
            </a:extLst>
          </p:cNvPr>
          <p:cNvSpPr/>
          <p:nvPr/>
        </p:nvSpPr>
        <p:spPr>
          <a:xfrm>
            <a:off x="545122" y="3637866"/>
            <a:ext cx="8058065" cy="130259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DB91C588-B365-CAE5-DFB0-6888AED5ADF4}"/>
              </a:ext>
            </a:extLst>
          </p:cNvPr>
          <p:cNvSpPr/>
          <p:nvPr/>
        </p:nvSpPr>
        <p:spPr>
          <a:xfrm>
            <a:off x="548640" y="3629166"/>
            <a:ext cx="54864" cy="1302592"/>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7B718755-FDB6-70E4-469C-7AF28A98036A}"/>
              </a:ext>
            </a:extLst>
          </p:cNvPr>
          <p:cNvSpPr/>
          <p:nvPr/>
        </p:nvSpPr>
        <p:spPr>
          <a:xfrm>
            <a:off x="731520" y="3724170"/>
            <a:ext cx="3520440" cy="1192400"/>
          </a:xfrm>
          <a:prstGeom prst="rect">
            <a:avLst/>
          </a:prstGeom>
          <a:noFill/>
          <a:ln/>
        </p:spPr>
        <p:txBody>
          <a:bodyPr wrap="square" rtlCol="0" anchor="t"/>
          <a:lstStyle/>
          <a:p>
            <a:r>
              <a:rPr lang="en-US" sz="1000" b="1" kern="0" spc="200" noProof="0" dirty="0">
                <a:solidFill>
                  <a:srgbClr val="0D9488"/>
                </a:solidFill>
              </a:rPr>
              <a:t>INTENTION / RESEARCH QUESTION</a:t>
            </a:r>
          </a:p>
          <a:p>
            <a:r>
              <a:rPr lang="en-US" sz="1000" noProof="0" dirty="0">
                <a:solidFill>
                  <a:srgbClr val="64748B"/>
                </a:solidFill>
              </a:rPr>
              <a:t>[What did they try to find out or improve?]</a:t>
            </a:r>
          </a:p>
        </p:txBody>
      </p:sp>
      <p:sp>
        <p:nvSpPr>
          <p:cNvPr id="24" name="Shape 22">
            <a:extLst>
              <a:ext uri="{FF2B5EF4-FFF2-40B4-BE49-F238E27FC236}">
                <a16:creationId xmlns:a16="http://schemas.microsoft.com/office/drawing/2014/main" id="{7AB979A0-A8D7-7591-D0C4-0A4CC03F4307}"/>
              </a:ext>
            </a:extLst>
          </p:cNvPr>
          <p:cNvSpPr/>
          <p:nvPr/>
        </p:nvSpPr>
        <p:spPr>
          <a:xfrm>
            <a:off x="556468" y="1744251"/>
            <a:ext cx="8046720" cy="1762046"/>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BD9AB051-FD1A-EDA3-FA5A-07FBB2653710}"/>
              </a:ext>
            </a:extLst>
          </p:cNvPr>
          <p:cNvSpPr/>
          <p:nvPr/>
        </p:nvSpPr>
        <p:spPr>
          <a:xfrm>
            <a:off x="556468" y="1744251"/>
            <a:ext cx="47036" cy="1762046"/>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B6589BA0-2773-A9BB-B28C-FCA8DD45AF54}"/>
              </a:ext>
            </a:extLst>
          </p:cNvPr>
          <p:cNvSpPr/>
          <p:nvPr/>
        </p:nvSpPr>
        <p:spPr>
          <a:xfrm>
            <a:off x="830788" y="1819275"/>
            <a:ext cx="7589520" cy="1601906"/>
          </a:xfrm>
          <a:prstGeom prst="rect">
            <a:avLst/>
          </a:prstGeom>
          <a:noFill/>
          <a:ln/>
        </p:spPr>
        <p:txBody>
          <a:bodyPr wrap="square" lIns="91440" tIns="45720" rIns="91440" bIns="45720" rtlCol="0" anchor="t"/>
          <a:lstStyle/>
          <a:p>
            <a:r>
              <a:rPr lang="en-US" sz="1000" b="1" kern="0" spc="200" noProof="0" dirty="0">
                <a:solidFill>
                  <a:schemeClr val="accent2"/>
                </a:solidFill>
              </a:rPr>
              <a:t>SUMMARY</a:t>
            </a:r>
            <a:r>
              <a:rPr lang="en-US" sz="1000" b="1" kern="0" spc="200" noProof="0" dirty="0">
                <a:solidFill>
                  <a:srgbClr val="DC2626"/>
                </a:solidFill>
              </a:rPr>
              <a:t>  </a:t>
            </a:r>
          </a:p>
          <a:p>
            <a:r>
              <a:rPr lang="en-US" sz="1000" noProof="0" dirty="0">
                <a:solidFill>
                  <a:srgbClr val="64748B"/>
                </a:solidFill>
              </a:rPr>
              <a:t>[Overview of the paper]</a:t>
            </a:r>
            <a:endParaRPr lang="en-US" sz="1000" noProof="0" dirty="0"/>
          </a:p>
        </p:txBody>
      </p:sp>
    </p:spTree>
    <p:extLst>
      <p:ext uri="{BB962C8B-B14F-4D97-AF65-F5344CB8AC3E}">
        <p14:creationId xmlns:p14="http://schemas.microsoft.com/office/powerpoint/2010/main" val="3665584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E382F9-F28A-E663-A446-0369E68555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5AB3984-3D3A-CE8B-1110-9100145D661F}"/>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EBEA375E-0A87-1ED6-7379-5192D3E0CA86}"/>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Trebuchet MS" pitchFamily="34" charset="-122"/>
                <a:cs typeface="Trebuchet MS" pitchFamily="34" charset="-120"/>
              </a:rPr>
              <a:t>REVIEW TEMPLATE</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384B4B20-49C9-1DA4-F475-158C4A1161D6}"/>
              </a:ext>
            </a:extLst>
          </p:cNvPr>
          <p:cNvSpPr/>
          <p:nvPr/>
        </p:nvSpPr>
        <p:spPr>
          <a:xfrm>
            <a:off x="601272" y="1016058"/>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9EADB862-0279-16C9-F03A-65755A307ABA}"/>
              </a:ext>
            </a:extLst>
          </p:cNvPr>
          <p:cNvSpPr/>
          <p:nvPr/>
        </p:nvSpPr>
        <p:spPr>
          <a:xfrm>
            <a:off x="601272" y="1016058"/>
            <a:ext cx="54864" cy="1080000"/>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B2F784CD-E5EC-89BB-6F7C-B0F9EFFB8EB9}"/>
              </a:ext>
            </a:extLst>
          </p:cNvPr>
          <p:cNvSpPr/>
          <p:nvPr/>
        </p:nvSpPr>
        <p:spPr>
          <a:xfrm>
            <a:off x="784152" y="1061778"/>
            <a:ext cx="3520440" cy="1080000"/>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r>
              <a:rPr lang="en-US" sz="1000" noProof="0" dirty="0">
                <a:solidFill>
                  <a:srgbClr val="64748B"/>
                </a:solidFill>
              </a:rPr>
              <a:t>[Source, size, parameters, time span]</a:t>
            </a:r>
            <a:endParaRPr lang="en-US" sz="1000" noProof="0" dirty="0"/>
          </a:p>
        </p:txBody>
      </p:sp>
      <p:sp>
        <p:nvSpPr>
          <p:cNvPr id="12" name="Shape 10">
            <a:extLst>
              <a:ext uri="{FF2B5EF4-FFF2-40B4-BE49-F238E27FC236}">
                <a16:creationId xmlns:a16="http://schemas.microsoft.com/office/drawing/2014/main" id="{F10B5A98-4B24-CA3F-7103-A2B5B2171E1A}"/>
              </a:ext>
            </a:extLst>
          </p:cNvPr>
          <p:cNvSpPr/>
          <p:nvPr/>
        </p:nvSpPr>
        <p:spPr>
          <a:xfrm>
            <a:off x="4754880" y="1016058"/>
            <a:ext cx="3840480" cy="1080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3485C11E-81D5-2509-CFD9-3DF8A415FF8A}"/>
              </a:ext>
            </a:extLst>
          </p:cNvPr>
          <p:cNvSpPr/>
          <p:nvPr/>
        </p:nvSpPr>
        <p:spPr>
          <a:xfrm>
            <a:off x="4754880" y="1016058"/>
            <a:ext cx="54864" cy="1080000"/>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EA7A6916-9B27-0884-F7B4-1525B4CEB4DF}"/>
              </a:ext>
            </a:extLst>
          </p:cNvPr>
          <p:cNvSpPr/>
          <p:nvPr/>
        </p:nvSpPr>
        <p:spPr>
          <a:xfrm>
            <a:off x="4937760" y="1061778"/>
            <a:ext cx="3520440" cy="1080000"/>
          </a:xfrm>
          <a:prstGeom prst="rect">
            <a:avLst/>
          </a:prstGeom>
          <a:noFill/>
          <a:ln/>
        </p:spPr>
        <p:txBody>
          <a:bodyPr wrap="square" rtlCol="0" anchor="t"/>
          <a:lstStyle/>
          <a:p>
            <a:r>
              <a:rPr lang="en-US" sz="1000" b="1" kern="0" spc="200" noProof="0" dirty="0">
                <a:solidFill>
                  <a:srgbClr val="065A82"/>
                </a:solidFill>
              </a:rPr>
              <a:t>TAXONOMY / METHODS COVERED</a:t>
            </a:r>
          </a:p>
          <a:p>
            <a:r>
              <a:rPr lang="en-US" sz="1000" noProof="0" dirty="0">
                <a:solidFill>
                  <a:srgbClr val="64748B"/>
                </a:solidFill>
              </a:rPr>
              <a:t>[ML methods, architectures, training approach]</a:t>
            </a:r>
            <a:endParaRPr lang="en-US" sz="1000" noProof="0" dirty="0"/>
          </a:p>
        </p:txBody>
      </p:sp>
      <p:sp>
        <p:nvSpPr>
          <p:cNvPr id="15" name="Shape 13">
            <a:extLst>
              <a:ext uri="{FF2B5EF4-FFF2-40B4-BE49-F238E27FC236}">
                <a16:creationId xmlns:a16="http://schemas.microsoft.com/office/drawing/2014/main" id="{20DB1FEA-9A10-DA62-BA8A-BD51D93190F1}"/>
              </a:ext>
            </a:extLst>
          </p:cNvPr>
          <p:cNvSpPr/>
          <p:nvPr/>
        </p:nvSpPr>
        <p:spPr>
          <a:xfrm>
            <a:off x="601272" y="2304837"/>
            <a:ext cx="7994088" cy="124119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F4992269-DD95-A97B-B25C-993D2A49A8BD}"/>
              </a:ext>
            </a:extLst>
          </p:cNvPr>
          <p:cNvSpPr/>
          <p:nvPr/>
        </p:nvSpPr>
        <p:spPr>
          <a:xfrm>
            <a:off x="601271" y="2304837"/>
            <a:ext cx="54000" cy="124119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DFC605E1-C2F3-7B92-8BF1-0CFA1ED1C203}"/>
              </a:ext>
            </a:extLst>
          </p:cNvPr>
          <p:cNvSpPr/>
          <p:nvPr/>
        </p:nvSpPr>
        <p:spPr>
          <a:xfrm>
            <a:off x="784152" y="2350557"/>
            <a:ext cx="7327914" cy="1241192"/>
          </a:xfrm>
          <a:prstGeom prst="rect">
            <a:avLst/>
          </a:prstGeom>
          <a:noFill/>
          <a:ln/>
        </p:spPr>
        <p:txBody>
          <a:bodyPr wrap="square" rtlCol="0" anchor="t"/>
          <a:lstStyle/>
          <a:p>
            <a:r>
              <a:rPr lang="en-US" sz="1000" b="1" kern="0" spc="200" noProof="0" dirty="0">
                <a:solidFill>
                  <a:srgbClr val="21295C"/>
                </a:solidFill>
              </a:rPr>
              <a:t>RESULTS</a:t>
            </a:r>
          </a:p>
          <a:p>
            <a:r>
              <a:rPr lang="en-US" sz="1000" noProof="0" dirty="0">
                <a:solidFill>
                  <a:srgbClr val="64748B"/>
                </a:solidFill>
              </a:rPr>
              <a:t>[Key metrics: RMSE, AUC, Accuracy, R², ...]</a:t>
            </a:r>
          </a:p>
        </p:txBody>
      </p:sp>
      <p:sp>
        <p:nvSpPr>
          <p:cNvPr id="18" name="Shape 16">
            <a:extLst>
              <a:ext uri="{FF2B5EF4-FFF2-40B4-BE49-F238E27FC236}">
                <a16:creationId xmlns:a16="http://schemas.microsoft.com/office/drawing/2014/main" id="{518418BB-83A6-F3C8-0644-F800912DE426}"/>
              </a:ext>
            </a:extLst>
          </p:cNvPr>
          <p:cNvSpPr/>
          <p:nvPr/>
        </p:nvSpPr>
        <p:spPr>
          <a:xfrm>
            <a:off x="601271" y="3783253"/>
            <a:ext cx="7994088" cy="124119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1BFB7E07-E7AD-4D05-1E61-607C18324EDC}"/>
              </a:ext>
            </a:extLst>
          </p:cNvPr>
          <p:cNvSpPr/>
          <p:nvPr/>
        </p:nvSpPr>
        <p:spPr>
          <a:xfrm>
            <a:off x="601270" y="3783253"/>
            <a:ext cx="54000" cy="1241192"/>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6E803C2F-919A-840B-2727-5AE155AC265A}"/>
              </a:ext>
            </a:extLst>
          </p:cNvPr>
          <p:cNvSpPr/>
          <p:nvPr/>
        </p:nvSpPr>
        <p:spPr>
          <a:xfrm>
            <a:off x="784151" y="3828973"/>
            <a:ext cx="7327914" cy="1241192"/>
          </a:xfrm>
          <a:prstGeom prst="rect">
            <a:avLst/>
          </a:prstGeom>
          <a:noFill/>
          <a:ln/>
        </p:spPr>
        <p:txBody>
          <a:bodyPr wrap="square" rtlCol="0" anchor="t"/>
          <a:lstStyle/>
          <a:p>
            <a:r>
              <a:rPr lang="en-US" sz="1000" b="1" kern="0" spc="200" noProof="0" dirty="0">
                <a:solidFill>
                  <a:srgbClr val="0D9488"/>
                </a:solidFill>
              </a:rPr>
              <a:t>RESEARCH GAPS</a:t>
            </a:r>
          </a:p>
          <a:p>
            <a:pPr marL="0" indent="0">
              <a:buNone/>
            </a:pPr>
            <a:r>
              <a:rPr lang="en-US" sz="1000" noProof="0" dirty="0">
                <a:solidFill>
                  <a:srgbClr val="64748B"/>
                </a:solidFill>
              </a:rPr>
              <a:t>[</a:t>
            </a:r>
            <a:r>
              <a:rPr lang="en-US" sz="1000" noProof="0" dirty="0" err="1">
                <a:solidFill>
                  <a:srgbClr val="64748B"/>
                </a:solidFill>
              </a:rPr>
              <a:t>Oportunities</a:t>
            </a:r>
            <a:r>
              <a:rPr lang="en-US" sz="1000" noProof="0" dirty="0">
                <a:solidFill>
                  <a:srgbClr val="64748B"/>
                </a:solidFill>
              </a:rPr>
              <a:t> for future research]</a:t>
            </a:r>
            <a:endParaRPr lang="en-US" sz="1000" noProof="0" dirty="0"/>
          </a:p>
        </p:txBody>
      </p:sp>
    </p:spTree>
    <p:extLst>
      <p:ext uri="{BB962C8B-B14F-4D97-AF65-F5344CB8AC3E}">
        <p14:creationId xmlns:p14="http://schemas.microsoft.com/office/powerpoint/2010/main" val="3005479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570A45-2292-395A-8081-BF3FDD910A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EF63A5-8047-93F7-A4A2-48FE909032DB}"/>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DFA98F6B-9CB0-EBE7-A58F-AA7053CF9762}"/>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#1</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306D8EFE-EB96-80E0-83E3-9EB2833AD761}"/>
              </a:ext>
            </a:extLst>
          </p:cNvPr>
          <p:cNvSpPr/>
          <p:nvPr/>
        </p:nvSpPr>
        <p:spPr>
          <a:xfrm>
            <a:off x="548640" y="825778"/>
            <a:ext cx="8046720" cy="457200"/>
          </a:xfrm>
          <a:prstGeom prst="rect">
            <a:avLst/>
          </a:prstGeom>
          <a:noFill/>
          <a:ln/>
        </p:spPr>
        <p:txBody>
          <a:bodyPr wrap="square" lIns="0" tIns="0" rIns="0" bIns="0" rtlCol="0" anchor="ctr"/>
          <a:lstStyle/>
          <a:p>
            <a:pPr marL="0" indent="0">
              <a:buNone/>
            </a:pPr>
            <a:r>
              <a:rPr lang="en-US" b="1" noProof="0" dirty="0">
                <a:solidFill>
                  <a:srgbClr val="0B1D35"/>
                </a:solidFill>
                <a:latin typeface="Trebuchet MS"/>
                <a:ea typeface="Trebuchet MS" pitchFamily="34" charset="-122"/>
                <a:cs typeface="Trebuchet MS" pitchFamily="34" charset="-120"/>
              </a:rPr>
              <a:t>AI-Based Modeling of Indoor Air Quality and Thermal Comfort: A Systematic Review of Human-Centric and Adaptive Approaches</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29ACC9D0-A209-B2FB-49C8-5A5C10D36242}"/>
              </a:ext>
            </a:extLst>
          </p:cNvPr>
          <p:cNvSpPr/>
          <p:nvPr/>
        </p:nvSpPr>
        <p:spPr>
          <a:xfrm>
            <a:off x="545122" y="1355436"/>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Aziz, N.A., Razak, T.R., Nordin, S., Jarimi, H., Su, Y., &amp; Riffat, S. (2025). Journal of Climate Change, 11(4), pp. 505–533. https://doi.org/10.70917/jcc-2025-034</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A747DA5B-D39A-286A-5729-219797950DCA}"/>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252CD5CC-176D-CB43-7319-492A5C914495}"/>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149CAF67-25BA-7705-9554-B1A0FCBBA1D3}"/>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endParaRPr lang="en-US" sz="1000" b="1" kern="0" spc="200" noProof="0" dirty="0">
              <a:solidFill>
                <a:srgbClr val="0D9488"/>
              </a:solidFill>
            </a:endParaRPr>
          </a:p>
          <a:p>
            <a:pPr marL="228600" indent="-228600">
              <a:buFont typeface="+mj-lt"/>
              <a:buAutoNum type="arabicPeriod"/>
            </a:pPr>
            <a:r>
              <a:rPr lang="en-US" sz="1000" noProof="0" dirty="0">
                <a:solidFill>
                  <a:srgbClr val="64748B"/>
                </a:solidFill>
              </a:rPr>
              <a:t>What environmental and human-centered parameters are typically modeled?</a:t>
            </a:r>
          </a:p>
          <a:p>
            <a:pPr marL="228600" indent="-228600">
              <a:buFont typeface="+mj-lt"/>
              <a:buAutoNum type="arabicPeriod"/>
            </a:pPr>
            <a:r>
              <a:rPr lang="en-US" sz="1000" noProof="0" dirty="0">
                <a:solidFill>
                  <a:srgbClr val="64748B"/>
                </a:solidFill>
              </a:rPr>
              <a:t>Which AI and soft computing techniques dominate the field?</a:t>
            </a:r>
          </a:p>
          <a:p>
            <a:pPr marL="228600" indent="-228600">
              <a:buFont typeface="+mj-lt"/>
              <a:buAutoNum type="arabicPeriod"/>
            </a:pPr>
            <a:r>
              <a:rPr lang="en-US" sz="1000" noProof="0" dirty="0">
                <a:solidFill>
                  <a:srgbClr val="64748B"/>
                </a:solidFill>
              </a:rPr>
              <a:t>To what extent are IAQ and thermal comfort addressed in unified frameworks?</a:t>
            </a:r>
          </a:p>
          <a:p>
            <a:pPr marL="228600" indent="-228600">
              <a:buFont typeface="+mj-lt"/>
              <a:buAutoNum type="arabicPeriod"/>
            </a:pPr>
            <a:r>
              <a:rPr lang="en-US" sz="1000" noProof="0" dirty="0">
                <a:solidFill>
                  <a:srgbClr val="64748B"/>
                </a:solidFill>
              </a:rPr>
              <a:t>How is personalization and occupant feedback incorporated?</a:t>
            </a:r>
          </a:p>
        </p:txBody>
      </p:sp>
      <p:sp>
        <p:nvSpPr>
          <p:cNvPr id="24" name="Shape 22">
            <a:extLst>
              <a:ext uri="{FF2B5EF4-FFF2-40B4-BE49-F238E27FC236}">
                <a16:creationId xmlns:a16="http://schemas.microsoft.com/office/drawing/2014/main" id="{F1BDA4F4-973D-26AE-AFC7-ED2D84516AF6}"/>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53578990-7884-B048-D0C1-9B52A292BE59}"/>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81466602-9FBC-1EF6-2D96-09BEF21C02E5}"/>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A systematic review of 72 peer-reviewed studies (2020–2024) examining AI and soft computing methods applied to Indoor Air Quality (IAQ) and thermal comfort modeling in buildings. Post-pandemic context drove increased interest in health-focused, data-driven indoor environment management. The review finds that while AI methods have matured significantly, most approaches remain siloed, opaque, and simulation-only, with little real-world validation or occupant-centric design.</a:t>
            </a:r>
            <a:endParaRPr lang="en-US" sz="1000" noProof="0" dirty="0"/>
          </a:p>
        </p:txBody>
      </p:sp>
    </p:spTree>
    <p:extLst>
      <p:ext uri="{BB962C8B-B14F-4D97-AF65-F5344CB8AC3E}">
        <p14:creationId xmlns:p14="http://schemas.microsoft.com/office/powerpoint/2010/main" val="503668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DEC48A-EF12-FE40-B569-F2FE7666AA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8A39E54-2C97-B0FD-7F39-0077B09B1D29}"/>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C0BAAE73-3007-1F17-8212-F2FC138A46F6}"/>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#1</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1690B5B8-3AAF-3A1F-2852-B999F02F944B}"/>
              </a:ext>
            </a:extLst>
          </p:cNvPr>
          <p:cNvSpPr/>
          <p:nvPr/>
        </p:nvSpPr>
        <p:spPr>
          <a:xfrm>
            <a:off x="601272" y="1077325"/>
            <a:ext cx="3840480" cy="185871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645B14CC-BED0-3D03-B696-E36574CD4F26}"/>
              </a:ext>
            </a:extLst>
          </p:cNvPr>
          <p:cNvSpPr/>
          <p:nvPr/>
        </p:nvSpPr>
        <p:spPr>
          <a:xfrm>
            <a:off x="601272" y="1077325"/>
            <a:ext cx="54864" cy="1858712"/>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9C75B4CF-CDB8-D502-7903-C4CAFDAA8214}"/>
              </a:ext>
            </a:extLst>
          </p:cNvPr>
          <p:cNvSpPr/>
          <p:nvPr/>
        </p:nvSpPr>
        <p:spPr>
          <a:xfrm>
            <a:off x="784150" y="1123045"/>
            <a:ext cx="3657601" cy="1858712"/>
          </a:xfrm>
          <a:prstGeom prst="rect">
            <a:avLst/>
          </a:prstGeom>
          <a:noFill/>
          <a:ln/>
        </p:spPr>
        <p:txBody>
          <a:bodyPr wrap="square" rtlCol="0" anchor="t"/>
          <a:lstStyle/>
          <a:p>
            <a:pPr marL="0" indent="0">
              <a:buNone/>
            </a:pPr>
            <a:r>
              <a:rPr lang="en-US" sz="1000" b="1" kern="0" spc="200" noProof="0" dirty="0">
                <a:solidFill>
                  <a:srgbClr val="1C7293"/>
                </a:solidFill>
              </a:rPr>
              <a:t>SCOPE</a:t>
            </a:r>
          </a:p>
          <a:p>
            <a:pPr marL="0" indent="0">
              <a:buNone/>
            </a:pPr>
            <a:endParaRPr lang="en-US" sz="1000" noProof="0" dirty="0"/>
          </a:p>
          <a:p>
            <a:pPr marL="171450" indent="-171450">
              <a:buFont typeface="Arial" panose="020B0604020202020204" pitchFamily="34" charset="0"/>
              <a:buChar char="•"/>
            </a:pPr>
            <a:r>
              <a:rPr lang="en-US" sz="1000" noProof="0" dirty="0">
                <a:solidFill>
                  <a:srgbClr val="64748B"/>
                </a:solidFill>
              </a:rPr>
              <a:t>Period: January 2020 – December 2024</a:t>
            </a:r>
          </a:p>
          <a:p>
            <a:pPr marL="171450" indent="-171450">
              <a:buFont typeface="Arial" panose="020B0604020202020204" pitchFamily="34" charset="0"/>
              <a:buChar char="•"/>
            </a:pPr>
            <a:r>
              <a:rPr lang="en-US" sz="1000" noProof="0" dirty="0">
                <a:solidFill>
                  <a:srgbClr val="64748B"/>
                </a:solidFill>
              </a:rPr>
              <a:t>Databases: Scopus, Web of Science, IEEE Xplore</a:t>
            </a:r>
          </a:p>
          <a:p>
            <a:pPr marL="171450" indent="-171450">
              <a:buFont typeface="Arial" panose="020B0604020202020204" pitchFamily="34" charset="0"/>
              <a:buChar char="•"/>
            </a:pPr>
            <a:r>
              <a:rPr lang="en-US" sz="1000" noProof="0" dirty="0">
                <a:solidFill>
                  <a:srgbClr val="64748B"/>
                </a:solidFill>
              </a:rPr>
              <a:t>Initial records: 420 → final included: 72</a:t>
            </a:r>
          </a:p>
          <a:p>
            <a:pPr marL="171450" indent="-171450">
              <a:buFont typeface="Arial" panose="020B0604020202020204" pitchFamily="34" charset="0"/>
              <a:buChar char="•"/>
            </a:pPr>
            <a:r>
              <a:rPr lang="en-US" sz="1000" noProof="0" dirty="0">
                <a:solidFill>
                  <a:srgbClr val="64748B"/>
                </a:solidFill>
              </a:rPr>
              <a:t>Criteria: peer-reviewed, empirical, AI/ML applied to IAQ and/or thermal comfort in indoor built environments, English only</a:t>
            </a:r>
            <a:endParaRPr lang="en-US" sz="1000" noProof="0" dirty="0"/>
          </a:p>
        </p:txBody>
      </p:sp>
      <p:sp>
        <p:nvSpPr>
          <p:cNvPr id="12" name="Shape 10">
            <a:extLst>
              <a:ext uri="{FF2B5EF4-FFF2-40B4-BE49-F238E27FC236}">
                <a16:creationId xmlns:a16="http://schemas.microsoft.com/office/drawing/2014/main" id="{9BED64C9-85D3-1288-2449-C4D90E007B20}"/>
              </a:ext>
            </a:extLst>
          </p:cNvPr>
          <p:cNvSpPr/>
          <p:nvPr/>
        </p:nvSpPr>
        <p:spPr>
          <a:xfrm>
            <a:off x="4754880" y="1077325"/>
            <a:ext cx="3840480" cy="185871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D3479CFD-E7AF-134C-A453-A0FAAA210326}"/>
              </a:ext>
            </a:extLst>
          </p:cNvPr>
          <p:cNvSpPr/>
          <p:nvPr/>
        </p:nvSpPr>
        <p:spPr>
          <a:xfrm>
            <a:off x="4754880" y="1077325"/>
            <a:ext cx="54864" cy="1858712"/>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CB4BCA18-C048-43DF-74AC-517C6B4618D6}"/>
              </a:ext>
            </a:extLst>
          </p:cNvPr>
          <p:cNvSpPr/>
          <p:nvPr/>
        </p:nvSpPr>
        <p:spPr>
          <a:xfrm>
            <a:off x="4937760" y="1123045"/>
            <a:ext cx="3550104" cy="1858712"/>
          </a:xfrm>
          <a:prstGeom prst="rect">
            <a:avLst/>
          </a:prstGeom>
          <a:noFill/>
          <a:ln/>
        </p:spPr>
        <p:txBody>
          <a:bodyPr wrap="square" rtlCol="0" anchor="t"/>
          <a:lstStyle/>
          <a:p>
            <a:r>
              <a:rPr lang="en-US" sz="1000" b="1" kern="0" spc="200" noProof="0" dirty="0">
                <a:solidFill>
                  <a:srgbClr val="065A82"/>
                </a:solidFill>
              </a:rPr>
              <a:t>TAXONOMY / METHODS COVERED</a:t>
            </a:r>
          </a:p>
          <a:p>
            <a:endParaRPr lang="en-US" sz="1000" b="1" kern="0" spc="200" noProof="0" dirty="0">
              <a:solidFill>
                <a:srgbClr val="065A82"/>
              </a:solidFill>
            </a:endParaRPr>
          </a:p>
          <a:p>
            <a:pPr marL="171450" indent="-171450">
              <a:buFont typeface="Arial" panose="020B0604020202020204" pitchFamily="34" charset="0"/>
              <a:buChar char="•"/>
            </a:pPr>
            <a:r>
              <a:rPr lang="en-US" sz="1000" noProof="0" dirty="0">
                <a:solidFill>
                  <a:srgbClr val="64748B"/>
                </a:solidFill>
              </a:rPr>
              <a:t>AI techniques: CNN, LSTM, ANN, SVM, </a:t>
            </a:r>
            <a:r>
              <a:rPr lang="en-US" sz="1000" noProof="0" dirty="0" err="1">
                <a:solidFill>
                  <a:srgbClr val="64748B"/>
                </a:solidFill>
              </a:rPr>
              <a:t>XGBoost</a:t>
            </a:r>
            <a:r>
              <a:rPr lang="en-US" sz="1000" noProof="0" dirty="0">
                <a:solidFill>
                  <a:srgbClr val="64748B"/>
                </a:solidFill>
              </a:rPr>
              <a:t>, Random Forest, Fuzzy Logic, MPC, Reinforcement Learning, hybrid architectures</a:t>
            </a:r>
          </a:p>
          <a:p>
            <a:pPr marL="171450" indent="-171450">
              <a:buFont typeface="Arial" panose="020B0604020202020204" pitchFamily="34" charset="0"/>
              <a:buChar char="•"/>
            </a:pPr>
            <a:r>
              <a:rPr lang="en-US" sz="1000" noProof="0" dirty="0">
                <a:solidFill>
                  <a:srgbClr val="64748B"/>
                </a:solidFill>
              </a:rPr>
              <a:t>Environmental parameters: CO₂, PM2.5, VOCs, temperature, humidity, air velocity</a:t>
            </a:r>
          </a:p>
          <a:p>
            <a:pPr marL="171450" indent="-171450">
              <a:buFont typeface="Arial" panose="020B0604020202020204" pitchFamily="34" charset="0"/>
              <a:buChar char="•"/>
            </a:pPr>
            <a:r>
              <a:rPr lang="en-US" sz="1000" noProof="0" dirty="0">
                <a:solidFill>
                  <a:srgbClr val="64748B"/>
                </a:solidFill>
              </a:rPr>
              <a:t>Study types: field study, simulation, experimental testbed, survey</a:t>
            </a:r>
          </a:p>
          <a:p>
            <a:pPr marL="171450" indent="-171450">
              <a:buFont typeface="Arial" panose="020B0604020202020204" pitchFamily="34" charset="0"/>
              <a:buChar char="•"/>
            </a:pPr>
            <a:r>
              <a:rPr lang="en-US" sz="1000" noProof="0" dirty="0">
                <a:solidFill>
                  <a:srgbClr val="64748B"/>
                </a:solidFill>
              </a:rPr>
              <a:t>Human-centric features: thermal sensation votes, wearable sensors, occupant feedback, adaptive thresholds</a:t>
            </a:r>
            <a:endParaRPr lang="en-US" sz="1000" noProof="0" dirty="0"/>
          </a:p>
        </p:txBody>
      </p:sp>
      <p:sp>
        <p:nvSpPr>
          <p:cNvPr id="15" name="Shape 13">
            <a:extLst>
              <a:ext uri="{FF2B5EF4-FFF2-40B4-BE49-F238E27FC236}">
                <a16:creationId xmlns:a16="http://schemas.microsoft.com/office/drawing/2014/main" id="{AC068843-F278-8150-D807-5309BBAD4300}"/>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C1241BEA-BCA0-7E36-3D67-1C41B512C932}"/>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8D802DEF-906F-52FE-0D32-4D26867FFEA9}"/>
              </a:ext>
            </a:extLst>
          </p:cNvPr>
          <p:cNvSpPr/>
          <p:nvPr/>
        </p:nvSpPr>
        <p:spPr>
          <a:xfrm>
            <a:off x="784151" y="3240408"/>
            <a:ext cx="7327914" cy="1688262"/>
          </a:xfrm>
          <a:prstGeom prst="rect">
            <a:avLst/>
          </a:prstGeom>
          <a:noFill/>
          <a:ln/>
        </p:spPr>
        <p:txBody>
          <a:bodyPr wrap="square" rtlCol="0" anchor="t"/>
          <a:lstStyle/>
          <a:p>
            <a:r>
              <a:rPr lang="en-US" sz="1000" b="1" kern="0" spc="200" noProof="0" dirty="0">
                <a:solidFill>
                  <a:srgbClr val="21295C"/>
                </a:solidFill>
              </a:rPr>
              <a:t>KEY FINDINGS</a:t>
            </a:r>
          </a:p>
          <a:p>
            <a:endParaRPr lang="en-US" sz="1000" b="1" kern="0" spc="200" noProof="0" dirty="0">
              <a:solidFill>
                <a:srgbClr val="21295C"/>
              </a:solidFill>
            </a:endParaRPr>
          </a:p>
          <a:p>
            <a:pPr marL="171450" indent="-171450">
              <a:buFont typeface="Arial" panose="020B0604020202020204" pitchFamily="34" charset="0"/>
              <a:buChar char="•"/>
            </a:pPr>
            <a:r>
              <a:rPr lang="en-US" sz="1000" noProof="0" dirty="0">
                <a:solidFill>
                  <a:srgbClr val="64748B"/>
                </a:solidFill>
              </a:rPr>
              <a:t>CNN most frequently used technique (16 studies), followed by Fuzzy Logic (14) and LSTM (10)</a:t>
            </a:r>
          </a:p>
          <a:p>
            <a:pPr marL="171450" indent="-171450">
              <a:buFont typeface="Arial" panose="020B0604020202020204" pitchFamily="34" charset="0"/>
              <a:buChar char="•"/>
            </a:pPr>
            <a:r>
              <a:rPr lang="en-US" sz="1000" noProof="0" dirty="0">
                <a:solidFill>
                  <a:srgbClr val="64748B"/>
                </a:solidFill>
              </a:rPr>
              <a:t>23 studies focused on IAQ prediction, 31 on thermal comfort — mostly independently</a:t>
            </a:r>
          </a:p>
          <a:p>
            <a:pPr marL="171450" indent="-171450">
              <a:buFont typeface="Arial" panose="020B0604020202020204" pitchFamily="34" charset="0"/>
              <a:buChar char="•"/>
            </a:pPr>
            <a:r>
              <a:rPr lang="en-US" sz="1000" noProof="0" dirty="0">
                <a:solidFill>
                  <a:srgbClr val="64748B"/>
                </a:solidFill>
              </a:rPr>
              <a:t>Only 9 of 72 studies addressed IAQ and thermal comfort jointly; only 8 included all three dimensions (IAQ + thermal comfort + human-centric modeling)</a:t>
            </a:r>
          </a:p>
          <a:p>
            <a:pPr marL="171450" indent="-171450">
              <a:buFont typeface="Arial" panose="020B0604020202020204" pitchFamily="34" charset="0"/>
              <a:buChar char="•"/>
            </a:pPr>
            <a:r>
              <a:rPr lang="en-US" sz="1000" noProof="0" dirty="0">
                <a:solidFill>
                  <a:srgbClr val="64748B"/>
                </a:solidFill>
              </a:rPr>
              <a:t>Fewer than 15% of studies incorporated real-time occupant feedback or personalized control</a:t>
            </a:r>
          </a:p>
          <a:p>
            <a:pPr marL="171450" indent="-171450">
              <a:buFont typeface="Arial" panose="020B0604020202020204" pitchFamily="34" charset="0"/>
              <a:buChar char="•"/>
            </a:pPr>
            <a:r>
              <a:rPr lang="en-US" sz="1000" noProof="0" dirty="0">
                <a:solidFill>
                  <a:srgbClr val="64748B"/>
                </a:solidFill>
              </a:rPr>
              <a:t>Trend toward hybrid models (CNN-LSTM, FL-CNN-LSTM) growing but still mostly simulation-based</a:t>
            </a:r>
          </a:p>
          <a:p>
            <a:pPr marL="171450" indent="-171450">
              <a:buFont typeface="Arial" panose="020B0604020202020204" pitchFamily="34" charset="0"/>
              <a:buChar char="•"/>
            </a:pPr>
            <a:r>
              <a:rPr lang="en-US" sz="1000" noProof="0" dirty="0">
                <a:solidFill>
                  <a:srgbClr val="64748B"/>
                </a:solidFill>
              </a:rPr>
              <a:t>Earlier studies (2020–2021) relied on black-box models with no field validation; more recent work begins integrating multi-modal sensor data</a:t>
            </a:r>
          </a:p>
        </p:txBody>
      </p:sp>
    </p:spTree>
    <p:extLst>
      <p:ext uri="{BB962C8B-B14F-4D97-AF65-F5344CB8AC3E}">
        <p14:creationId xmlns:p14="http://schemas.microsoft.com/office/powerpoint/2010/main" val="677951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304FE0-CF8A-19A4-FA85-5F9016A278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BF9556-433B-2376-D027-A2DBA35411F7}"/>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9B2D8A86-1879-9037-E50A-6F17D091B52C}"/>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#1</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9F85FB69-5095-B9C3-0DF9-28AB97BC653B}"/>
              </a:ext>
            </a:extLst>
          </p:cNvPr>
          <p:cNvSpPr/>
          <p:nvPr/>
        </p:nvSpPr>
        <p:spPr>
          <a:xfrm>
            <a:off x="601271" y="1105174"/>
            <a:ext cx="7994088" cy="3919271"/>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AB3A1BCF-0FA5-B9F2-DEC3-EDDC55F9E3C0}"/>
              </a:ext>
            </a:extLst>
          </p:cNvPr>
          <p:cNvSpPr/>
          <p:nvPr/>
        </p:nvSpPr>
        <p:spPr>
          <a:xfrm>
            <a:off x="601270" y="1105174"/>
            <a:ext cx="54000" cy="3919271"/>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68FF8677-3157-867A-E897-59629DC074E2}"/>
              </a:ext>
            </a:extLst>
          </p:cNvPr>
          <p:cNvSpPr/>
          <p:nvPr/>
        </p:nvSpPr>
        <p:spPr>
          <a:xfrm>
            <a:off x="784151" y="1150894"/>
            <a:ext cx="7327914" cy="3919271"/>
          </a:xfrm>
          <a:prstGeom prst="rect">
            <a:avLst/>
          </a:prstGeom>
          <a:noFill/>
          <a:ln/>
        </p:spPr>
        <p:txBody>
          <a:bodyPr wrap="square" rtlCol="0" anchor="t"/>
          <a:lstStyle/>
          <a:p>
            <a:r>
              <a:rPr lang="en-US" sz="1000" b="1" kern="0" spc="200" noProof="0" dirty="0">
                <a:solidFill>
                  <a:srgbClr val="0D9488"/>
                </a:solidFill>
              </a:rPr>
              <a:t>FUTURE RESEARCH DIRECTIONS &amp; OPEN PROBLEMS</a:t>
            </a:r>
          </a:p>
          <a:p>
            <a:endParaRPr lang="en-US" sz="1000" b="1" kern="0" spc="200" noProof="0" dirty="0">
              <a:solidFill>
                <a:srgbClr val="0D9488"/>
              </a:solidFill>
            </a:endParaRPr>
          </a:p>
          <a:p>
            <a:pPr marL="171450" indent="-171450">
              <a:buFont typeface="Arial" panose="020B0604020202020204" pitchFamily="34" charset="0"/>
              <a:buChar char="•"/>
            </a:pPr>
            <a:r>
              <a:rPr lang="en-US" sz="1000" noProof="0" dirty="0">
                <a:solidFill>
                  <a:srgbClr val="64748B"/>
                </a:solidFill>
              </a:rPr>
              <a:t>Build unified multi-objective frameworks that jointly optimize IAQ, thermal comfort, and energy consumption — current siloed approaches miss critical trade-offs (e.g. increasing ventilation improves IAQ but raises energy use and disrupts thermal comfort)</a:t>
            </a:r>
          </a:p>
          <a:p>
            <a:pPr marL="171450" indent="-171450">
              <a:buFont typeface="Arial" panose="020B0604020202020204" pitchFamily="34" charset="0"/>
              <a:buChar char="•"/>
            </a:pPr>
            <a:r>
              <a:rPr lang="en-US" sz="1000" noProof="0" dirty="0">
                <a:solidFill>
                  <a:srgbClr val="64748B"/>
                </a:solidFill>
              </a:rPr>
              <a:t>Develop hybrid XAI models combining deep learning accuracy with interpretable methods (fuzzy logic, SHAP, LIME) to enable regulatory compliance and stakeholder trust</a:t>
            </a:r>
          </a:p>
          <a:p>
            <a:pPr marL="171450" indent="-171450">
              <a:buFont typeface="Arial" panose="020B0604020202020204" pitchFamily="34" charset="0"/>
              <a:buChar char="•"/>
            </a:pPr>
            <a:r>
              <a:rPr lang="en-US" sz="1000" noProof="0" dirty="0">
                <a:solidFill>
                  <a:srgbClr val="64748B"/>
                </a:solidFill>
              </a:rPr>
              <a:t>Incorporate real-time occupant feedback, user profiling, and behavioral adaptation into AI control systems — most models currently treat occupants as static and homogeneous</a:t>
            </a:r>
          </a:p>
          <a:p>
            <a:pPr marL="171450" indent="-171450">
              <a:buFont typeface="Arial" panose="020B0604020202020204" pitchFamily="34" charset="0"/>
              <a:buChar char="•"/>
            </a:pPr>
            <a:r>
              <a:rPr lang="en-US" sz="1000" noProof="0" dirty="0">
                <a:solidFill>
                  <a:srgbClr val="64748B"/>
                </a:solidFill>
              </a:rPr>
              <a:t>Account for inter-individual variability in comfort perception — age, health status, culture, circadian rhythms are almost never modeled</a:t>
            </a:r>
          </a:p>
          <a:p>
            <a:pPr marL="171450" indent="-171450">
              <a:buFont typeface="Arial" panose="020B0604020202020204" pitchFamily="34" charset="0"/>
              <a:buChar char="•"/>
            </a:pPr>
            <a:r>
              <a:rPr lang="en-US" sz="1000" noProof="0" dirty="0">
                <a:solidFill>
                  <a:srgbClr val="64748B"/>
                </a:solidFill>
              </a:rPr>
              <a:t>Deploy and validate models in real operational buildings across diverse climates and building types, not just simulation environments</a:t>
            </a:r>
          </a:p>
          <a:p>
            <a:pPr marL="171450" indent="-171450">
              <a:buFont typeface="Arial" panose="020B0604020202020204" pitchFamily="34" charset="0"/>
              <a:buChar char="•"/>
            </a:pPr>
            <a:r>
              <a:rPr lang="en-US" sz="1000" noProof="0" dirty="0">
                <a:solidFill>
                  <a:srgbClr val="64748B"/>
                </a:solidFill>
              </a:rPr>
              <a:t>Integrate energy performance metrics as a third optimization variable alongside IAQ and thermal comfort</a:t>
            </a:r>
          </a:p>
          <a:p>
            <a:pPr marL="171450" indent="-171450">
              <a:buFont typeface="Arial" panose="020B0604020202020204" pitchFamily="34" charset="0"/>
              <a:buChar char="•"/>
            </a:pPr>
            <a:r>
              <a:rPr lang="en-US" sz="1000" noProof="0" dirty="0">
                <a:solidFill>
                  <a:srgbClr val="64748B"/>
                </a:solidFill>
              </a:rPr>
              <a:t>Test AI model interoperability with existing Building Management Systems (BMS) for practical deployment</a:t>
            </a:r>
          </a:p>
          <a:p>
            <a:pPr marL="171450" indent="-171450">
              <a:buFont typeface="Arial" panose="020B0604020202020204" pitchFamily="34" charset="0"/>
              <a:buChar char="•"/>
            </a:pPr>
            <a:r>
              <a:rPr lang="en-US" sz="1000" noProof="0" dirty="0">
                <a:solidFill>
                  <a:srgbClr val="64748B"/>
                </a:solidFill>
              </a:rPr>
              <a:t>Focus research on high-risk, high-occupancy environments — schools, hospitals, and social housing are severely underrepresented despite being most affected by poor indoor environmental quality</a:t>
            </a:r>
          </a:p>
          <a:p>
            <a:pPr marL="171450" indent="-171450">
              <a:buFont typeface="Arial" panose="020B0604020202020204" pitchFamily="34" charset="0"/>
              <a:buChar char="•"/>
            </a:pPr>
            <a:r>
              <a:rPr lang="en-US" sz="1000" noProof="0" dirty="0">
                <a:solidFill>
                  <a:srgbClr val="64748B"/>
                </a:solidFill>
              </a:rPr>
              <a:t>Explore reinforcement learning and MCDM for personalized comfort optimization — currently mostly conceptual</a:t>
            </a:r>
            <a:endParaRPr lang="en-US" sz="1000" noProof="0" dirty="0"/>
          </a:p>
        </p:txBody>
      </p:sp>
    </p:spTree>
    <p:extLst>
      <p:ext uri="{BB962C8B-B14F-4D97-AF65-F5344CB8AC3E}">
        <p14:creationId xmlns:p14="http://schemas.microsoft.com/office/powerpoint/2010/main" val="1378834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819E6E-ECE8-B05F-3BD8-84A8A1B234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37355C-174F-3830-62AD-A3390DADDBF3}"/>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92691A1F-0DD3-3C98-EC2A-5B8DB7A591D6}"/>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#1</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17C05796-577D-EB63-B472-97B930C58A84}"/>
              </a:ext>
            </a:extLst>
          </p:cNvPr>
          <p:cNvSpPr/>
          <p:nvPr/>
        </p:nvSpPr>
        <p:spPr>
          <a:xfrm>
            <a:off x="574956" y="1105174"/>
            <a:ext cx="7994088" cy="3919271"/>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A3022B62-79F3-9E63-16AE-1259B9EC7204}"/>
              </a:ext>
            </a:extLst>
          </p:cNvPr>
          <p:cNvSpPr/>
          <p:nvPr/>
        </p:nvSpPr>
        <p:spPr>
          <a:xfrm>
            <a:off x="601270" y="1105174"/>
            <a:ext cx="54000" cy="3919271"/>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F44BDED3-4500-98DD-D644-1687AAF72541}"/>
              </a:ext>
            </a:extLst>
          </p:cNvPr>
          <p:cNvSpPr/>
          <p:nvPr/>
        </p:nvSpPr>
        <p:spPr>
          <a:xfrm>
            <a:off x="784151" y="1150894"/>
            <a:ext cx="7327914" cy="3919271"/>
          </a:xfrm>
          <a:prstGeom prst="rect">
            <a:avLst/>
          </a:prstGeom>
          <a:noFill/>
          <a:ln/>
        </p:spPr>
        <p:txBody>
          <a:bodyPr wrap="square" rtlCol="0" anchor="t"/>
          <a:lstStyle/>
          <a:p>
            <a:r>
              <a:rPr lang="en-US" sz="1000" b="1" kern="0" spc="200" noProof="0" dirty="0">
                <a:solidFill>
                  <a:srgbClr val="0D9488"/>
                </a:solidFill>
              </a:rPr>
              <a:t>MY NOTES</a:t>
            </a:r>
          </a:p>
          <a:p>
            <a:endParaRPr lang="en-US" sz="1000" b="1" kern="0" spc="200" noProof="0" dirty="0">
              <a:solidFill>
                <a:srgbClr val="0D9488"/>
              </a:solidFill>
            </a:endParaRPr>
          </a:p>
          <a:p>
            <a:endParaRPr lang="en-US" sz="1000" noProof="0" dirty="0"/>
          </a:p>
        </p:txBody>
      </p:sp>
      <p:pic>
        <p:nvPicPr>
          <p:cNvPr id="5" name="Picture 4">
            <a:extLst>
              <a:ext uri="{FF2B5EF4-FFF2-40B4-BE49-F238E27FC236}">
                <a16:creationId xmlns:a16="http://schemas.microsoft.com/office/drawing/2014/main" id="{6D81D39C-DD6F-D61D-243A-B582DE316C9A}"/>
              </a:ext>
            </a:extLst>
          </p:cNvPr>
          <p:cNvPicPr>
            <a:picLocks noChangeAspect="1"/>
          </p:cNvPicPr>
          <p:nvPr/>
        </p:nvPicPr>
        <p:blipFill>
          <a:blip r:embed="rId3"/>
          <a:stretch>
            <a:fillRect/>
          </a:stretch>
        </p:blipFill>
        <p:spPr>
          <a:xfrm>
            <a:off x="693450" y="1584348"/>
            <a:ext cx="7849280" cy="2751058"/>
          </a:xfrm>
          <a:prstGeom prst="rect">
            <a:avLst/>
          </a:prstGeom>
        </p:spPr>
      </p:pic>
    </p:spTree>
    <p:extLst>
      <p:ext uri="{BB962C8B-B14F-4D97-AF65-F5344CB8AC3E}">
        <p14:creationId xmlns:p14="http://schemas.microsoft.com/office/powerpoint/2010/main" val="813764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39118D-DEDA-86FD-26B4-8D69DA24A8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551AEE-9F48-6E11-7201-49BDAB4D44A5}"/>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C4BD1759-1C46-8F24-7C74-FCAA262B5F15}"/>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#2</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2DB8382D-974F-43B8-BA50-9DAAFAA2069A}"/>
              </a:ext>
            </a:extLst>
          </p:cNvPr>
          <p:cNvSpPr/>
          <p:nvPr/>
        </p:nvSpPr>
        <p:spPr>
          <a:xfrm>
            <a:off x="548640" y="825778"/>
            <a:ext cx="8046720" cy="457200"/>
          </a:xfrm>
          <a:prstGeom prst="rect">
            <a:avLst/>
          </a:prstGeom>
          <a:noFill/>
          <a:ln/>
        </p:spPr>
        <p:txBody>
          <a:bodyPr wrap="square" lIns="0" tIns="0" rIns="0" bIns="0" rtlCol="0" anchor="ctr"/>
          <a:lstStyle/>
          <a:p>
            <a:r>
              <a:rPr lang="en-US" noProof="0" dirty="0"/>
              <a:t>Quantifying airborne transmission in ventilated settings: A review</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5F1AD450-D3E3-7CD3-32BD-A47BFB14068E}"/>
              </a:ext>
            </a:extLst>
          </p:cNvPr>
          <p:cNvSpPr/>
          <p:nvPr/>
        </p:nvSpPr>
        <p:spPr>
          <a:xfrm>
            <a:off x="545122" y="1355436"/>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Giri et al., 2024, Building and Environment, Volume 266, 112049</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7D0640F7-27E2-85D4-7964-E254EE06420F}"/>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D9DDF673-7CE8-6C4F-1598-ED5D906B1A54}"/>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1A1BD8FD-295A-064F-2A70-B6B8E4080A51}"/>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endParaRPr lang="en-US" sz="1000" b="1" kern="0" spc="200" noProof="0" dirty="0">
              <a:solidFill>
                <a:srgbClr val="0D9488"/>
              </a:solidFill>
            </a:endParaRPr>
          </a:p>
          <a:p>
            <a:r>
              <a:rPr lang="en-US" sz="1000" noProof="0" dirty="0">
                <a:solidFill>
                  <a:srgbClr val="64748B"/>
                </a:solidFill>
              </a:rPr>
              <a:t>How do ventilation regimes, indoor air conditions, and respiratory activities affect the transport and exposure risk of airborne infectious respiratory particles indoors—and where are the gaps in current research?</a:t>
            </a:r>
          </a:p>
        </p:txBody>
      </p:sp>
      <p:sp>
        <p:nvSpPr>
          <p:cNvPr id="24" name="Shape 22">
            <a:extLst>
              <a:ext uri="{FF2B5EF4-FFF2-40B4-BE49-F238E27FC236}">
                <a16:creationId xmlns:a16="http://schemas.microsoft.com/office/drawing/2014/main" id="{D941AC5B-ED32-AD0B-DAAC-62F3CF0A98A6}"/>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3AA67293-4425-983F-523B-CAE683D63162}"/>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9FBF4FD6-A4AC-6F67-6DDF-CF8C9FB5ABFB}"/>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systematic review examines 76 studies on airborne pathogen transmission in ventilated indoor environments. It </a:t>
            </a:r>
            <a:r>
              <a:rPr lang="en-US" sz="1000" noProof="0" dirty="0" err="1">
                <a:solidFill>
                  <a:srgbClr val="64748B"/>
                </a:solidFill>
              </a:rPr>
              <a:t>categorise</a:t>
            </a:r>
            <a:r>
              <a:rPr lang="en-US" sz="1000" noProof="0" dirty="0">
                <a:solidFill>
                  <a:srgbClr val="64748B"/>
                </a:solidFill>
              </a:rPr>
              <a:t> findings into indoor airflow patterns, dynamics of infectious respiratory particles (IRPs), and experimental/numerical methods. About 40% of studies do not specify an indoor setting; only 3% address restaurants. Most studies assume constant air conditions and focus on coughing and breathing. The review recommends shifting attention to social settings, varying air conditions, speech-related flows, and high-fidelity simulation tools.</a:t>
            </a:r>
            <a:endParaRPr lang="en-US" sz="1000" noProof="0" dirty="0"/>
          </a:p>
        </p:txBody>
      </p:sp>
    </p:spTree>
    <p:extLst>
      <p:ext uri="{BB962C8B-B14F-4D97-AF65-F5344CB8AC3E}">
        <p14:creationId xmlns:p14="http://schemas.microsoft.com/office/powerpoint/2010/main" val="1705990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A2235F-DCA2-67FC-3A32-11161A44E9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280246-1DAD-1F06-A0C1-2956A6AB917A}"/>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BAAB2CD7-F68C-CD03-D105-7FE7ACED1AC6}"/>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#2</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50C2ABAE-E6FD-0930-E6CE-E38F184FE965}"/>
              </a:ext>
            </a:extLst>
          </p:cNvPr>
          <p:cNvSpPr/>
          <p:nvPr/>
        </p:nvSpPr>
        <p:spPr>
          <a:xfrm>
            <a:off x="601272" y="1077325"/>
            <a:ext cx="3840480" cy="185871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1C08A132-D9E1-AFD8-E732-CC63E7422F36}"/>
              </a:ext>
            </a:extLst>
          </p:cNvPr>
          <p:cNvSpPr/>
          <p:nvPr/>
        </p:nvSpPr>
        <p:spPr>
          <a:xfrm>
            <a:off x="601272" y="1077325"/>
            <a:ext cx="54864" cy="1858712"/>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2F98F1BF-0CE6-0382-C208-4DEC7A2E2901}"/>
              </a:ext>
            </a:extLst>
          </p:cNvPr>
          <p:cNvSpPr/>
          <p:nvPr/>
        </p:nvSpPr>
        <p:spPr>
          <a:xfrm>
            <a:off x="784150" y="1123045"/>
            <a:ext cx="3657601" cy="1858712"/>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Studies included: 76 research papers (from 385 unique records; 50 from initial screening + 26 from 13 relevant review papers containing 2,046 references)</a:t>
            </a:r>
          </a:p>
          <a:p>
            <a:pPr marL="171450" indent="-171450">
              <a:buFont typeface="Arial" panose="020B0604020202020204" pitchFamily="34" charset="0"/>
              <a:buChar char="•"/>
            </a:pPr>
            <a:r>
              <a:rPr lang="en-US" sz="1000" noProof="0" dirty="0">
                <a:solidFill>
                  <a:srgbClr val="64748B"/>
                </a:solidFill>
              </a:rPr>
              <a:t>Selection criteria: Must investigate airborne IRP transmission in ventilated indoor settings using experiments, validated RANS, LES, or DNS.</a:t>
            </a:r>
          </a:p>
          <a:p>
            <a:pPr marL="171450" indent="-171450">
              <a:buFont typeface="Arial" panose="020B0604020202020204" pitchFamily="34" charset="0"/>
              <a:buChar char="•"/>
            </a:pPr>
            <a:r>
              <a:rPr lang="en-US" sz="1000" noProof="0" dirty="0">
                <a:solidFill>
                  <a:srgbClr val="64748B"/>
                </a:solidFill>
              </a:rPr>
              <a:t>Excluded: purely theoretical, purely epidemiological, unvalidated RANS, building-scale aerodynamics, non-English, non-accessible.</a:t>
            </a:r>
          </a:p>
          <a:p>
            <a:pPr marL="171450" indent="-171450">
              <a:buFont typeface="Arial" panose="020B0604020202020204" pitchFamily="34" charset="0"/>
              <a:buChar char="•"/>
            </a:pPr>
            <a:r>
              <a:rPr lang="en-US" sz="1000" noProof="0" dirty="0">
                <a:solidFill>
                  <a:srgbClr val="64748B"/>
                </a:solidFill>
              </a:rPr>
              <a:t>Time period: Up to 2024; ~80% published after 2020</a:t>
            </a:r>
            <a:endParaRPr lang="en-US" sz="1000" noProof="0" dirty="0"/>
          </a:p>
        </p:txBody>
      </p:sp>
      <p:sp>
        <p:nvSpPr>
          <p:cNvPr id="12" name="Shape 10">
            <a:extLst>
              <a:ext uri="{FF2B5EF4-FFF2-40B4-BE49-F238E27FC236}">
                <a16:creationId xmlns:a16="http://schemas.microsoft.com/office/drawing/2014/main" id="{A8591520-21A3-F8A4-BB43-B1F26882CB96}"/>
              </a:ext>
            </a:extLst>
          </p:cNvPr>
          <p:cNvSpPr/>
          <p:nvPr/>
        </p:nvSpPr>
        <p:spPr>
          <a:xfrm>
            <a:off x="4754880" y="1077325"/>
            <a:ext cx="3840480" cy="185871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CE4CB110-4E12-EEFC-9CEC-78FF28C65BCF}"/>
              </a:ext>
            </a:extLst>
          </p:cNvPr>
          <p:cNvSpPr/>
          <p:nvPr/>
        </p:nvSpPr>
        <p:spPr>
          <a:xfrm>
            <a:off x="4754880" y="1077325"/>
            <a:ext cx="54864" cy="1858712"/>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6095D018-16C9-BA89-B6D9-435F1626937A}"/>
              </a:ext>
            </a:extLst>
          </p:cNvPr>
          <p:cNvSpPr/>
          <p:nvPr/>
        </p:nvSpPr>
        <p:spPr>
          <a:xfrm>
            <a:off x="4937760" y="1123045"/>
            <a:ext cx="3550104" cy="1858712"/>
          </a:xfrm>
          <a:prstGeom prst="rect">
            <a:avLst/>
          </a:prstGeom>
          <a:noFill/>
          <a:ln/>
        </p:spPr>
        <p:txBody>
          <a:bodyPr wrap="square" rtlCol="0" anchor="t"/>
          <a:lstStyle/>
          <a:p>
            <a:r>
              <a:rPr lang="en-US" sz="1000" b="1" kern="0" spc="200" noProof="0" dirty="0">
                <a:solidFill>
                  <a:srgbClr val="065A82"/>
                </a:solidFill>
              </a:rPr>
              <a:t>TAXONOMY / METHODS COVERED</a:t>
            </a:r>
          </a:p>
          <a:p>
            <a:pPr marL="171450" indent="-171450">
              <a:buFont typeface="Arial" panose="020B0604020202020204" pitchFamily="34" charset="0"/>
              <a:buChar char="•"/>
            </a:pPr>
            <a:r>
              <a:rPr lang="en-US" sz="1000" noProof="0" dirty="0">
                <a:solidFill>
                  <a:srgbClr val="64748B"/>
                </a:solidFill>
              </a:rPr>
              <a:t>The review classifies the literature along three axes: (1) Indoor airflow — mixing, displacement, and stratum/cross ventilation combined with three occupant configurations (face-to-face, same-direction, healthcare lying/standing); (2) IRP dynamics — effects of temperature, humidity, and four respiratory activities (coughing, sneezing, breathing, speaking); (3) Investigation approaches — experimental methods (tracer gas, aerosol generators, manikins, PIV, PLIF) and CFD (RANS: 51 studies, LES: 21, DNS: 5) with Eulerian and </a:t>
            </a:r>
            <a:r>
              <a:rPr lang="en-US" sz="1000" noProof="0" dirty="0" err="1">
                <a:solidFill>
                  <a:srgbClr val="64748B"/>
                </a:solidFill>
              </a:rPr>
              <a:t>Lagrangian</a:t>
            </a:r>
            <a:r>
              <a:rPr lang="en-US" sz="1000" noProof="0" dirty="0">
                <a:solidFill>
                  <a:srgbClr val="64748B"/>
                </a:solidFill>
              </a:rPr>
              <a:t> particle transport.</a:t>
            </a:r>
            <a:endParaRPr lang="en-US" sz="1000" noProof="0" dirty="0"/>
          </a:p>
        </p:txBody>
      </p:sp>
      <p:sp>
        <p:nvSpPr>
          <p:cNvPr id="15" name="Shape 13">
            <a:extLst>
              <a:ext uri="{FF2B5EF4-FFF2-40B4-BE49-F238E27FC236}">
                <a16:creationId xmlns:a16="http://schemas.microsoft.com/office/drawing/2014/main" id="{08413E26-9DFB-3FF0-D710-58B306F29246}"/>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1271F117-C85D-0EBF-7E0E-9CB46FCE4D4A}"/>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F88F78BB-FC9C-3A7B-BC22-6D5670FCCF3B}"/>
              </a:ext>
            </a:extLst>
          </p:cNvPr>
          <p:cNvSpPr/>
          <p:nvPr/>
        </p:nvSpPr>
        <p:spPr>
          <a:xfrm>
            <a:off x="784151" y="3240408"/>
            <a:ext cx="7327914" cy="1688262"/>
          </a:xfrm>
          <a:prstGeom prst="rect">
            <a:avLst/>
          </a:prstGeom>
          <a:noFill/>
          <a:ln/>
        </p:spPr>
        <p:txBody>
          <a:bodyPr wrap="square" rtlCol="0" anchor="t"/>
          <a:lstStyle/>
          <a:p>
            <a:r>
              <a:rPr lang="en-US" sz="1000" b="1" kern="0" spc="200" noProof="0" dirty="0">
                <a:solidFill>
                  <a:srgbClr val="21295C"/>
                </a:solidFill>
              </a:rPr>
              <a:t>KEY FINDINGS</a:t>
            </a:r>
          </a:p>
          <a:p>
            <a:endParaRPr lang="en-US" sz="1000" b="1" kern="0" spc="200" noProof="0" dirty="0">
              <a:solidFill>
                <a:srgbClr val="21295C"/>
              </a:solidFill>
            </a:endParaRPr>
          </a:p>
          <a:p>
            <a:pPr marL="171450" indent="-171450">
              <a:buFont typeface="Arial" panose="020B0604020202020204" pitchFamily="34" charset="0"/>
              <a:buChar char="•"/>
            </a:pPr>
            <a:r>
              <a:rPr lang="en-US" sz="1000" noProof="0" dirty="0">
                <a:solidFill>
                  <a:srgbClr val="64748B"/>
                </a:solidFill>
              </a:rPr>
              <a:t>Settings: 39% unclassified, 26% healthcare, 14% classroom, 9% office, 8% transport, 3% restaurant.</a:t>
            </a:r>
          </a:p>
          <a:p>
            <a:pPr marL="171450" indent="-171450">
              <a:buFont typeface="Arial" panose="020B0604020202020204" pitchFamily="34" charset="0"/>
              <a:buChar char="•"/>
            </a:pPr>
            <a:r>
              <a:rPr lang="en-US" sz="1000" noProof="0" dirty="0">
                <a:solidFill>
                  <a:srgbClr val="64748B"/>
                </a:solidFill>
              </a:rPr>
              <a:t>CFD approaches: 51 RANS studies (38 using k-ε), 21 LES, 5 DNS. LES shows better agreement with experimental data than RANS.</a:t>
            </a:r>
          </a:p>
          <a:p>
            <a:pPr marL="171450" indent="-171450">
              <a:buFont typeface="Arial" panose="020B0604020202020204" pitchFamily="34" charset="0"/>
              <a:buChar char="•"/>
            </a:pPr>
            <a:r>
              <a:rPr lang="en-US" sz="1000" noProof="0" dirty="0">
                <a:solidFill>
                  <a:srgbClr val="64748B"/>
                </a:solidFill>
              </a:rPr>
              <a:t>IRP production: Speaking generates 1–10,000 IRPs/s vs. coughing at 1–1,000 IRPs/s. Speaking produces IRPs from 1 µm to 1 mm.</a:t>
            </a:r>
          </a:p>
          <a:p>
            <a:pPr marL="171450" indent="-171450">
              <a:buFont typeface="Arial" panose="020B0604020202020204" pitchFamily="34" charset="0"/>
              <a:buChar char="•"/>
            </a:pPr>
            <a:r>
              <a:rPr lang="en-US" sz="1000" noProof="0" dirty="0">
                <a:solidFill>
                  <a:srgbClr val="64748B"/>
                </a:solidFill>
              </a:rPr>
              <a:t>Ventilation: Mixing ventilation is the most common regime. Higher ventilation rates remove pathogens from the room but do not necessarily reduce IRP concentration near an occupant.</a:t>
            </a:r>
          </a:p>
          <a:p>
            <a:pPr marL="171450" indent="-171450">
              <a:buFont typeface="Arial" panose="020B0604020202020204" pitchFamily="34" charset="0"/>
              <a:buChar char="•"/>
            </a:pPr>
            <a:r>
              <a:rPr lang="en-US" sz="1000" noProof="0" dirty="0">
                <a:solidFill>
                  <a:srgbClr val="64748B"/>
                </a:solidFill>
              </a:rPr>
              <a:t>Risk models: Wells-Riley model is widely used but limited by the well-mixed assumption. CFD-coupled risk models improve spatial accuracy but depend on CFD fidelity.</a:t>
            </a:r>
          </a:p>
        </p:txBody>
      </p:sp>
    </p:spTree>
    <p:extLst>
      <p:ext uri="{BB962C8B-B14F-4D97-AF65-F5344CB8AC3E}">
        <p14:creationId xmlns:p14="http://schemas.microsoft.com/office/powerpoint/2010/main" val="381052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B4DED2-2A87-D219-21A4-B9E663FB87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F08FE3-111D-F9AB-7471-CB0773BC7D70}"/>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011F8A9F-7630-B99F-4CDF-A80E6E9E5235}"/>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#2</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632A7449-56EC-C298-6719-52C4F0639F8F}"/>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319CC4BB-99C0-7A0D-B563-4A2DBAEBC356}"/>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E0B7ED2B-F14F-E28B-93B2-EE3D28A55A15}"/>
              </a:ext>
            </a:extLst>
          </p:cNvPr>
          <p:cNvSpPr/>
          <p:nvPr/>
        </p:nvSpPr>
        <p:spPr>
          <a:xfrm>
            <a:off x="784150" y="833120"/>
            <a:ext cx="7645451"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Restaurant and social settings are severely understudied.</a:t>
            </a:r>
            <a:r>
              <a:rPr lang="en-US" sz="1000" noProof="0" dirty="0">
                <a:solidFill>
                  <a:srgbClr val="64748B"/>
                </a:solidFill>
                <a:cs typeface="Arial" panose="020B0604020202020204" pitchFamily="34" charset="0"/>
              </a:rPr>
              <a:t> Only 3% of studies focus on restaurants despite high transmission potential in post-pandemic social gatherings.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~40% of studies use generic room geometries</a:t>
            </a:r>
            <a:r>
              <a:rPr lang="en-US" sz="1000" noProof="0" dirty="0">
                <a:solidFill>
                  <a:srgbClr val="64748B"/>
                </a:solidFill>
                <a:cs typeface="Arial" panose="020B0604020202020204" pitchFamily="34" charset="0"/>
              </a:rPr>
              <a:t> rather than replicating specific real-world indoor settings.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Air temperature and humidity combinations are rarely varied.</a:t>
            </a:r>
            <a:r>
              <a:rPr lang="en-US" sz="1000" noProof="0" dirty="0">
                <a:solidFill>
                  <a:srgbClr val="64748B"/>
                </a:solidFill>
                <a:cs typeface="Arial" panose="020B0604020202020204" pitchFamily="34" charset="0"/>
              </a:rPr>
              <a:t> Most studies assume constant indoor air conditions.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Tropical climate conditions are underrepresented</a:t>
            </a:r>
            <a:r>
              <a:rPr lang="en-US" sz="1000" noProof="0" dirty="0">
                <a:solidFill>
                  <a:srgbClr val="64748B"/>
                </a:solidFill>
                <a:cs typeface="Arial" panose="020B0604020202020204" pitchFamily="34" charset="0"/>
              </a:rPr>
              <a:t> despite their relevance to IRP dynamics.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Speech-related respiratory flows are understudied.</a:t>
            </a:r>
            <a:r>
              <a:rPr lang="en-US" sz="1000" noProof="0" dirty="0">
                <a:solidFill>
                  <a:srgbClr val="64748B"/>
                </a:solidFill>
                <a:cs typeface="Arial" panose="020B0604020202020204" pitchFamily="34" charset="0"/>
              </a:rPr>
              <a:t> Speaking produces far more IRPs than coughing but receives less attention.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Combined speaking and breathing patterns are not examined,</a:t>
            </a:r>
            <a:r>
              <a:rPr lang="en-US" sz="1000" noProof="0" dirty="0">
                <a:solidFill>
                  <a:srgbClr val="64748B"/>
                </a:solidFill>
                <a:cs typeface="Arial" panose="020B0604020202020204" pitchFamily="34" charset="0"/>
              </a:rPr>
              <a:t> despite being dominant in social settings.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Sneezing receives limited research attention</a:t>
            </a:r>
            <a:r>
              <a:rPr lang="en-US" sz="1000" noProof="0" dirty="0">
                <a:solidFill>
                  <a:srgbClr val="64748B"/>
                </a:solidFill>
                <a:cs typeface="Arial" panose="020B0604020202020204" pitchFamily="34" charset="0"/>
              </a:rPr>
              <a:t> compared to coughing and breathing.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Respiratory flow is modelled as constant, not pulsatile,</a:t>
            </a:r>
            <a:r>
              <a:rPr lang="en-US" sz="1000" noProof="0" dirty="0">
                <a:solidFill>
                  <a:srgbClr val="64748B"/>
                </a:solidFill>
                <a:cs typeface="Arial" panose="020B0604020202020204" pitchFamily="34" charset="0"/>
              </a:rPr>
              <a:t> though real respiratory flow varies in frequency by activity.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RANS dominates (51 studies) despite known limitations</a:t>
            </a:r>
            <a:r>
              <a:rPr lang="en-US" sz="1000" noProof="0" dirty="0">
                <a:solidFill>
                  <a:srgbClr val="64748B"/>
                </a:solidFill>
                <a:cs typeface="Arial" panose="020B0604020202020204" pitchFamily="34" charset="0"/>
              </a:rPr>
              <a:t> for indoor turbulent flows; it overestimates dispersion and assumes well-mixed conditions.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DNS is computationally prohibitive</a:t>
            </a:r>
            <a:r>
              <a:rPr lang="en-US" sz="1000" noProof="0" dirty="0">
                <a:solidFill>
                  <a:srgbClr val="64748B"/>
                </a:solidFill>
                <a:cs typeface="Arial" panose="020B0604020202020204" pitchFamily="34" charset="0"/>
              </a:rPr>
              <a:t> for most researchers (only 5 studies).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LES needs wider adoption;</a:t>
            </a:r>
            <a:r>
              <a:rPr lang="en-US" sz="1000" noProof="0" dirty="0">
                <a:solidFill>
                  <a:srgbClr val="64748B"/>
                </a:solidFill>
                <a:cs typeface="Arial" panose="020B0604020202020204" pitchFamily="34" charset="0"/>
              </a:rPr>
              <a:t> it agrees better with experiments than RANS but remains less common.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Eulerian RANS overestimates dispersion,</a:t>
            </a:r>
            <a:r>
              <a:rPr lang="en-US" sz="1000" noProof="0" dirty="0">
                <a:solidFill>
                  <a:srgbClr val="64748B"/>
                </a:solidFill>
                <a:cs typeface="Arial" panose="020B0604020202020204" pitchFamily="34" charset="0"/>
              </a:rPr>
              <a:t> leading to unrealistic well-mixed room assumptions.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Few experiments account for all three airflow sources</a:t>
            </a:r>
            <a:r>
              <a:rPr lang="en-US" sz="1000" noProof="0" dirty="0">
                <a:solidFill>
                  <a:srgbClr val="64748B"/>
                </a:solidFill>
                <a:cs typeface="Arial" panose="020B0604020202020204" pitchFamily="34" charset="0"/>
              </a:rPr>
              <a:t> (respiratory, ventilation, thermal) simultaneously.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Tracer gases cannot replicate two-phase IRP </a:t>
            </a:r>
            <a:r>
              <a:rPr lang="en-US" sz="1000" b="1" noProof="0" dirty="0" err="1">
                <a:solidFill>
                  <a:srgbClr val="64748B"/>
                </a:solidFill>
                <a:cs typeface="Arial" panose="020B0604020202020204" pitchFamily="34" charset="0"/>
              </a:rPr>
              <a:t>behaviour</a:t>
            </a:r>
            <a:r>
              <a:rPr lang="en-US" sz="1000" noProof="0" dirty="0">
                <a:solidFill>
                  <a:srgbClr val="64748B"/>
                </a:solidFill>
                <a:cs typeface="Arial" panose="020B0604020202020204" pitchFamily="34" charset="0"/>
              </a:rPr>
              <a:t> (volatility, deposition, size evolution).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PIV and PLIF are </a:t>
            </a:r>
            <a:r>
              <a:rPr lang="en-US" sz="1000" b="1" noProof="0" dirty="0" err="1">
                <a:solidFill>
                  <a:srgbClr val="64748B"/>
                </a:solidFill>
                <a:cs typeface="Arial" panose="020B0604020202020204" pitchFamily="34" charset="0"/>
              </a:rPr>
              <a:t>underutilised</a:t>
            </a:r>
            <a:r>
              <a:rPr lang="en-US" sz="1000" noProof="0" dirty="0">
                <a:solidFill>
                  <a:srgbClr val="64748B"/>
                </a:solidFill>
                <a:cs typeface="Arial" panose="020B0604020202020204" pitchFamily="34" charset="0"/>
              </a:rPr>
              <a:t> despite being non-intrusive and ideal for IRP studies.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Exposure risk and infection risk are conflated</a:t>
            </a:r>
            <a:r>
              <a:rPr lang="en-US" sz="1000" noProof="0" dirty="0">
                <a:solidFill>
                  <a:srgbClr val="64748B"/>
                </a:solidFill>
                <a:cs typeface="Arial" panose="020B0604020202020204" pitchFamily="34" charset="0"/>
              </a:rPr>
              <a:t> in many studies. They are distinct: exposure is physical transport; infection is pathogen multiplication.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Wells-Riley model assumes well-mixed conditions,</a:t>
            </a:r>
            <a:r>
              <a:rPr lang="en-US" sz="1000" noProof="0" dirty="0">
                <a:solidFill>
                  <a:srgbClr val="64748B"/>
                </a:solidFill>
                <a:cs typeface="Arial" panose="020B0604020202020204" pitchFamily="34" charset="0"/>
              </a:rPr>
              <a:t> a major limitation addressed only by CFD coupling.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CFD-coupled risk models depend on simulation accuracy,</a:t>
            </a:r>
            <a:r>
              <a:rPr lang="en-US" sz="1000" noProof="0" dirty="0">
                <a:solidFill>
                  <a:srgbClr val="64748B"/>
                </a:solidFill>
                <a:cs typeface="Arial" panose="020B0604020202020204" pitchFamily="34" charset="0"/>
              </a:rPr>
              <a:t> which varies by method.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Most studies assume perfectly still occupants.</a:t>
            </a:r>
            <a:r>
              <a:rPr lang="en-US" sz="1000" noProof="0" dirty="0">
                <a:solidFill>
                  <a:srgbClr val="64748B"/>
                </a:solidFill>
                <a:cs typeface="Arial" panose="020B0604020202020204" pitchFamily="34" charset="0"/>
              </a:rPr>
              <a:t> Occupant movement (walking,</a:t>
            </a:r>
            <a:r>
              <a:rPr lang="en-US" sz="1000" noProof="0" dirty="0">
                <a:solidFill>
                  <a:srgbClr val="64748B"/>
                </a:solidFill>
              </a:rPr>
              <a:t> door opening) is rarely included.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Airflow from susceptible individuals is ignored</a:t>
            </a:r>
            <a:r>
              <a:rPr lang="en-US" sz="1000" noProof="0" dirty="0">
                <a:solidFill>
                  <a:srgbClr val="64748B"/>
                </a:solidFill>
                <a:cs typeface="Arial" panose="020B0604020202020204" pitchFamily="34" charset="0"/>
              </a:rPr>
              <a:t> in multi-occupant setups.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Face-to-face occupant configuration (common in restaurants) is the least studied.</a:t>
            </a:r>
            <a:r>
              <a:rPr lang="en-US" sz="1000" noProof="0" dirty="0">
                <a:solidFill>
                  <a:srgbClr val="64748B"/>
                </a:solidFill>
                <a:cs typeface="Arial" panose="020B0604020202020204" pitchFamily="34" charset="0"/>
              </a:rPr>
              <a:t>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Increasing ventilation rate alone does not reduce IRP concentration near occupants.</a:t>
            </a:r>
            <a:r>
              <a:rPr lang="en-US" sz="1000" noProof="0" dirty="0">
                <a:solidFill>
                  <a:srgbClr val="64748B"/>
                </a:solidFill>
                <a:cs typeface="Arial" panose="020B0604020202020204" pitchFamily="34" charset="0"/>
              </a:rPr>
              <a:t> </a:t>
            </a:r>
          </a:p>
          <a:p>
            <a:pPr lvl="0" eaLnBrk="0" fontAlgn="base" hangingPunct="0">
              <a:spcBef>
                <a:spcPct val="0"/>
              </a:spcBef>
              <a:spcAft>
                <a:spcPct val="0"/>
              </a:spcAft>
              <a:buFontTx/>
              <a:buChar char="•"/>
            </a:pPr>
            <a:r>
              <a:rPr lang="en-US" sz="1000" b="1" noProof="0" dirty="0">
                <a:solidFill>
                  <a:srgbClr val="64748B"/>
                </a:solidFill>
                <a:cs typeface="Arial" panose="020B0604020202020204" pitchFamily="34" charset="0"/>
              </a:rPr>
              <a:t>Machine learning / deep learning to accelerate CFD is absent</a:t>
            </a:r>
            <a:r>
              <a:rPr lang="en-US" sz="1000" noProof="0" dirty="0">
                <a:solidFill>
                  <a:srgbClr val="64748B"/>
                </a:solidFill>
                <a:cs typeface="Arial" panose="020B0604020202020204" pitchFamily="34" charset="0"/>
              </a:rPr>
              <a:t> from the reviewed studies despite being included as a search term. </a:t>
            </a:r>
          </a:p>
          <a:p>
            <a:endParaRPr lang="en-US" sz="1000" noProof="0" dirty="0">
              <a:solidFill>
                <a:srgbClr val="64748B"/>
              </a:solidFill>
            </a:endParaRPr>
          </a:p>
        </p:txBody>
      </p:sp>
    </p:spTree>
    <p:extLst>
      <p:ext uri="{BB962C8B-B14F-4D97-AF65-F5344CB8AC3E}">
        <p14:creationId xmlns:p14="http://schemas.microsoft.com/office/powerpoint/2010/main" val="2814489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55893A-224D-11A2-C6CF-6D59D29187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644E7D-455A-8A14-D1AA-E3927F461B3A}"/>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C8FC8360-AE5B-D801-A00F-8BFC5B8ECBE4}"/>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#3</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08F26AC4-FF50-E80D-E67A-6C27C2EAA170}"/>
              </a:ext>
            </a:extLst>
          </p:cNvPr>
          <p:cNvSpPr/>
          <p:nvPr/>
        </p:nvSpPr>
        <p:spPr>
          <a:xfrm>
            <a:off x="548640" y="825778"/>
            <a:ext cx="8046720" cy="457200"/>
          </a:xfrm>
          <a:prstGeom prst="rect">
            <a:avLst/>
          </a:prstGeom>
          <a:noFill/>
          <a:ln/>
        </p:spPr>
        <p:txBody>
          <a:bodyPr wrap="square" lIns="0" tIns="0" rIns="0" bIns="0" rtlCol="0" anchor="ctr"/>
          <a:lstStyle/>
          <a:p>
            <a:endParaRPr lang="en-US" noProof="0" dirty="0"/>
          </a:p>
          <a:p>
            <a:r>
              <a:rPr lang="en-US" noProof="0" dirty="0"/>
              <a:t>Systematic review on uncertainty quantification in machine learning-based building energy modeling </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F71A8794-2864-F79D-DA5E-86DC1E0EDD2F}"/>
              </a:ext>
            </a:extLst>
          </p:cNvPr>
          <p:cNvSpPr/>
          <p:nvPr/>
        </p:nvSpPr>
        <p:spPr>
          <a:xfrm>
            <a:off x="545122" y="1432419"/>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Xu et al., 2025, Building and Environment</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A2E0CDD5-3742-4386-5573-D6C0AF3E3A48}"/>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6174CBC1-E9B4-5391-4D9E-8C971DBB73AF}"/>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DB369452-9CF0-D84A-46E2-1A186EA0A606}"/>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pPr marL="228600" indent="-228600">
              <a:buFont typeface="+mj-lt"/>
              <a:buAutoNum type="arabicPeriod"/>
            </a:pPr>
            <a:r>
              <a:rPr lang="en-US" sz="1000" noProof="0" dirty="0">
                <a:solidFill>
                  <a:srgbClr val="64748B"/>
                </a:solidFill>
              </a:rPr>
              <a:t>Why is UQ necessary in ML-based BEM? </a:t>
            </a:r>
          </a:p>
          <a:p>
            <a:pPr marL="228600" indent="-228600">
              <a:buFont typeface="+mj-lt"/>
              <a:buAutoNum type="arabicPeriod"/>
            </a:pPr>
            <a:r>
              <a:rPr lang="en-US" sz="1000" noProof="0" dirty="0">
                <a:solidFill>
                  <a:srgbClr val="64748B"/>
                </a:solidFill>
              </a:rPr>
              <a:t>How to apply UQ systematically? </a:t>
            </a:r>
          </a:p>
          <a:p>
            <a:pPr marL="228600" indent="-228600">
              <a:buFont typeface="+mj-lt"/>
              <a:buAutoNum type="arabicPeriod"/>
            </a:pPr>
            <a:r>
              <a:rPr lang="en-US" sz="1000" noProof="0" dirty="0">
                <a:solidFill>
                  <a:srgbClr val="64748B"/>
                </a:solidFill>
              </a:rPr>
              <a:t>What are the advantages/disadvantages of UQ techniques?</a:t>
            </a:r>
          </a:p>
          <a:p>
            <a:pPr marL="228600" indent="-228600">
              <a:buFont typeface="+mj-lt"/>
              <a:buAutoNum type="arabicPeriod"/>
            </a:pPr>
            <a:r>
              <a:rPr lang="en-US" sz="1000" noProof="0" dirty="0">
                <a:solidFill>
                  <a:srgbClr val="64748B"/>
                </a:solidFill>
              </a:rPr>
              <a:t>What are current challenges?</a:t>
            </a:r>
          </a:p>
        </p:txBody>
      </p:sp>
      <p:sp>
        <p:nvSpPr>
          <p:cNvPr id="24" name="Shape 22">
            <a:extLst>
              <a:ext uri="{FF2B5EF4-FFF2-40B4-BE49-F238E27FC236}">
                <a16:creationId xmlns:a16="http://schemas.microsoft.com/office/drawing/2014/main" id="{2B76D9A8-8FCE-10A7-72F3-7490A8FE097C}"/>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49DF4DCD-970B-FF1B-C853-45692FAA6928}"/>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4D274F5D-469F-598F-CBC5-DC8B35CE5790}"/>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systematic review surveys 141 studies (2014–2024) on uncertainty quantification (UQ) in machine learning (ML)-based building energy modeling (BEM). It identifies three uncertainty sources: building system operations, simulation tools, and ML models. Ten UQ techniques are reviewed for deterministic and stochastic ML-based BEM. Gaussian Processes (28%), MCMC (23%), and ensemble methods (15%) dominate the field. The review finds that aleatoric uncertainty is underrepresented and advanced UQ methods like BBB, PNs, and BAL remain unexplored in BEM.</a:t>
            </a:r>
            <a:endParaRPr lang="en-US" sz="1000" noProof="0" dirty="0"/>
          </a:p>
        </p:txBody>
      </p:sp>
    </p:spTree>
    <p:extLst>
      <p:ext uri="{BB962C8B-B14F-4D97-AF65-F5344CB8AC3E}">
        <p14:creationId xmlns:p14="http://schemas.microsoft.com/office/powerpoint/2010/main" val="1489596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9D5F5D-76BB-4D02-F3FB-A9F2D38670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FEB38E-7657-01C9-678B-54332F2BDB38}"/>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0980619A-6DE6-A176-B60A-1BE7E55C4D99}"/>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#3</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7EB32C3E-0A39-F765-54E6-FE241DEBC0AF}"/>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046DD5DC-76A6-ACC3-23F9-82E7DB3962B8}"/>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4D31B594-DFAE-28BC-9DD8-EF5ABBFD12E1}"/>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Studies included: 141 (from 750 initial, filtered through scoping → 582 → 221 → 141)</a:t>
            </a:r>
          </a:p>
          <a:p>
            <a:pPr marL="171450" indent="-171450">
              <a:buFont typeface="Arial" panose="020B0604020202020204" pitchFamily="34" charset="0"/>
              <a:buChar char="•"/>
            </a:pPr>
            <a:r>
              <a:rPr lang="en-US" sz="1000" noProof="0" dirty="0">
                <a:solidFill>
                  <a:srgbClr val="64748B"/>
                </a:solidFill>
              </a:rPr>
              <a:t>Selection criteria: Peer-reviewed, English, published 2014–2024, citation threshold ≥ 3, must include uncertainty analysis</a:t>
            </a:r>
          </a:p>
          <a:p>
            <a:pPr marL="171450" indent="-171450">
              <a:buFont typeface="Arial" panose="020B0604020202020204" pitchFamily="34" charset="0"/>
              <a:buChar char="•"/>
            </a:pPr>
            <a:r>
              <a:rPr lang="en-US" sz="1000" noProof="0" dirty="0">
                <a:solidFill>
                  <a:srgbClr val="64748B"/>
                </a:solidFill>
              </a:rPr>
              <a:t>Time period: 2014–2024</a:t>
            </a:r>
            <a:endParaRPr lang="en-US" sz="1000" noProof="0" dirty="0"/>
          </a:p>
        </p:txBody>
      </p:sp>
      <p:sp>
        <p:nvSpPr>
          <p:cNvPr id="12" name="Shape 10">
            <a:extLst>
              <a:ext uri="{FF2B5EF4-FFF2-40B4-BE49-F238E27FC236}">
                <a16:creationId xmlns:a16="http://schemas.microsoft.com/office/drawing/2014/main" id="{F1D32340-DF9D-31AB-CC1E-BBDAA9FD8B46}"/>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9DDD3EC6-BA52-C7BA-A08E-3DCD8E9F362A}"/>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4A90FDCE-8698-9C0F-C90D-324EBDABE487}"/>
              </a:ext>
            </a:extLst>
          </p:cNvPr>
          <p:cNvSpPr/>
          <p:nvPr/>
        </p:nvSpPr>
        <p:spPr>
          <a:xfrm>
            <a:off x="4937760" y="911352"/>
            <a:ext cx="3550104" cy="2070405"/>
          </a:xfrm>
          <a:prstGeom prst="rect">
            <a:avLst/>
          </a:prstGeom>
          <a:noFill/>
          <a:ln/>
        </p:spPr>
        <p:txBody>
          <a:bodyPr wrap="square" rtlCol="0" anchor="t"/>
          <a:lstStyle/>
          <a:p>
            <a:r>
              <a:rPr lang="en-US" sz="1000" b="1" kern="0" spc="200" noProof="0" dirty="0">
                <a:solidFill>
                  <a:srgbClr val="065A82"/>
                </a:solidFill>
              </a:rPr>
              <a:t>TAXONOMY / METHODS COVERED</a:t>
            </a:r>
          </a:p>
          <a:p>
            <a:pPr marL="171450" indent="-171450">
              <a:buFont typeface="Arial" panose="020B0604020202020204" pitchFamily="34" charset="0"/>
              <a:buChar char="•"/>
            </a:pPr>
            <a:r>
              <a:rPr lang="en-US" sz="1000" noProof="0" dirty="0">
                <a:solidFill>
                  <a:srgbClr val="64748B"/>
                </a:solidFill>
              </a:rPr>
              <a:t>Uncertainty sources: Building system operations (environmental, human-related, data collection, system parameters); Building simulation tools (simulation simplification, numerical approximation); ML models (feature selection, optimization algorithms, hyperparameter tuning, irreducible model discrepancy).</a:t>
            </a:r>
          </a:p>
          <a:p>
            <a:pPr marL="171450" indent="-171450">
              <a:buFont typeface="Arial" panose="020B0604020202020204" pitchFamily="34" charset="0"/>
              <a:buChar char="•"/>
            </a:pPr>
            <a:r>
              <a:rPr lang="en-US" sz="1000" noProof="0" dirty="0">
                <a:solidFill>
                  <a:srgbClr val="64748B"/>
                </a:solidFill>
              </a:rPr>
              <a:t>UQ techniques for deterministic ML models: Ensemble modeling, Prior Networks (PNs).</a:t>
            </a:r>
          </a:p>
          <a:p>
            <a:pPr marL="171450" indent="-171450">
              <a:buFont typeface="Arial" panose="020B0604020202020204" pitchFamily="34" charset="0"/>
              <a:buChar char="•"/>
            </a:pPr>
            <a:r>
              <a:rPr lang="en-US" sz="1000" noProof="0" dirty="0">
                <a:solidFill>
                  <a:srgbClr val="64748B"/>
                </a:solidFill>
              </a:rPr>
              <a:t>UQ techniques for stochastic ML models: BNNs, MCMC (MH, Gibbs, HMC, NUTS, SG-MCMC), Variational Inference, Dropout Networks (VID, MCD, Concrete, Adaptive), Bayes by Backprop, Bayesian Active Learning, VAEs, Gaussian Processes.</a:t>
            </a:r>
            <a:endParaRPr lang="en-US" sz="1000" noProof="0" dirty="0"/>
          </a:p>
        </p:txBody>
      </p:sp>
      <p:sp>
        <p:nvSpPr>
          <p:cNvPr id="15" name="Shape 13">
            <a:extLst>
              <a:ext uri="{FF2B5EF4-FFF2-40B4-BE49-F238E27FC236}">
                <a16:creationId xmlns:a16="http://schemas.microsoft.com/office/drawing/2014/main" id="{A011D21D-94FB-4C29-4129-84A6C6A14E7A}"/>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D82F4047-46A6-F096-8C07-4F1793666E20}"/>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74AFDE28-633B-94FF-5BF5-CA20FFA1D8BE}"/>
              </a:ext>
            </a:extLst>
          </p:cNvPr>
          <p:cNvSpPr/>
          <p:nvPr/>
        </p:nvSpPr>
        <p:spPr>
          <a:xfrm>
            <a:off x="784150" y="3240408"/>
            <a:ext cx="7703713" cy="1688262"/>
          </a:xfrm>
          <a:prstGeom prst="rect">
            <a:avLst/>
          </a:prstGeom>
          <a:noFill/>
          <a:ln/>
        </p:spPr>
        <p:txBody>
          <a:bodyPr wrap="square" rtlCol="0" anchor="t"/>
          <a:lstStyle/>
          <a:p>
            <a:r>
              <a:rPr lang="en-US" sz="1000" b="1" kern="0" spc="200" noProof="0" dirty="0">
                <a:solidFill>
                  <a:srgbClr val="21295C"/>
                </a:solidFill>
              </a:rPr>
              <a:t>KEY FINDINGS</a:t>
            </a:r>
          </a:p>
          <a:p>
            <a:pPr marL="171450" indent="-171450">
              <a:buFont typeface="Arial" panose="020B0604020202020204" pitchFamily="34" charset="0"/>
              <a:buChar char="•"/>
            </a:pPr>
            <a:r>
              <a:rPr lang="en-US" sz="1000" noProof="0" dirty="0">
                <a:solidFill>
                  <a:srgbClr val="64748B"/>
                </a:solidFill>
              </a:rPr>
              <a:t>GPs: 28% of reviewed studies. Favored for modeling uncertainty through distributions over functions.</a:t>
            </a:r>
          </a:p>
          <a:p>
            <a:pPr marL="171450" indent="-171450">
              <a:buFont typeface="Arial" panose="020B0604020202020204" pitchFamily="34" charset="0"/>
              <a:buChar char="•"/>
            </a:pPr>
            <a:r>
              <a:rPr lang="en-US" sz="1000" noProof="0" dirty="0">
                <a:solidFill>
                  <a:srgbClr val="64748B"/>
                </a:solidFill>
              </a:rPr>
              <a:t>MCMC: 23%. Widely used for Bayesian calibration and sampling from complex posteriors.</a:t>
            </a:r>
          </a:p>
          <a:p>
            <a:pPr marL="171450" indent="-171450">
              <a:buFont typeface="Arial" panose="020B0604020202020204" pitchFamily="34" charset="0"/>
              <a:buChar char="•"/>
            </a:pPr>
            <a:r>
              <a:rPr lang="en-US" sz="1000" noProof="0" dirty="0">
                <a:solidFill>
                  <a:srgbClr val="64748B"/>
                </a:solidFill>
              </a:rPr>
              <a:t>Ensemble: 15%. Leverages multiple independent models to measure predictive variability.</a:t>
            </a:r>
          </a:p>
          <a:p>
            <a:pPr marL="171450" indent="-171450">
              <a:buFont typeface="Arial" panose="020B0604020202020204" pitchFamily="34" charset="0"/>
              <a:buChar char="•"/>
            </a:pPr>
            <a:r>
              <a:rPr lang="en-US" sz="1000" noProof="0" dirty="0">
                <a:solidFill>
                  <a:srgbClr val="64748B"/>
                </a:solidFill>
              </a:rPr>
              <a:t>BNNs: 9%. Explicit Bayesian uncertainty modeling.</a:t>
            </a:r>
          </a:p>
          <a:p>
            <a:pPr marL="171450" indent="-171450">
              <a:buFont typeface="Arial" panose="020B0604020202020204" pitchFamily="34" charset="0"/>
              <a:buChar char="•"/>
            </a:pPr>
            <a:r>
              <a:rPr lang="en-US" sz="1000" noProof="0" dirty="0">
                <a:solidFill>
                  <a:srgbClr val="64748B"/>
                </a:solidFill>
              </a:rPr>
              <a:t>Dropout Networks: 7%. Simple and efficient epistemic UQ.</a:t>
            </a:r>
          </a:p>
          <a:p>
            <a:pPr marL="171450" indent="-171450">
              <a:buFont typeface="Arial" panose="020B0604020202020204" pitchFamily="34" charset="0"/>
              <a:buChar char="•"/>
            </a:pPr>
            <a:r>
              <a:rPr lang="en-US" sz="1000" noProof="0" dirty="0">
                <a:solidFill>
                  <a:srgbClr val="64748B"/>
                </a:solidFill>
              </a:rPr>
              <a:t>VI: 7%. Efficient alternative to MCMC.VAEs: 6%. Used mainly for data augmentation; uncertainty in reconstructed data often neglected.</a:t>
            </a:r>
          </a:p>
          <a:p>
            <a:pPr marL="171450" indent="-171450">
              <a:buFont typeface="Arial" panose="020B0604020202020204" pitchFamily="34" charset="0"/>
              <a:buChar char="•"/>
            </a:pPr>
            <a:r>
              <a:rPr lang="en-US" sz="1000" noProof="0" dirty="0">
                <a:solidFill>
                  <a:srgbClr val="64748B"/>
                </a:solidFill>
              </a:rPr>
              <a:t>BBB: &lt;1%. Underexplored; requires extensive hyperparameter tuning.</a:t>
            </a:r>
          </a:p>
          <a:p>
            <a:pPr marL="171450" indent="-171450">
              <a:buFont typeface="Arial" panose="020B0604020202020204" pitchFamily="34" charset="0"/>
              <a:buChar char="•"/>
            </a:pPr>
            <a:r>
              <a:rPr lang="en-US" sz="1000" noProof="0" dirty="0">
                <a:solidFill>
                  <a:srgbClr val="64748B"/>
                </a:solidFill>
              </a:rPr>
              <a:t>Publication peak: 21 eligible papers in 2023.Methodological shift: GP/MCMC dominance (2014–2018) declining in favor of ensemble, VI, BNNs.</a:t>
            </a:r>
          </a:p>
        </p:txBody>
      </p:sp>
    </p:spTree>
    <p:extLst>
      <p:ext uri="{BB962C8B-B14F-4D97-AF65-F5344CB8AC3E}">
        <p14:creationId xmlns:p14="http://schemas.microsoft.com/office/powerpoint/2010/main" val="3351346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20C60B-E9B0-5209-E4AE-B9F4383191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E317B0-8A67-978A-EA15-CF36CCBEB847}"/>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E4725A9D-CFEA-5624-6BFA-A58284894923}"/>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#3</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148C4FDD-46F4-A2EB-DAEF-181AFFDE957A}"/>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F0F62D77-9015-D73B-425B-A1D38576ED72}"/>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B43CD1D6-FD84-926B-E63C-793C42B8B921}"/>
              </a:ext>
            </a:extLst>
          </p:cNvPr>
          <p:cNvSpPr/>
          <p:nvPr/>
        </p:nvSpPr>
        <p:spPr>
          <a:xfrm>
            <a:off x="784150" y="833120"/>
            <a:ext cx="7645451"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lvl="0" eaLnBrk="0" fontAlgn="base" hangingPunct="0">
              <a:spcBef>
                <a:spcPct val="0"/>
              </a:spcBef>
              <a:spcAft>
                <a:spcPct val="0"/>
              </a:spcAft>
            </a:pPr>
            <a:endParaRPr lang="en-US" sz="1000" noProof="0" dirty="0">
              <a:solidFill>
                <a:srgbClr val="64748B"/>
              </a:solidFill>
              <a:cs typeface="Arial" panose="020B0604020202020204" pitchFamily="34" charset="0"/>
            </a:endParaRP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Aleatoric uncertainty is underrepresented in building datasets and ML-based BEM research. Most studies focus on epistemic uncertainty.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No systematic framework decomposes total uncertainty into reducible and irreducible components at the data collection stage.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ML models operate as black boxes. Limited interpretability prevents tracing uncertainty sources and distinguishing aleatoric from epistemic components.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Feature importance analysis, L1/L2 regularization, and dimensionality reduction are underused for improving transparency.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Studies overemphasize accuracy metrics (RMSE, MAE) over uncertainty metrics (PICP, CRPS).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Structured uncertainty metrics like PICP and CRPS are underutilized. Many studies rely on boxplots and simple mean/variance.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Trade-off between approximation accuracy and computational cost is unresolved for large-scale BEM.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MCMC and GPs have poor scalability to large or time-series building datasets.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Prior Networks have not been applied to ML-based BEM.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BBB remains underexplored. Only one study applied it, finding impractical hyperparameter tuning demands.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Bayesian Active Learning has not been applied to ML-based BEM despite its data scalability potential.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Deep Gaussian Processes have not been applied to BEM despite their promise for scalability.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Ensemble methods rely on subjective base model selection rather than structured criteria with cross-validation.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Gradient-based MCMC methods (HMC, NUTS) are </a:t>
            </a:r>
            <a:r>
              <a:rPr lang="en-US" sz="1000" noProof="0" dirty="0" err="1">
                <a:solidFill>
                  <a:srgbClr val="64748B"/>
                </a:solidFill>
                <a:cs typeface="Arial" panose="020B0604020202020204" pitchFamily="34" charset="0"/>
              </a:rPr>
              <a:t>underadopted</a:t>
            </a:r>
            <a:r>
              <a:rPr lang="en-US" sz="1000" noProof="0" dirty="0">
                <a:solidFill>
                  <a:srgbClr val="64748B"/>
                </a:solidFill>
                <a:cs typeface="Arial" panose="020B0604020202020204" pitchFamily="34" charset="0"/>
              </a:rPr>
              <a:t> despite better scalability in high-dimensional spaces.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Most VAE-based BEM studies focus on data augmentation and neglect uncertainty in reconstructed data.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Most dropout studies use fixed rates despite non-stationary building data. Adaptive dropout is underexplored.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Data uncertainty from sensors and simulation simplifications is underexplored, undermining reliability.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No established paradigm balances prediction accuracy and uncertainty in model selection and validation.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Limited guidance exists on prior distribution selection for Bayesian BEM applications.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A holistic evaluation paradigm combining accuracy and uncertainty is needed for real-time control and smart grid deployment. </a:t>
            </a:r>
          </a:p>
          <a:p>
            <a:endParaRPr lang="en-US" sz="1000" noProof="0" dirty="0">
              <a:solidFill>
                <a:srgbClr val="64748B"/>
              </a:solidFill>
            </a:endParaRPr>
          </a:p>
        </p:txBody>
      </p:sp>
    </p:spTree>
    <p:extLst>
      <p:ext uri="{BB962C8B-B14F-4D97-AF65-F5344CB8AC3E}">
        <p14:creationId xmlns:p14="http://schemas.microsoft.com/office/powerpoint/2010/main" val="3564252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12D407-12D0-04AB-8845-40D1CC155B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FF0A1E-CB98-D5FC-ADEB-5BB25F2E49D4}"/>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7C136F50-CA52-EE26-EFD3-68C837C972E6}"/>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#4</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B502E5B2-6BC8-B0BB-72CD-C2208BADDE48}"/>
              </a:ext>
            </a:extLst>
          </p:cNvPr>
          <p:cNvSpPr/>
          <p:nvPr/>
        </p:nvSpPr>
        <p:spPr>
          <a:xfrm>
            <a:off x="548640" y="825778"/>
            <a:ext cx="8046720" cy="457200"/>
          </a:xfrm>
          <a:prstGeom prst="rect">
            <a:avLst/>
          </a:prstGeom>
          <a:noFill/>
          <a:ln/>
        </p:spPr>
        <p:txBody>
          <a:bodyPr wrap="square" lIns="0" tIns="0" rIns="0" bIns="0" rtlCol="0" anchor="ctr"/>
          <a:lstStyle/>
          <a:p>
            <a:r>
              <a:rPr lang="en-US" noProof="0" dirty="0"/>
              <a:t>Machine Learning and Deep Learning Methods for Enhancing Building Energy Efficiency and Indoor Environmental Quality – A Review</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85FE0B97-9713-7FDB-D43D-EA5313A3C32A}"/>
              </a:ext>
            </a:extLst>
          </p:cNvPr>
          <p:cNvSpPr/>
          <p:nvPr/>
        </p:nvSpPr>
        <p:spPr>
          <a:xfrm>
            <a:off x="545122" y="1355436"/>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Tien et al., 2022, Energy and AI (Volume 10, 100198)</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EC658500-E2A7-8636-D084-F365DA3D02C2}"/>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61500052-1A81-2F3A-ABC3-F6A9787EFB6E}"/>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A5604D13-6B59-903C-DB0E-9EC1D945074B}"/>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r>
              <a:rPr lang="en-US" sz="1000" noProof="0" dirty="0">
                <a:solidFill>
                  <a:srgbClr val="64748B"/>
                </a:solidFill>
              </a:rPr>
              <a:t>What ML and DL techniques have been applied to building energy efficiency and indoor environmental quality, what are their frameworks, methodologies, and performance levels, and what gaps and challenges remain?</a:t>
            </a:r>
          </a:p>
        </p:txBody>
      </p:sp>
      <p:sp>
        <p:nvSpPr>
          <p:cNvPr id="24" name="Shape 22">
            <a:extLst>
              <a:ext uri="{FF2B5EF4-FFF2-40B4-BE49-F238E27FC236}">
                <a16:creationId xmlns:a16="http://schemas.microsoft.com/office/drawing/2014/main" id="{7C8032AD-6823-18A7-46C8-E2193C7741C5}"/>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892D8AED-ADAD-9412-C14B-168546BAB901}"/>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764DB4A7-4C17-066A-E7F2-019F9A2017B4}"/>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review covers ML and DL methods applied to building energy efficiency and indoor environmental quality over the past decade. It reviewed 171 articles (from 362 initially identified) across energy forecasting, HVAC management, thermal comfort, IAQ, occupancy detection, and fault detection. ML/DL methods outperform conventional approaches (e.g., BES, PMV) in most tasks. Most studies remain at the experimental stage with limited real-building deployment. Few studies address energy, thermal comfort, and air quality together.</a:t>
            </a:r>
            <a:endParaRPr lang="en-US" sz="1000" noProof="0" dirty="0"/>
          </a:p>
        </p:txBody>
      </p:sp>
    </p:spTree>
    <p:extLst>
      <p:ext uri="{BB962C8B-B14F-4D97-AF65-F5344CB8AC3E}">
        <p14:creationId xmlns:p14="http://schemas.microsoft.com/office/powerpoint/2010/main" val="2557191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3F0170-3F33-BA58-1094-A7809873C6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2570DD-B999-4C6C-1F5D-056F61DF5360}"/>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D856F661-69F1-EC53-C9C7-368F5B6B90FC}"/>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#4</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61473534-14F0-FE54-340D-B5FBB952D87E}"/>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5FA0F14A-E49D-2149-1541-5F77AA1B1713}"/>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BE0B113D-81A5-88E9-7B30-8BD55A8CF851}"/>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articles included (from 362 initial records), PRISMA-based selection</a:t>
            </a:r>
          </a:p>
          <a:p>
            <a:pPr marL="171450" indent="-171450">
              <a:buFont typeface="Arial" panose="020B0604020202020204" pitchFamily="34" charset="0"/>
              <a:buChar char="•"/>
            </a:pPr>
            <a:r>
              <a:rPr lang="en-US" sz="1000" noProof="0" dirty="0">
                <a:solidFill>
                  <a:srgbClr val="64748B"/>
                </a:solidFill>
              </a:rPr>
              <a:t>Time period: past decade (~2011–2022, with exceptions)</a:t>
            </a:r>
          </a:p>
          <a:p>
            <a:pPr marL="171450" indent="-171450">
              <a:buFont typeface="Arial" panose="020B0604020202020204" pitchFamily="34" charset="0"/>
              <a:buChar char="•"/>
            </a:pPr>
            <a:r>
              <a:rPr lang="en-US" sz="1000" noProof="0" dirty="0">
                <a:solidFill>
                  <a:srgbClr val="64748B"/>
                </a:solidFill>
              </a:rPr>
              <a:t>Scope: supervised/unsupervised ML, deep learning for HVAC, energy, thermal comfort, IAQ, occupancy, fault detection</a:t>
            </a:r>
            <a:endParaRPr lang="en-US" sz="1000" noProof="0" dirty="0"/>
          </a:p>
        </p:txBody>
      </p:sp>
      <p:sp>
        <p:nvSpPr>
          <p:cNvPr id="12" name="Shape 10">
            <a:extLst>
              <a:ext uri="{FF2B5EF4-FFF2-40B4-BE49-F238E27FC236}">
                <a16:creationId xmlns:a16="http://schemas.microsoft.com/office/drawing/2014/main" id="{FCE781F9-15C7-39E2-E977-265AB8E5D24D}"/>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6C84A4D5-21FE-48F2-5A2F-AF5B27135394}"/>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45FCE047-724B-CC5E-BB7A-AB268B168E49}"/>
              </a:ext>
            </a:extLst>
          </p:cNvPr>
          <p:cNvSpPr/>
          <p:nvPr/>
        </p:nvSpPr>
        <p:spPr>
          <a:xfrm>
            <a:off x="4937760" y="911352"/>
            <a:ext cx="3550104" cy="2070405"/>
          </a:xfrm>
          <a:prstGeom prst="rect">
            <a:avLst/>
          </a:prstGeom>
          <a:noFill/>
          <a:ln/>
        </p:spPr>
        <p:txBody>
          <a:bodyPr wrap="square" rtlCol="0" anchor="t"/>
          <a:lstStyle/>
          <a:p>
            <a:r>
              <a:rPr lang="en-US" sz="1000" b="1" kern="0" spc="200" noProof="0" dirty="0">
                <a:solidFill>
                  <a:srgbClr val="065A82"/>
                </a:solidFill>
              </a:rPr>
              <a:t>TAXONOMY / METHODS COVERED</a:t>
            </a:r>
          </a:p>
          <a:p>
            <a:pPr marL="171450" indent="-171450">
              <a:buFont typeface="Arial" panose="020B0604020202020204" pitchFamily="34" charset="0"/>
              <a:buChar char="•"/>
            </a:pPr>
            <a:r>
              <a:rPr lang="en-US" sz="1000" noProof="0" dirty="0">
                <a:solidFill>
                  <a:srgbClr val="64748B"/>
                </a:solidFill>
              </a:rPr>
              <a:t>Supervised ML: SVM/SVR, Random Forest, KNN, Decision Trees, Linear/Multivariate Regression, Ensemble Methods, ELM, ANN</a:t>
            </a:r>
          </a:p>
          <a:p>
            <a:pPr marL="171450" indent="-171450">
              <a:buFont typeface="Arial" panose="020B0604020202020204" pitchFamily="34" charset="0"/>
              <a:buChar char="•"/>
            </a:pPr>
            <a:r>
              <a:rPr lang="en-US" sz="1000" noProof="0" dirty="0">
                <a:solidFill>
                  <a:srgbClr val="64748B"/>
                </a:solidFill>
              </a:rPr>
              <a:t>Unsupervised ML: K-Means, Fuzzy C-Means, Hierarchical Clustering, Gaussian Mixture Models, HMM</a:t>
            </a:r>
          </a:p>
          <a:p>
            <a:pPr marL="171450" indent="-171450">
              <a:buFont typeface="Arial" panose="020B0604020202020204" pitchFamily="34" charset="0"/>
              <a:buChar char="•"/>
            </a:pPr>
            <a:r>
              <a:rPr lang="en-US" sz="1000" noProof="0" dirty="0">
                <a:solidFill>
                  <a:srgbClr val="64748B"/>
                </a:solidFill>
              </a:rPr>
              <a:t>Deep Learning: CNN, RNN, LSTM, GRU, DNN, CNN-LSTM hybrids, Faster R-CNN, Transfer Learning, Deep Belief Networks, Autoencoders, DRNN</a:t>
            </a:r>
          </a:p>
          <a:p>
            <a:pPr marL="171450" indent="-171450">
              <a:buFont typeface="Arial" panose="020B0604020202020204" pitchFamily="34" charset="0"/>
              <a:buChar char="•"/>
            </a:pPr>
            <a:r>
              <a:rPr lang="en-US" sz="1000" noProof="0" dirty="0">
                <a:solidFill>
                  <a:srgbClr val="64748B"/>
                </a:solidFill>
              </a:rPr>
              <a:t>Reinforcement Learning: Deep reinforcement learning for HVAC control</a:t>
            </a:r>
            <a:endParaRPr lang="en-US" sz="1000" noProof="0" dirty="0"/>
          </a:p>
        </p:txBody>
      </p:sp>
      <p:sp>
        <p:nvSpPr>
          <p:cNvPr id="15" name="Shape 13">
            <a:extLst>
              <a:ext uri="{FF2B5EF4-FFF2-40B4-BE49-F238E27FC236}">
                <a16:creationId xmlns:a16="http://schemas.microsoft.com/office/drawing/2014/main" id="{3FBFEB0D-EEE1-7733-D9BB-F2F61A65D1C7}"/>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170171FB-C57F-5467-2521-9540670E6ACB}"/>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527143FD-B8A2-2165-579E-8EEFCF9B862A}"/>
              </a:ext>
            </a:extLst>
          </p:cNvPr>
          <p:cNvSpPr/>
          <p:nvPr/>
        </p:nvSpPr>
        <p:spPr>
          <a:xfrm>
            <a:off x="784150" y="3240408"/>
            <a:ext cx="7703713" cy="1688262"/>
          </a:xfrm>
          <a:prstGeom prst="rect">
            <a:avLst/>
          </a:prstGeom>
          <a:noFill/>
          <a:ln/>
        </p:spPr>
        <p:txBody>
          <a:bodyPr wrap="square" rtlCol="0" anchor="t"/>
          <a:lstStyle/>
          <a:p>
            <a:r>
              <a:rPr lang="en-US" sz="1000" b="1" kern="0" spc="200" noProof="0" dirty="0">
                <a:solidFill>
                  <a:srgbClr val="21295C"/>
                </a:solidFill>
              </a:rPr>
              <a:t>KEY FINDINGS</a:t>
            </a:r>
          </a:p>
          <a:p>
            <a:pPr marL="171450" indent="-171450">
              <a:buFont typeface="Arial" panose="020B0604020202020204" pitchFamily="34" charset="0"/>
              <a:buChar char="•"/>
            </a:pPr>
            <a:r>
              <a:rPr lang="en-US" sz="1000" noProof="0" dirty="0">
                <a:solidFill>
                  <a:srgbClr val="64748B"/>
                </a:solidFill>
              </a:rPr>
              <a:t>Energy prediction: AI models reduced simulation time from 1145s to 0.9s vs BES with comparable accuracy. ELM achieved MAE of 0.0348 kW for cooling load with prediction time &lt;0.5s. Random Forest outperformed M5P and Random Tree by 49% in MAE.</a:t>
            </a:r>
          </a:p>
          <a:p>
            <a:pPr marL="171450" indent="-171450">
              <a:buFont typeface="Arial" panose="020B0604020202020204" pitchFamily="34" charset="0"/>
              <a:buChar char="•"/>
            </a:pPr>
            <a:r>
              <a:rPr lang="en-US" sz="1000" noProof="0" dirty="0">
                <a:solidFill>
                  <a:srgbClr val="64748B"/>
                </a:solidFill>
              </a:rPr>
              <a:t>Occupancy detection: </a:t>
            </a:r>
            <a:r>
              <a:rPr lang="en-US" sz="1000" noProof="0" dirty="0" err="1">
                <a:solidFill>
                  <a:srgbClr val="64748B"/>
                </a:solidFill>
              </a:rPr>
              <a:t>WiFi</a:t>
            </a:r>
            <a:r>
              <a:rPr lang="en-US" sz="1000" noProof="0" dirty="0">
                <a:solidFill>
                  <a:srgbClr val="64748B"/>
                </a:solidFill>
              </a:rPr>
              <a:t>-based methods achieved 80.9–93.9% accuracy. Deep learning camera-based detection reached 95.3% accuracy. Activity recognition with deep learning reached 97.6%.Thermal comfort: ML outperformed PMV by up to 17.8%. KNN-based model achieved 88.31% accuracy. Energy savings of 7–58.5% achieved via ML-based demand-driven controls.</a:t>
            </a:r>
          </a:p>
          <a:p>
            <a:pPr marL="171450" indent="-171450">
              <a:buFont typeface="Arial" panose="020B0604020202020204" pitchFamily="34" charset="0"/>
              <a:buChar char="•"/>
            </a:pPr>
            <a:r>
              <a:rPr lang="en-US" sz="1000" noProof="0" dirty="0">
                <a:solidFill>
                  <a:srgbClr val="64748B"/>
                </a:solidFill>
              </a:rPr>
              <a:t>IAQ: Deep reinforcement learning achieved 43% energy savings while reducing CO2 by 24%. ANN predicted CO2 with RMSE of 0.8816. GRU achieved 84.5% accuracy for IAQ prediction.</a:t>
            </a:r>
          </a:p>
          <a:p>
            <a:pPr marL="171450" indent="-171450">
              <a:buFont typeface="Arial" panose="020B0604020202020204" pitchFamily="34" charset="0"/>
              <a:buChar char="•"/>
            </a:pPr>
            <a:r>
              <a:rPr lang="en-US" sz="1000" noProof="0" dirty="0">
                <a:solidFill>
                  <a:srgbClr val="64748B"/>
                </a:solidFill>
              </a:rPr>
              <a:t>Fault detection: DRNN outperformed Random Forest and gradient boosting. Deep belief network achieved 97.7% fault diagnosis correct rate.</a:t>
            </a:r>
          </a:p>
        </p:txBody>
      </p:sp>
    </p:spTree>
    <p:extLst>
      <p:ext uri="{BB962C8B-B14F-4D97-AF65-F5344CB8AC3E}">
        <p14:creationId xmlns:p14="http://schemas.microsoft.com/office/powerpoint/2010/main" val="2784531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1A7177-9990-F757-8A06-A468EA64AD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9A95B4-43A5-52BB-8CEE-B884EACD2D5B}"/>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EE5E13C6-480F-DDBF-36CA-90C6DDC3D4EF}"/>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#4</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A63E15C9-624F-54CB-2377-AB7D56E56848}"/>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555BB9A2-1E3F-B84E-2C73-40BBF2CA202D}"/>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8D625492-AD0D-45E0-F3A6-68CF9C89F7EC}"/>
              </a:ext>
            </a:extLst>
          </p:cNvPr>
          <p:cNvSpPr/>
          <p:nvPr/>
        </p:nvSpPr>
        <p:spPr>
          <a:xfrm>
            <a:off x="784150" y="833120"/>
            <a:ext cx="7645451"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lvl="0" eaLnBrk="0" fontAlgn="base" hangingPunct="0">
              <a:spcBef>
                <a:spcPct val="0"/>
              </a:spcBef>
              <a:spcAft>
                <a:spcPct val="0"/>
              </a:spcAft>
            </a:pPr>
            <a:endParaRPr lang="en-US" sz="1000" noProof="0" dirty="0">
              <a:solidFill>
                <a:srgbClr val="64748B"/>
              </a:solidFill>
              <a:cs typeface="Arial" panose="020B0604020202020204" pitchFamily="34" charset="0"/>
            </a:endParaRP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Most studies remain at experimental/testing stage; few deploy ML/DL in actual buildings.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Limited validation using real post-occupancy or post-completion energy data.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Few studies address energy, thermal comfort, and IAQ simultaneously — a holistic approach is lacking.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IAQ receives less attention than energy and thermal comfort.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No </a:t>
            </a:r>
            <a:r>
              <a:rPr lang="en-US" sz="1000" noProof="0" dirty="0" err="1">
                <a:solidFill>
                  <a:srgbClr val="64748B"/>
                </a:solidFill>
                <a:cs typeface="Arial" panose="020B0604020202020204" pitchFamily="34" charset="0"/>
              </a:rPr>
              <a:t>standardied</a:t>
            </a:r>
            <a:r>
              <a:rPr lang="en-US" sz="1000" noProof="0" dirty="0">
                <a:solidFill>
                  <a:srgbClr val="64748B"/>
                </a:solidFill>
                <a:cs typeface="Arial" panose="020B0604020202020204" pitchFamily="34" charset="0"/>
              </a:rPr>
              <a:t> evaluation protocol for ML/DL models in the built environment.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Wide range of evaluation metrics makes cross-study comparison difficult.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Hundreds of ML algorithms applied — no clear guidance on optimal algorithm selection for specific tasks.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Computational efficiency, data requirements, and model complexity rarely assessed.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Most studies focus on individual buildings; limited large-scale or urban-scale deployment.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Limited application in industrial and retail buildings.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Data acquisition constraints limit wider implementation.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Data pre-processing challenges and uncertainty not discussed enough.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AI-based models cannot be used at the design stage (reliance on historical data) and cannot extrapolate after design/operation changes.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Vision-based occupancy detection rarely integrated with HVAC control systems; impact on energy/comfort not well studied.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Privacy and security concerns for camera-based methods unresolved.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Detection robustness issues: indoor lighting, camera angle, overlapping objects affect performance.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Energy prediction mostly covers heating/cooling — lighting, plug loads, dehumidification underexplored.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Most studies focus on mechanical HVAC; natural ventilation and passive strategies underexplored.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Daylighting, visual comfort, and acoustics receive little attention in IEQ studies.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DL applications for IAQ and fault detection are still emerging.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Transfer learning for scaling ML/DL across buildings is underexplored but promising.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More work needed on integration with building management systems.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Weather forecast precision impacts energy prediction but is not always accounted for.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Model developers need combined AI and building engineering knowledge. </a:t>
            </a:r>
          </a:p>
          <a:p>
            <a:endParaRPr lang="en-US" sz="1000" noProof="0" dirty="0">
              <a:solidFill>
                <a:srgbClr val="64748B"/>
              </a:solidFill>
            </a:endParaRPr>
          </a:p>
        </p:txBody>
      </p:sp>
    </p:spTree>
    <p:extLst>
      <p:ext uri="{BB962C8B-B14F-4D97-AF65-F5344CB8AC3E}">
        <p14:creationId xmlns:p14="http://schemas.microsoft.com/office/powerpoint/2010/main" val="406966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C161E2-DA65-B1AD-05C6-A13B3D97C8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038F61-7167-555E-0555-ACE4806B3CF2}"/>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69E92B9A-AF30-AC99-67E0-2E3D6F6BD3ED}"/>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#5</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1D4756EF-37E9-085A-2674-A913F1691FCE}"/>
              </a:ext>
            </a:extLst>
          </p:cNvPr>
          <p:cNvSpPr/>
          <p:nvPr/>
        </p:nvSpPr>
        <p:spPr>
          <a:xfrm>
            <a:off x="548640" y="825778"/>
            <a:ext cx="8046720" cy="457200"/>
          </a:xfrm>
          <a:prstGeom prst="rect">
            <a:avLst/>
          </a:prstGeom>
          <a:noFill/>
          <a:ln/>
        </p:spPr>
        <p:txBody>
          <a:bodyPr wrap="square" lIns="0" tIns="0" rIns="0" bIns="0" rtlCol="0" anchor="ctr"/>
          <a:lstStyle/>
          <a:p>
            <a:r>
              <a:rPr lang="en-US" noProof="0" dirty="0"/>
              <a:t>Physics-informed machine learning for building performance simulation — A review of a nascent field</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3C99DEB7-AB8D-D1C8-35E0-BE1755751558}"/>
              </a:ext>
            </a:extLst>
          </p:cNvPr>
          <p:cNvSpPr/>
          <p:nvPr/>
        </p:nvSpPr>
        <p:spPr>
          <a:xfrm>
            <a:off x="545122" y="1355436"/>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Jiang et al., 2025, Advances in Applied Energy, Vol. 18, Article 100223</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7503C72D-B7AC-0EBA-D8CD-050802DA4969}"/>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BDE6693B-C945-D655-8C08-6F6A26B73ACB}"/>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71C00E8D-FBE8-03D2-38DD-7E3601A05EC1}"/>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r>
              <a:rPr lang="en-US" sz="1000" noProof="0" dirty="0">
                <a:solidFill>
                  <a:srgbClr val="64748B"/>
                </a:solidFill>
              </a:rPr>
              <a:t>1. How should PIML be defined and categorized for BPS?</a:t>
            </a:r>
          </a:p>
          <a:p>
            <a:r>
              <a:rPr lang="en-US" sz="1000" noProof="0" dirty="0">
                <a:solidFill>
                  <a:srgbClr val="64748B"/>
                </a:solidFill>
              </a:rPr>
              <a:t>2. What methodologies are used to integrate physics into ML models?</a:t>
            </a:r>
          </a:p>
          <a:p>
            <a:r>
              <a:rPr lang="en-US" sz="1000" noProof="0" dirty="0">
                <a:solidFill>
                  <a:srgbClr val="64748B"/>
                </a:solidFill>
              </a:rPr>
              <a:t>3. How does PIML compare to traditional physics-based and data-driven BPS?</a:t>
            </a:r>
          </a:p>
          <a:p>
            <a:r>
              <a:rPr lang="en-US" sz="1000" noProof="0" dirty="0">
                <a:solidFill>
                  <a:srgbClr val="64748B"/>
                </a:solidFill>
              </a:rPr>
              <a:t>4. What datasets, tools, and testbeds support PIML in BPS?</a:t>
            </a:r>
          </a:p>
          <a:p>
            <a:r>
              <a:rPr lang="en-US" sz="1000" noProof="0" dirty="0">
                <a:solidFill>
                  <a:srgbClr val="64748B"/>
                </a:solidFill>
              </a:rPr>
              <a:t>5. What are the key challenges and future directions for PIML in BPS?</a:t>
            </a:r>
          </a:p>
        </p:txBody>
      </p:sp>
      <p:sp>
        <p:nvSpPr>
          <p:cNvPr id="24" name="Shape 22">
            <a:extLst>
              <a:ext uri="{FF2B5EF4-FFF2-40B4-BE49-F238E27FC236}">
                <a16:creationId xmlns:a16="http://schemas.microsoft.com/office/drawing/2014/main" id="{E1801E99-B17E-4088-49FB-9610B81F9AF3}"/>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4688FC25-24DA-B09D-5222-0D05D3FC89CB}"/>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70B3B826-1308-151E-D33C-2619DB0899C0}"/>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review defines and categorizes physics-informed machine learning (PIML) as a hybrid framework that merges physical laws with data-driven models for building performance simulation (BPS). It surveys 50 selected papers published between 2010 and 2025, covering five application domains: IEQ assessment, control and system optimization, airflow simulation, BTM DERs integration, and energy prediction. PIML outperforms purely data-driven models on physical consistency and generalization, but adds model complexity and training cost. The review provides a three-step model selection guideline, catalogs open datasets and testbeds, and identifies eight future research directions.</a:t>
            </a:r>
            <a:endParaRPr lang="en-US" sz="1000" noProof="0" dirty="0"/>
          </a:p>
        </p:txBody>
      </p:sp>
    </p:spTree>
    <p:extLst>
      <p:ext uri="{BB962C8B-B14F-4D97-AF65-F5344CB8AC3E}">
        <p14:creationId xmlns:p14="http://schemas.microsoft.com/office/powerpoint/2010/main" val="3186676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C6861F-3C54-39BC-D1B2-89FBC6B8D7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02DAE9-8398-117E-AFB5-B0697FF4BFB5}"/>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B7D01E6E-F84A-513B-32BC-AFBDF0250B6E}"/>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#5</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F49A8244-0162-9AC6-A053-176048B14290}"/>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695F4C8F-086B-121C-DFE1-BB2818B8BE92}"/>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106495B7-4971-32D6-F731-C8033713A3C3}"/>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included: 50 (from 219 after first-round keyword filtering)</a:t>
            </a:r>
          </a:p>
          <a:p>
            <a:pPr marL="171450" indent="-171450">
              <a:buFont typeface="Arial" panose="020B0604020202020204" pitchFamily="34" charset="0"/>
              <a:buChar char="•"/>
            </a:pPr>
            <a:r>
              <a:rPr lang="en-US" sz="1000" noProof="0" dirty="0">
                <a:solidFill>
                  <a:srgbClr val="64748B"/>
                </a:solidFill>
              </a:rPr>
              <a:t>Selection criteria: Physics + ML + building-domain relevance; English language; peer-reviewed articles and conference papers</a:t>
            </a:r>
          </a:p>
          <a:p>
            <a:pPr marL="171450" indent="-171450">
              <a:buFont typeface="Arial" panose="020B0604020202020204" pitchFamily="34" charset="0"/>
              <a:buChar char="•"/>
            </a:pPr>
            <a:r>
              <a:rPr lang="en-US" sz="1000" noProof="0" dirty="0">
                <a:solidFill>
                  <a:srgbClr val="64748B"/>
                </a:solidFill>
              </a:rPr>
              <a:t>Time period: January 2010 – April 2025</a:t>
            </a:r>
            <a:endParaRPr lang="en-US" sz="1000" noProof="0" dirty="0"/>
          </a:p>
        </p:txBody>
      </p:sp>
      <p:sp>
        <p:nvSpPr>
          <p:cNvPr id="12" name="Shape 10">
            <a:extLst>
              <a:ext uri="{FF2B5EF4-FFF2-40B4-BE49-F238E27FC236}">
                <a16:creationId xmlns:a16="http://schemas.microsoft.com/office/drawing/2014/main" id="{B9DDA15C-E22A-4F4A-5F68-7BF678DA5F45}"/>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F4D80615-8C89-47DE-43CE-EA6FCF9A6062}"/>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9DB8E0C4-69CD-E968-95A5-E9EA630275A6}"/>
              </a:ext>
            </a:extLst>
          </p:cNvPr>
          <p:cNvSpPr/>
          <p:nvPr/>
        </p:nvSpPr>
        <p:spPr>
          <a:xfrm>
            <a:off x="4937760" y="911352"/>
            <a:ext cx="3550104" cy="2070405"/>
          </a:xfrm>
          <a:prstGeom prst="rect">
            <a:avLst/>
          </a:prstGeom>
          <a:noFill/>
          <a:ln/>
        </p:spPr>
        <p:txBody>
          <a:bodyPr wrap="square" rtlCol="0" anchor="t"/>
          <a:lstStyle/>
          <a:p>
            <a:r>
              <a:rPr lang="en-US" sz="1000" b="1" kern="0" spc="200" noProof="0" dirty="0">
                <a:solidFill>
                  <a:srgbClr val="065A82"/>
                </a:solidFill>
              </a:rPr>
              <a:t>TAXONOMY / METHODS COVERED</a:t>
            </a:r>
          </a:p>
          <a:p>
            <a:r>
              <a:rPr lang="en-US" sz="1000" noProof="0" dirty="0">
                <a:solidFill>
                  <a:srgbClr val="64748B"/>
                </a:solidFill>
              </a:rPr>
              <a:t>The review organizes PIML approaches into four categories:</a:t>
            </a:r>
          </a:p>
          <a:p>
            <a:pPr marL="171450" indent="-171450">
              <a:buFont typeface="Arial" panose="020B0604020202020204" pitchFamily="34" charset="0"/>
              <a:buChar char="•"/>
            </a:pPr>
            <a:r>
              <a:rPr lang="en-US" sz="1000" noProof="0" dirty="0">
                <a:solidFill>
                  <a:srgbClr val="64748B"/>
                </a:solidFill>
              </a:rPr>
              <a:t>Physics-Informed Data Set — ensemble learning, physics-informed inputs, knowledge discovery</a:t>
            </a:r>
          </a:p>
          <a:p>
            <a:pPr marL="171450" indent="-171450">
              <a:buFont typeface="Arial" panose="020B0604020202020204" pitchFamily="34" charset="0"/>
              <a:buChar char="•"/>
            </a:pPr>
            <a:r>
              <a:rPr lang="en-US" sz="1000" noProof="0" dirty="0">
                <a:solidFill>
                  <a:srgbClr val="64748B"/>
                </a:solidFill>
              </a:rPr>
              <a:t>Physics-Informed Loss Functions — governing equation-based loss (PINNs), knowledge-guided loss, surrogate physics-based loss (RC model)</a:t>
            </a:r>
          </a:p>
          <a:p>
            <a:pPr marL="171450" indent="-171450">
              <a:buFont typeface="Arial" panose="020B0604020202020204" pitchFamily="34" charset="0"/>
              <a:buChar char="•"/>
            </a:pPr>
            <a:r>
              <a:rPr lang="en-US" sz="1000" noProof="0" dirty="0">
                <a:solidFill>
                  <a:srgbClr val="64748B"/>
                </a:solidFill>
              </a:rPr>
              <a:t>Physics-Informed Model Structures — direct-solution models, direct time-stepper models, residual time-stepper models; NN types: ANN, RNN, LSTM, GNN, CNN</a:t>
            </a:r>
          </a:p>
          <a:p>
            <a:pPr marL="171450" indent="-171450">
              <a:buFont typeface="Arial" panose="020B0604020202020204" pitchFamily="34" charset="0"/>
              <a:buChar char="•"/>
            </a:pPr>
            <a:r>
              <a:rPr lang="en-US" sz="1000" noProof="0" dirty="0">
                <a:solidFill>
                  <a:srgbClr val="64748B"/>
                </a:solidFill>
              </a:rPr>
              <a:t>Physics-Informed Hard Constraints — positive constraints, symmetry constraints, linear equality constraints, boundary constraints, governing constraints</a:t>
            </a:r>
            <a:endParaRPr lang="en-US" sz="1000" noProof="0" dirty="0"/>
          </a:p>
        </p:txBody>
      </p:sp>
      <p:sp>
        <p:nvSpPr>
          <p:cNvPr id="15" name="Shape 13">
            <a:extLst>
              <a:ext uri="{FF2B5EF4-FFF2-40B4-BE49-F238E27FC236}">
                <a16:creationId xmlns:a16="http://schemas.microsoft.com/office/drawing/2014/main" id="{3B3B37D3-EC3F-0A9C-CD52-14AF72D85609}"/>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3551EAB3-CC08-68E0-9148-F8E99B706E1A}"/>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CD5BA3EB-CC45-CD11-B529-6197FC489484}"/>
              </a:ext>
            </a:extLst>
          </p:cNvPr>
          <p:cNvSpPr/>
          <p:nvPr/>
        </p:nvSpPr>
        <p:spPr>
          <a:xfrm>
            <a:off x="784150" y="3240408"/>
            <a:ext cx="7703713" cy="1688262"/>
          </a:xfrm>
          <a:prstGeom prst="rect">
            <a:avLst/>
          </a:prstGeom>
          <a:noFill/>
          <a:ln/>
        </p:spPr>
        <p:txBody>
          <a:bodyPr wrap="square" rtlCol="0" anchor="t"/>
          <a:lstStyle/>
          <a:p>
            <a:r>
              <a:rPr lang="en-US" sz="1000" b="1" kern="0" spc="200" noProof="0" dirty="0">
                <a:solidFill>
                  <a:srgbClr val="21295C"/>
                </a:solidFill>
              </a:rPr>
              <a:t>KEY FINDINGS</a:t>
            </a:r>
          </a:p>
          <a:p>
            <a:pPr lvl="0" eaLnBrk="0" fontAlgn="base" hangingPunct="0">
              <a:spcBef>
                <a:spcPct val="0"/>
              </a:spcBef>
              <a:spcAft>
                <a:spcPct val="0"/>
              </a:spcAft>
              <a:buFontTx/>
              <a:buChar char="•"/>
            </a:pPr>
            <a:r>
              <a:rPr lang="en-US" sz="1000" noProof="0" dirty="0">
                <a:solidFill>
                  <a:srgbClr val="64748B"/>
                </a:solidFill>
              </a:rPr>
              <a:t>Temperature prediction (single zone): PIML modular NN achieved MAE of 0.43°C, versus 0.94°C for the RC baseline model. </a:t>
            </a:r>
          </a:p>
          <a:p>
            <a:pPr lvl="0" eaLnBrk="0" fontAlgn="base" hangingPunct="0">
              <a:spcBef>
                <a:spcPct val="0"/>
              </a:spcBef>
              <a:spcAft>
                <a:spcPct val="0"/>
              </a:spcAft>
              <a:buFontTx/>
              <a:buChar char="•"/>
            </a:pPr>
            <a:r>
              <a:rPr lang="en-US" sz="1000" noProof="0" dirty="0">
                <a:solidFill>
                  <a:srgbClr val="64748B"/>
                </a:solidFill>
              </a:rPr>
              <a:t>Multi-zone temperature: Physics-consistent NN (PCNN) reached MAE of 1.17°C, outperforming both LSTM (1.27°C) and RC baseline (1.79°C). </a:t>
            </a:r>
          </a:p>
          <a:p>
            <a:pPr lvl="0" eaLnBrk="0" fontAlgn="base" hangingPunct="0">
              <a:spcBef>
                <a:spcPct val="0"/>
              </a:spcBef>
              <a:spcAft>
                <a:spcPct val="0"/>
              </a:spcAft>
              <a:buFontTx/>
              <a:buChar char="•"/>
            </a:pPr>
            <a:r>
              <a:rPr lang="en-US" sz="1000" noProof="0" dirty="0">
                <a:solidFill>
                  <a:srgbClr val="64748B"/>
                </a:solidFill>
              </a:rPr>
              <a:t>HVAC control via MPC: Physics-consistent models achieved energy savings of 22–49% compared to baseline controllers. </a:t>
            </a:r>
          </a:p>
          <a:p>
            <a:pPr lvl="0" eaLnBrk="0" fontAlgn="base" hangingPunct="0">
              <a:spcBef>
                <a:spcPct val="0"/>
              </a:spcBef>
              <a:spcAft>
                <a:spcPct val="0"/>
              </a:spcAft>
              <a:buFontTx/>
              <a:buChar char="•"/>
            </a:pPr>
            <a:r>
              <a:rPr lang="en-US" sz="1000" noProof="0" dirty="0">
                <a:solidFill>
                  <a:srgbClr val="64748B"/>
                </a:solidFill>
              </a:rPr>
              <a:t>Urban wind field (airflow simulation): PIGNN-CFD ran 1–2 orders of magnitude faster than traditional CFD simulations. </a:t>
            </a:r>
          </a:p>
          <a:p>
            <a:pPr lvl="0" eaLnBrk="0" fontAlgn="base" hangingPunct="0">
              <a:spcBef>
                <a:spcPct val="0"/>
              </a:spcBef>
              <a:spcAft>
                <a:spcPct val="0"/>
              </a:spcAft>
              <a:buFontTx/>
              <a:buChar char="•"/>
            </a:pPr>
            <a:r>
              <a:rPr lang="en-US" sz="1000" noProof="0" dirty="0">
                <a:solidFill>
                  <a:srgbClr val="64748B"/>
                </a:solidFill>
              </a:rPr>
              <a:t>Fault detection and diagnostics (AHU): Physics-guided Diagnostic Bayesian Network reached a detection rate of 95.37%. </a:t>
            </a:r>
          </a:p>
          <a:p>
            <a:pPr lvl="0" eaLnBrk="0" fontAlgn="base" hangingPunct="0">
              <a:spcBef>
                <a:spcPct val="0"/>
              </a:spcBef>
              <a:spcAft>
                <a:spcPct val="0"/>
              </a:spcAft>
              <a:buFontTx/>
              <a:buChar char="•"/>
            </a:pPr>
            <a:r>
              <a:rPr lang="en-US" sz="1000" noProof="0" dirty="0">
                <a:solidFill>
                  <a:srgbClr val="64748B"/>
                </a:solidFill>
              </a:rPr>
              <a:t>Building load forecasting: Physics-informed DNN achieved R² of 0.87 ± 0.01 and RMSE of 102.69 ± 7.82. </a:t>
            </a:r>
          </a:p>
          <a:p>
            <a:pPr lvl="0" eaLnBrk="0" fontAlgn="base" hangingPunct="0">
              <a:spcBef>
                <a:spcPct val="0"/>
              </a:spcBef>
              <a:spcAft>
                <a:spcPct val="0"/>
              </a:spcAft>
              <a:buFontTx/>
              <a:buChar char="•"/>
            </a:pPr>
            <a:r>
              <a:rPr lang="en-US" sz="1000" noProof="0" dirty="0">
                <a:solidFill>
                  <a:srgbClr val="64748B"/>
                </a:solidFill>
              </a:rPr>
              <a:t>BTM DERs with comfort constraints: PCNN-enabled MPC delivered 22% energy saving and 27% peak demand reduction versus baseline control. </a:t>
            </a:r>
          </a:p>
          <a:p>
            <a:pPr lvl="0" eaLnBrk="0" fontAlgn="base" hangingPunct="0">
              <a:spcBef>
                <a:spcPct val="0"/>
              </a:spcBef>
              <a:spcAft>
                <a:spcPct val="0"/>
              </a:spcAft>
              <a:buFontTx/>
              <a:buChar char="•"/>
            </a:pPr>
            <a:r>
              <a:rPr lang="en-US" sz="1000" noProof="0" dirty="0">
                <a:solidFill>
                  <a:srgbClr val="64748B"/>
                </a:solidFill>
              </a:rPr>
              <a:t>Study distribution: IEQ assessment is the most studied category (16 of 50 papers), followed by control and system optimization (13 papers) and airflow simulation (11 papers). </a:t>
            </a:r>
          </a:p>
          <a:p>
            <a:pPr lvl="0" eaLnBrk="0" fontAlgn="base" hangingPunct="0">
              <a:spcBef>
                <a:spcPct val="0"/>
              </a:spcBef>
              <a:spcAft>
                <a:spcPct val="0"/>
              </a:spcAft>
              <a:buFontTx/>
              <a:buChar char="•"/>
            </a:pPr>
            <a:r>
              <a:rPr lang="en-US" sz="1000" noProof="0" dirty="0">
                <a:solidFill>
                  <a:srgbClr val="64748B"/>
                </a:solidFill>
              </a:rPr>
              <a:t>PINN vs. finite element methods: PINNs have not consistently outperformed finite element solvers on PDEs, particularly for nonhomogeneous problems such as multi-layer heat transfer. </a:t>
            </a:r>
          </a:p>
        </p:txBody>
      </p:sp>
    </p:spTree>
    <p:extLst>
      <p:ext uri="{BB962C8B-B14F-4D97-AF65-F5344CB8AC3E}">
        <p14:creationId xmlns:p14="http://schemas.microsoft.com/office/powerpoint/2010/main" val="1406509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E69976-CCD4-C265-B604-EABAB08F58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0C1433B-AA16-8870-F9B9-A83215BCBC52}"/>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D8FC7BB5-1DA4-8195-626E-563576C9975B}"/>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#5</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FCA94F43-26A6-52BA-D3E8-11FE572D9F4A}"/>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395FEE48-2ECC-9A02-55A3-8BF446F013F1}"/>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988FAE5B-4A7A-9960-33C9-66B57B8BF542}"/>
              </a:ext>
            </a:extLst>
          </p:cNvPr>
          <p:cNvSpPr/>
          <p:nvPr/>
        </p:nvSpPr>
        <p:spPr>
          <a:xfrm>
            <a:off x="784150" y="833120"/>
            <a:ext cx="8267752" cy="4237045"/>
          </a:xfrm>
          <a:prstGeom prst="rect">
            <a:avLst/>
          </a:prstGeom>
          <a:noFill/>
          <a:ln/>
        </p:spPr>
        <p:txBody>
          <a:bodyPr wrap="square" rtlCol="0" anchor="t"/>
          <a:lstStyle/>
          <a:p>
            <a:r>
              <a:rPr lang="en-US" sz="900" b="1" kern="0" spc="200" noProof="0" dirty="0">
                <a:solidFill>
                  <a:srgbClr val="0D9488"/>
                </a:solidFill>
              </a:rPr>
              <a:t>FUTURE RESEARCH DIRECTIONS &amp; OPEN PROBLEMS</a:t>
            </a:r>
          </a:p>
          <a:p>
            <a:pPr lvl="0" eaLnBrk="0" fontAlgn="base" hangingPunct="0">
              <a:spcBef>
                <a:spcPct val="0"/>
              </a:spcBef>
              <a:spcAft>
                <a:spcPct val="0"/>
              </a:spcAft>
            </a:pPr>
            <a:endParaRPr lang="en-US" sz="900" noProof="0" dirty="0">
              <a:solidFill>
                <a:srgbClr val="64748B"/>
              </a:solidFill>
              <a:cs typeface="Arial" panose="020B0604020202020204" pitchFamily="34" charset="0"/>
            </a:endParaRP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No standard definition or taxonomy — definitions vary across studies; the field lacks a unified framework.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Physics–data tradeoff not formalized — no systematic method to decide when PIML is needed vs. pure physics or pure data-driven models.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PINN underperformance on PDEs — PINNs have not beaten finite element methods on nonhomogeneous problems (e.g., multi-layer heat transfer with abrupt material transitions).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Multi-loss balancing unsolved — no principled approach to weight multiple physics regularization terms; requires manual hyperparameter tuning.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Unit and scale mismatch in PINNs — physical quantities in BPS differ by orders of magnitude (e.g., indoor temperature 10–40°C vs. HVAC load &gt;10,000 W); scaling strategy unclear.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Physics constraints can degrade accuracy — constrained solution space may reduce expressiveness; some studies report lower accuracy than pure data-driven models.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Real-time control incompatible with complex PIML — nonlinear PIML models cannot be solved within short optimization windows; workarounds (PSO, DPC) increase cost.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RC model integration is circular — using a calibrated RC model as a surrogate loss contradicts the scalability goal of PIML; parallel calibration + NN training not solved.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No physics-based performance metrics — current evaluation uses MAE/MSE only; no standardized metric for physical consistency beyond sanity checks and TRV.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Model verification rarely done in the field — most studies use offline historical data; real-time validation is uncommon; behavior under extreme events (heat waves, outages) mostly untested.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Limited coverage of stochastic/aleatory uncertainty — PIML reduces epistemic uncertainty but does not address occupant behavior variability; Bayesian PIML approaches unexplored in BPS.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No modular multi-domain PIML framework — airflow and thermal models are not coupled; plug-and-play integration across domains is absent.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Emerging applications understudied — renewable energy integration, smart grid, indoor farming, and urban-scale simulation are not addressed by current PIML work in BPS.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PIML + foundation models unexplored — embedding PIML into LLMs or other foundation models for BPS-specific tasks has not been demonstrated.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Knowledge discovery loop not closed — symbolic/sparse regression insights are not fed back to update embedded physics priors; no bidirectional framework exists.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Advanced architectures not fully explored — hybrid GNN + RNN structures for simultaneous spatial and temporal modeling are proposed but not implemented at scale.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Standardized benchmarks absent — datasets, metrics, HVAC configurations, and evaluation protocols differ across studies; FAIR-compliant BPS benchmarks do not exist.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Physics prior evaluation methods lacking — no systematic method to assess whether a given physics prior improves or degrades model performance before integration.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Airflow PIML limited to simplified geometries — most zone-scale studies use 2D, steady-state, isothermal conditions; 3D, transient, non-isothermal cases are open.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Outdoor CO₂ and multi-sensor infiltration models — current ventilation/infiltration PINNs assume uniform indoor CO₂ and ignore outdoor measurements.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Acoustic PIML confined to controlled rooms — diffuse reverberant fields and dynamic spaces not modeled; 3D volumetric methods not validated beyond studios. </a:t>
            </a:r>
          </a:p>
          <a:p>
            <a:pPr lvl="0" eaLnBrk="0" fontAlgn="base" hangingPunct="0">
              <a:spcBef>
                <a:spcPct val="0"/>
              </a:spcBef>
              <a:spcAft>
                <a:spcPct val="0"/>
              </a:spcAft>
              <a:buFontTx/>
              <a:buChar char="•"/>
            </a:pPr>
            <a:r>
              <a:rPr lang="en-US" sz="900" noProof="0" dirty="0">
                <a:solidFill>
                  <a:srgbClr val="64748B"/>
                </a:solidFill>
                <a:cs typeface="Arial" panose="020B0604020202020204" pitchFamily="34" charset="0"/>
              </a:rPr>
              <a:t>Daylighting PIML nascent — only one PINN study (Labib 2025); RTE-based and diffusion-based models need wider validation. </a:t>
            </a:r>
          </a:p>
          <a:p>
            <a:endParaRPr lang="en-US" sz="900" noProof="0" dirty="0">
              <a:solidFill>
                <a:srgbClr val="64748B"/>
              </a:solidFill>
            </a:endParaRPr>
          </a:p>
        </p:txBody>
      </p:sp>
    </p:spTree>
    <p:extLst>
      <p:ext uri="{BB962C8B-B14F-4D97-AF65-F5344CB8AC3E}">
        <p14:creationId xmlns:p14="http://schemas.microsoft.com/office/powerpoint/2010/main" val="74074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D441BC-5EE9-925A-26BD-5F9D003396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557588C-E1AE-E13E-2911-8FF217827297}"/>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A65ABE22-7300-D8A9-481D-5DB59A6C4E57}"/>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#6</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38E33001-A531-A482-5F44-2C395132C260}"/>
              </a:ext>
            </a:extLst>
          </p:cNvPr>
          <p:cNvSpPr/>
          <p:nvPr/>
        </p:nvSpPr>
        <p:spPr>
          <a:xfrm>
            <a:off x="548640" y="825778"/>
            <a:ext cx="8046720" cy="457200"/>
          </a:xfrm>
          <a:prstGeom prst="rect">
            <a:avLst/>
          </a:prstGeom>
          <a:noFill/>
          <a:ln/>
        </p:spPr>
        <p:txBody>
          <a:bodyPr wrap="square" lIns="0" tIns="0" rIns="0" bIns="0" rtlCol="0" anchor="ctr"/>
          <a:lstStyle/>
          <a:p>
            <a:r>
              <a:rPr lang="en-US" noProof="0" dirty="0"/>
              <a:t>Machine Learning for Energy Management in Buildings: A Systematic Review on Real-World Applications</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43F91751-B816-705E-3BEA-058F051D8D26}"/>
              </a:ext>
            </a:extLst>
          </p:cNvPr>
          <p:cNvSpPr/>
          <p:nvPr/>
        </p:nvSpPr>
        <p:spPr>
          <a:xfrm>
            <a:off x="545122" y="1355436"/>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Aziz et al., 2025 — Journal of Climate Change, Vol. 11, No. 4, pp. 505–533</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2DDBF83C-3333-4978-F7FA-903560BFBCF5}"/>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4ECA8CD9-E715-2BF2-0165-E4982AE5DA4A}"/>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34BF3A1A-D4D1-A005-7EC0-CE54375F2472}"/>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pPr marL="228600" indent="-228600">
              <a:buFont typeface="+mj-lt"/>
              <a:buAutoNum type="arabicPeriod"/>
            </a:pPr>
            <a:r>
              <a:rPr lang="en-US" sz="1000" noProof="0" dirty="0">
                <a:solidFill>
                  <a:srgbClr val="64748B"/>
                </a:solidFill>
              </a:rPr>
              <a:t>What does real-world ML-based building energy control look like in practice? </a:t>
            </a:r>
          </a:p>
          <a:p>
            <a:pPr marL="228600" indent="-228600">
              <a:buFont typeface="+mj-lt"/>
              <a:buAutoNum type="arabicPeriod"/>
            </a:pPr>
            <a:r>
              <a:rPr lang="en-US" sz="1000" noProof="0" dirty="0">
                <a:solidFill>
                  <a:srgbClr val="64748B"/>
                </a:solidFill>
              </a:rPr>
              <a:t>Which methods are used, how are they deployed, and what are their demonstrated results across building types, climates, and energy systems?</a:t>
            </a:r>
          </a:p>
        </p:txBody>
      </p:sp>
      <p:sp>
        <p:nvSpPr>
          <p:cNvPr id="24" name="Shape 22">
            <a:extLst>
              <a:ext uri="{FF2B5EF4-FFF2-40B4-BE49-F238E27FC236}">
                <a16:creationId xmlns:a16="http://schemas.microsoft.com/office/drawing/2014/main" id="{C0CF9B00-3FAD-7A6B-04BE-546B2DEF3192}"/>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4E04B798-84AB-0797-D8BB-73F36F2D3653}"/>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14100CB2-CC2A-C9F1-43A3-8FDA16CD3497}"/>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review covers 73 real-world deployments of machine learning (ML) in building energy management systems (BEMS) from 2015 to 2025. It covers six ML families — MPC, ANNs, RL, FLC, metaheuristics, and hybrids — applied to HVAC, heat pumps, renewables, batteries, EV charging, hot water, and lighting. The review analyses both methodological attributes (algorithm design, data, baselines, metrics) and practical ones (building type, location, climate, duration). MPC dominates real deployments; RL is growing but limited by safety constraints. The field is maturing, with performance evaluation expanding beyond energy savings to cover comfort, feasibility, and grid interaction.</a:t>
            </a:r>
            <a:endParaRPr lang="en-US" sz="1000" noProof="0" dirty="0"/>
          </a:p>
        </p:txBody>
      </p:sp>
    </p:spTree>
    <p:extLst>
      <p:ext uri="{BB962C8B-B14F-4D97-AF65-F5344CB8AC3E}">
        <p14:creationId xmlns:p14="http://schemas.microsoft.com/office/powerpoint/2010/main" val="3087046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CD497B-B657-3954-0F1D-322C1F2817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1C24E0-D656-BA81-B2CD-01ED405740D4}"/>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D432D007-3966-3A9F-2E27-E36774529D8A}"/>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#6</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B0CC5295-2C5A-2C97-590E-E1C86ADC3DA2}"/>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3EFEDB35-3834-8E0F-889C-F81C1B178189}"/>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DD90DCDB-0B24-BCBE-5870-0C144D152589}"/>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Studies included: 73 (from ~400 initial records, screened to 89, 16 excluded)</a:t>
            </a:r>
          </a:p>
          <a:p>
            <a:pPr marL="171450" indent="-171450">
              <a:buFont typeface="Arial" panose="020B0604020202020204" pitchFamily="34" charset="0"/>
              <a:buChar char="•"/>
            </a:pPr>
            <a:r>
              <a:rPr lang="en-US" sz="1000" noProof="0" dirty="0">
                <a:solidFill>
                  <a:srgbClr val="64748B"/>
                </a:solidFill>
              </a:rPr>
              <a:t>Criteria: Real building deployment (field pilot, living lab, or long-term experiment); ≥10 citations (relaxed for 2025 publications); peer-reviewed journals and conference papers; English only</a:t>
            </a:r>
          </a:p>
          <a:p>
            <a:pPr marL="171450" indent="-171450">
              <a:buFont typeface="Arial" panose="020B0604020202020204" pitchFamily="34" charset="0"/>
              <a:buChar char="•"/>
            </a:pPr>
            <a:r>
              <a:rPr lang="en-US" sz="1000" noProof="0" dirty="0">
                <a:solidFill>
                  <a:srgbClr val="64748B"/>
                </a:solidFill>
              </a:rPr>
              <a:t>Time period: January 2015 – March 2025</a:t>
            </a:r>
            <a:endParaRPr lang="en-US" sz="1000" noProof="0" dirty="0"/>
          </a:p>
        </p:txBody>
      </p:sp>
      <p:sp>
        <p:nvSpPr>
          <p:cNvPr id="12" name="Shape 10">
            <a:extLst>
              <a:ext uri="{FF2B5EF4-FFF2-40B4-BE49-F238E27FC236}">
                <a16:creationId xmlns:a16="http://schemas.microsoft.com/office/drawing/2014/main" id="{EA09BDD3-59DE-F37B-9928-E871A6D7DF6B}"/>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5170AE0D-5B3E-CE01-787A-A2DB75B8AE0F}"/>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E01FAF82-844E-3154-47EB-357989D9FAE1}"/>
              </a:ext>
            </a:extLst>
          </p:cNvPr>
          <p:cNvSpPr/>
          <p:nvPr/>
        </p:nvSpPr>
        <p:spPr>
          <a:xfrm>
            <a:off x="4937760" y="911352"/>
            <a:ext cx="3550104" cy="2070405"/>
          </a:xfrm>
          <a:prstGeom prst="rect">
            <a:avLst/>
          </a:prstGeom>
          <a:noFill/>
          <a:ln/>
        </p:spPr>
        <p:txBody>
          <a:bodyPr wrap="square" rtlCol="0" anchor="t"/>
          <a:lstStyle/>
          <a:p>
            <a:r>
              <a:rPr lang="en-US" sz="1000" b="1" kern="0" spc="200" noProof="0" dirty="0">
                <a:solidFill>
                  <a:srgbClr val="065A82"/>
                </a:solidFill>
              </a:rPr>
              <a:t>TAXONOMY / METHODS COVERED</a:t>
            </a:r>
          </a:p>
          <a:p>
            <a:r>
              <a:rPr lang="en-US" sz="1000" noProof="0" dirty="0">
                <a:solidFill>
                  <a:srgbClr val="64748B"/>
                </a:solidFill>
              </a:rPr>
              <a:t>The review organizes PIML approaches into four categories:</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MPC (35 studies): Classical, economic, data-driven, robust, stochastic, discrete. Solvers: QP, MIQP, NLP, MILP, GA/PSO </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ANN (6 studies): MLP, NARX, LSTM, CNN </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RL (8 studies): FQI, DDPG, BDQ, DQN, PPO, SAC </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FLC (8 studies): Mamdani, Takagi–</a:t>
            </a:r>
            <a:r>
              <a:rPr lang="en-US" sz="1000" noProof="0" dirty="0" err="1">
                <a:solidFill>
                  <a:srgbClr val="64748B"/>
                </a:solidFill>
              </a:rPr>
              <a:t>Sugeno</a:t>
            </a:r>
            <a:r>
              <a:rPr lang="en-US" sz="1000" noProof="0" dirty="0">
                <a:solidFill>
                  <a:srgbClr val="64748B"/>
                </a:solidFill>
              </a:rPr>
              <a:t>, fuzzy-PID </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Hybrid (14 studies): MPC+ANN, MPC+PSO/GA, RL+MPC, ANN+CBR, ANN+GA </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Other (3 studies): Model-free cognitive adaptive </a:t>
            </a:r>
            <a:r>
              <a:rPr lang="en-US" sz="1000" noProof="0" dirty="0" err="1">
                <a:solidFill>
                  <a:srgbClr val="64748B"/>
                </a:solidFill>
              </a:rPr>
              <a:t>optimisation</a:t>
            </a:r>
            <a:r>
              <a:rPr lang="en-US" sz="1000" noProof="0" dirty="0">
                <a:solidFill>
                  <a:srgbClr val="64748B"/>
                </a:solidFill>
              </a:rPr>
              <a:t> (CAO) </a:t>
            </a:r>
          </a:p>
          <a:p>
            <a:pPr marL="171450" marR="0" lvl="0" indent="-171450" fontAlgn="base">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rPr>
              <a:t>Energy systems covered: HVAC, GHP, RES (PV, solar thermal), ESS (batteries), DHW, EVCS, lighting </a:t>
            </a:r>
          </a:p>
        </p:txBody>
      </p:sp>
      <p:sp>
        <p:nvSpPr>
          <p:cNvPr id="15" name="Shape 13">
            <a:extLst>
              <a:ext uri="{FF2B5EF4-FFF2-40B4-BE49-F238E27FC236}">
                <a16:creationId xmlns:a16="http://schemas.microsoft.com/office/drawing/2014/main" id="{BF387C3F-CC8C-0119-0BC1-813519505D0C}"/>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99922482-CCD0-042B-0F09-068196935BE2}"/>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8BB66560-3ACE-836B-2053-2F1294853624}"/>
              </a:ext>
            </a:extLst>
          </p:cNvPr>
          <p:cNvSpPr/>
          <p:nvPr/>
        </p:nvSpPr>
        <p:spPr>
          <a:xfrm>
            <a:off x="784150" y="3240408"/>
            <a:ext cx="8294066" cy="1688262"/>
          </a:xfrm>
          <a:prstGeom prst="rect">
            <a:avLst/>
          </a:prstGeom>
          <a:noFill/>
          <a:ln/>
        </p:spPr>
        <p:txBody>
          <a:bodyPr wrap="square" rtlCol="0" anchor="t"/>
          <a:lstStyle/>
          <a:p>
            <a:r>
              <a:rPr lang="en-US" sz="1000" b="1" kern="0" spc="200" noProof="0" dirty="0">
                <a:solidFill>
                  <a:srgbClr val="21295C"/>
                </a:solidFill>
              </a:rPr>
              <a:t>KEY FINDINGS</a:t>
            </a:r>
          </a:p>
          <a:p>
            <a:pPr lvl="0" eaLnBrk="0" fontAlgn="base" hangingPunct="0">
              <a:spcBef>
                <a:spcPct val="0"/>
              </a:spcBef>
              <a:spcAft>
                <a:spcPct val="0"/>
              </a:spcAft>
              <a:buFontTx/>
              <a:buChar char="•"/>
            </a:pPr>
            <a:r>
              <a:rPr lang="en-US" sz="1000" noProof="0" dirty="0">
                <a:solidFill>
                  <a:srgbClr val="64748B"/>
                </a:solidFill>
              </a:rPr>
              <a:t>MPC: Energy savings 17–53% vs. RBC or PI baselines; 10–15% cost savings at campus scale; dominant in offices and academic buildings; most common solver is QP (13/35 studies) </a:t>
            </a:r>
          </a:p>
          <a:p>
            <a:pPr lvl="0" eaLnBrk="0" fontAlgn="base" hangingPunct="0">
              <a:spcBef>
                <a:spcPct val="0"/>
              </a:spcBef>
              <a:spcAft>
                <a:spcPct val="0"/>
              </a:spcAft>
              <a:buFontTx/>
              <a:buChar char="•"/>
            </a:pPr>
            <a:r>
              <a:rPr lang="en-US" sz="1000" noProof="0" dirty="0">
                <a:solidFill>
                  <a:srgbClr val="64748B"/>
                </a:solidFill>
              </a:rPr>
              <a:t>ANN: CO₂ prediction within 5 min; temperature prediction error &lt;0.2°C; NILM disaggregation error &lt;12%; used mainly as forecasting/surrogate modules </a:t>
            </a:r>
          </a:p>
          <a:p>
            <a:pPr lvl="0" eaLnBrk="0" fontAlgn="base" hangingPunct="0">
              <a:spcBef>
                <a:spcPct val="0"/>
              </a:spcBef>
              <a:spcAft>
                <a:spcPct val="0"/>
              </a:spcAft>
              <a:buFontTx/>
              <a:buChar char="•"/>
            </a:pPr>
            <a:r>
              <a:rPr lang="en-US" sz="1000" noProof="0" dirty="0">
                <a:solidFill>
                  <a:srgbClr val="64748B"/>
                </a:solidFill>
              </a:rPr>
              <a:t>RL: 12.8–39.6% cost/energy savings; limited to single-zone or small multi-zone; offline pre-training + online fine-tuning is the standard deployment pattern </a:t>
            </a:r>
          </a:p>
          <a:p>
            <a:pPr lvl="0" eaLnBrk="0" fontAlgn="base" hangingPunct="0">
              <a:spcBef>
                <a:spcPct val="0"/>
              </a:spcBef>
              <a:spcAft>
                <a:spcPct val="0"/>
              </a:spcAft>
              <a:buFontTx/>
              <a:buChar char="•"/>
            </a:pPr>
            <a:r>
              <a:rPr lang="en-US" sz="1000" noProof="0" dirty="0">
                <a:solidFill>
                  <a:srgbClr val="64748B"/>
                </a:solidFill>
              </a:rPr>
              <a:t>FLC: 27–68% energy savings vs. on/off or PID; Mamdani type dominates (5/8 studies) </a:t>
            </a:r>
          </a:p>
          <a:p>
            <a:pPr lvl="0" eaLnBrk="0" fontAlgn="base" hangingPunct="0">
              <a:spcBef>
                <a:spcPct val="0"/>
              </a:spcBef>
              <a:spcAft>
                <a:spcPct val="0"/>
              </a:spcAft>
              <a:buFontTx/>
              <a:buChar char="•"/>
            </a:pPr>
            <a:r>
              <a:rPr lang="en-US" sz="1000" noProof="0" dirty="0">
                <a:solidFill>
                  <a:srgbClr val="64748B"/>
                </a:solidFill>
              </a:rPr>
              <a:t>Hybrid: 17–80% energy savings depending on baseline; best results in multi-energy setups </a:t>
            </a:r>
          </a:p>
          <a:p>
            <a:pPr lvl="0" eaLnBrk="0" fontAlgn="base" hangingPunct="0">
              <a:spcBef>
                <a:spcPct val="0"/>
              </a:spcBef>
              <a:spcAft>
                <a:spcPct val="0"/>
              </a:spcAft>
              <a:buFontTx/>
              <a:buChar char="•"/>
            </a:pPr>
            <a:r>
              <a:rPr lang="en-US" sz="1000" noProof="0" dirty="0">
                <a:solidFill>
                  <a:srgbClr val="64748B"/>
                </a:solidFill>
              </a:rPr>
              <a:t>Geography: 57% of studies in Europe, 22% in Asia, 15% in North America </a:t>
            </a:r>
          </a:p>
          <a:p>
            <a:pPr lvl="0" eaLnBrk="0" fontAlgn="base" hangingPunct="0">
              <a:spcBef>
                <a:spcPct val="0"/>
              </a:spcBef>
              <a:spcAft>
                <a:spcPct val="0"/>
              </a:spcAft>
              <a:buFontTx/>
              <a:buChar char="•"/>
            </a:pPr>
            <a:r>
              <a:rPr lang="en-US" sz="1000" noProof="0" dirty="0">
                <a:solidFill>
                  <a:srgbClr val="64748B"/>
                </a:solidFill>
              </a:rPr>
              <a:t>Building types: Office (27), Residential (19), Academic (17), Mixed-use (3), Other (9) </a:t>
            </a:r>
          </a:p>
          <a:p>
            <a:pPr lvl="0" eaLnBrk="0" fontAlgn="base" hangingPunct="0">
              <a:spcBef>
                <a:spcPct val="0"/>
              </a:spcBef>
              <a:spcAft>
                <a:spcPct val="0"/>
              </a:spcAft>
              <a:buFontTx/>
              <a:buChar char="•"/>
            </a:pPr>
            <a:r>
              <a:rPr lang="en-US" sz="1000" noProof="0" dirty="0">
                <a:solidFill>
                  <a:srgbClr val="64748B"/>
                </a:solidFill>
              </a:rPr>
              <a:t>Experimental duration: 48% short-term (&lt;15 days), 34% medium-term (16 days–6 months), 18% long-term (&gt;6 months) </a:t>
            </a:r>
          </a:p>
          <a:p>
            <a:pPr lvl="0" eaLnBrk="0" fontAlgn="base" hangingPunct="0">
              <a:spcBef>
                <a:spcPct val="0"/>
              </a:spcBef>
              <a:spcAft>
                <a:spcPct val="0"/>
              </a:spcAft>
              <a:buFontTx/>
              <a:buChar char="•"/>
            </a:pPr>
            <a:r>
              <a:rPr lang="en-US" sz="1000" noProof="0" dirty="0">
                <a:solidFill>
                  <a:srgbClr val="64748B"/>
                </a:solidFill>
              </a:rPr>
              <a:t>Zone scale: 58% single-zone, 38% multi-zone </a:t>
            </a:r>
          </a:p>
          <a:p>
            <a:pPr lvl="0" eaLnBrk="0" fontAlgn="base" hangingPunct="0">
              <a:spcBef>
                <a:spcPct val="0"/>
              </a:spcBef>
              <a:spcAft>
                <a:spcPct val="0"/>
              </a:spcAft>
              <a:buFontTx/>
              <a:buChar char="•"/>
            </a:pPr>
            <a:r>
              <a:rPr lang="en-US" sz="1000" noProof="0" dirty="0">
                <a:solidFill>
                  <a:srgbClr val="64748B"/>
                </a:solidFill>
              </a:rPr>
              <a:t>Control interface: 66% BMS/BAS integration, 22% IoT/Edge, 12% PLC </a:t>
            </a:r>
          </a:p>
        </p:txBody>
      </p:sp>
    </p:spTree>
    <p:extLst>
      <p:ext uri="{BB962C8B-B14F-4D97-AF65-F5344CB8AC3E}">
        <p14:creationId xmlns:p14="http://schemas.microsoft.com/office/powerpoint/2010/main" val="3405753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DA80F49-2787-5E5A-F962-F8C5998280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07DCF9-C33E-3F85-5C0D-1E2EABA325CD}"/>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89107D6A-FD49-7CDB-758D-056E58676105}"/>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#6</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6C85F7A3-CCF3-0873-978C-3BECEFB4B32E}"/>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2422D23D-C709-4B6F-4605-D533FC1E486A}"/>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5B81B512-4705-9D2B-E690-64291EE8C7E7}"/>
              </a:ext>
            </a:extLst>
          </p:cNvPr>
          <p:cNvSpPr/>
          <p:nvPr/>
        </p:nvSpPr>
        <p:spPr>
          <a:xfrm>
            <a:off x="784150" y="833120"/>
            <a:ext cx="8267752"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lvl="0" eaLnBrk="0" fontAlgn="base" hangingPunct="0">
              <a:spcBef>
                <a:spcPct val="0"/>
              </a:spcBef>
              <a:spcAft>
                <a:spcPct val="0"/>
              </a:spcAft>
            </a:pPr>
            <a:endParaRPr lang="en-US" sz="1000" noProof="0" dirty="0">
              <a:solidFill>
                <a:srgbClr val="64748B"/>
              </a:solidFill>
              <a:cs typeface="Arial" panose="020B0604020202020204" pitchFamily="34" charset="0"/>
            </a:endParaRP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Most deployments are in academic labs and office testbeds; residential and small commercial buildings are underrepresented.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RL is almost always single-zone; no real-world multi-agent RL (MARL) studies across multiple zones or buildings.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Long-term validation (multi-season, &gt;6 months) is rare for RL and ANN controllers.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No </a:t>
            </a:r>
            <a:r>
              <a:rPr lang="en-US" sz="1000" noProof="0" dirty="0" err="1">
                <a:solidFill>
                  <a:srgbClr val="64748B"/>
                </a:solidFill>
                <a:cs typeface="Arial" panose="020B0604020202020204" pitchFamily="34" charset="0"/>
              </a:rPr>
              <a:t>standardised</a:t>
            </a:r>
            <a:r>
              <a:rPr lang="en-US" sz="1000" noProof="0" dirty="0">
                <a:solidFill>
                  <a:srgbClr val="64748B"/>
                </a:solidFill>
                <a:cs typeface="Arial" panose="020B0604020202020204" pitchFamily="34" charset="0"/>
              </a:rPr>
              <a:t> experimental protocol or common baseline exists across studies (e.g., ASHRAE Guideline 36 used in only a few).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Cross-building transfer and automated commissioning (meta-learning, cold-start) have not been demonstrated in the field.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Digital-twin-to-field transfer pipelines (calibration, uncertainty quantification, adaptation phases) are not </a:t>
            </a:r>
            <a:r>
              <a:rPr lang="en-US" sz="1000" noProof="0" dirty="0" err="1">
                <a:solidFill>
                  <a:srgbClr val="64748B"/>
                </a:solidFill>
                <a:cs typeface="Arial" panose="020B0604020202020204" pitchFamily="34" charset="0"/>
              </a:rPr>
              <a:t>formalised</a:t>
            </a:r>
            <a:r>
              <a:rPr lang="en-US" sz="1000" noProof="0" dirty="0">
                <a:solidFill>
                  <a:srgbClr val="64748B"/>
                </a:solidFill>
                <a:cs typeface="Arial" panose="020B0604020202020204" pitchFamily="34" charset="0"/>
              </a:rPr>
              <a:t>.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Multi-building and district-scale deployments are rare; shared assets (TSS, ESS, EVCS) are not jointly </a:t>
            </a:r>
            <a:r>
              <a:rPr lang="en-US" sz="1000" noProof="0" dirty="0" err="1">
                <a:solidFill>
                  <a:srgbClr val="64748B"/>
                </a:solidFill>
                <a:cs typeface="Arial" panose="020B0604020202020204" pitchFamily="34" charset="0"/>
              </a:rPr>
              <a:t>optimised</a:t>
            </a:r>
            <a:r>
              <a:rPr lang="en-US" sz="1000" noProof="0" dirty="0">
                <a:solidFill>
                  <a:srgbClr val="64748B"/>
                </a:solidFill>
                <a:cs typeface="Arial" panose="020B0604020202020204" pitchFamily="34" charset="0"/>
              </a:rPr>
              <a:t> across buildings.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Multi-agent control frameworks (cooperative MPC, hierarchical, </a:t>
            </a:r>
            <a:r>
              <a:rPr lang="en-US" sz="1000" noProof="0" dirty="0" err="1">
                <a:solidFill>
                  <a:srgbClr val="64748B"/>
                </a:solidFill>
                <a:cs typeface="Arial" panose="020B0604020202020204" pitchFamily="34" charset="0"/>
              </a:rPr>
              <a:t>decentralised</a:t>
            </a:r>
            <a:r>
              <a:rPr lang="en-US" sz="1000" noProof="0" dirty="0">
                <a:solidFill>
                  <a:srgbClr val="64748B"/>
                </a:solidFill>
                <a:cs typeface="Arial" panose="020B0604020202020204" pitchFamily="34" charset="0"/>
              </a:rPr>
              <a:t>) remain prototype-level; no unified real-world validation exists.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Objective functions rely on weighted sums; multi-stakeholder, fairness-aware, or Pareto-based formulations are not tested in real buildings.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Human-in-the-loop integration (operator explanations, preference interfaces, trust dynamics) is minimal.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Edge–cloud architectures are not stress-tested for latency, communication failure, or cybersecurity incidents.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Privacy-preserving learning (federated learning) is mentioned but rarely deployed.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Metaheuristics (GA, PSO) are slow for real-time operation and appear mostly in hybrid day-ahead schedulers — standalone real-time use is not validated.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FLC rule bases scale poorly; no real-world FLC beyond 4 zones.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No studies cover tropical/Global South climates, cold-climate residential buildings at scale, or underserved sectors (social housing, small retail).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Performance metrics are inconsistent; energy savings, comfort, and IAQ are not always reported together, preventing cross-study comparison. </a:t>
            </a:r>
          </a:p>
          <a:p>
            <a:pPr lvl="0" eaLnBrk="0" fontAlgn="base" hangingPunct="0">
              <a:spcBef>
                <a:spcPct val="0"/>
              </a:spcBef>
              <a:spcAft>
                <a:spcPct val="0"/>
              </a:spcAft>
              <a:buFontTx/>
              <a:buChar char="•"/>
            </a:pPr>
            <a:r>
              <a:rPr lang="en-US" sz="1000" noProof="0" dirty="0">
                <a:solidFill>
                  <a:srgbClr val="64748B"/>
                </a:solidFill>
                <a:cs typeface="Arial" panose="020B0604020202020204" pitchFamily="34" charset="0"/>
              </a:rPr>
              <a:t>Mixed-use and large commercial buildings are underrepresented despite their energy impact. </a:t>
            </a:r>
          </a:p>
          <a:p>
            <a:endParaRPr lang="en-US" sz="1000" noProof="0" dirty="0">
              <a:solidFill>
                <a:srgbClr val="64748B"/>
              </a:solidFill>
            </a:endParaRPr>
          </a:p>
        </p:txBody>
      </p:sp>
    </p:spTree>
    <p:extLst>
      <p:ext uri="{BB962C8B-B14F-4D97-AF65-F5344CB8AC3E}">
        <p14:creationId xmlns:p14="http://schemas.microsoft.com/office/powerpoint/2010/main" val="20715043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0535F0-881C-B6E9-FC9A-62DC7E7661C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31E6ED-35DA-BBD2-7A61-F3A149B1CC10}"/>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F452C5A5-7DB5-3C1E-4AC7-FB295B6BB0A2}"/>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#7</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EE910C0D-F1B9-2944-1CE5-242129C026BB}"/>
              </a:ext>
            </a:extLst>
          </p:cNvPr>
          <p:cNvSpPr/>
          <p:nvPr/>
        </p:nvSpPr>
        <p:spPr>
          <a:xfrm>
            <a:off x="548640" y="825778"/>
            <a:ext cx="8046720" cy="457200"/>
          </a:xfrm>
          <a:prstGeom prst="rect">
            <a:avLst/>
          </a:prstGeom>
          <a:noFill/>
          <a:ln/>
        </p:spPr>
        <p:txBody>
          <a:bodyPr wrap="square" lIns="0" tIns="0" rIns="0" bIns="0" rtlCol="0" anchor="ctr"/>
          <a:lstStyle/>
          <a:p>
            <a:r>
              <a:rPr lang="en-US" noProof="0" dirty="0"/>
              <a:t>Predicting and Enhancing Indoor Environmental Quality in Educational Environments: Latest Trends in AI and Machine Learning Applications</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F2F2F304-35B0-FFF1-F141-0F5875543B3D}"/>
              </a:ext>
            </a:extLst>
          </p:cNvPr>
          <p:cNvSpPr/>
          <p:nvPr/>
        </p:nvSpPr>
        <p:spPr>
          <a:xfrm>
            <a:off x="545122" y="1355436"/>
            <a:ext cx="8046720" cy="274320"/>
          </a:xfrm>
          <a:prstGeom prst="rect">
            <a:avLst/>
          </a:prstGeom>
          <a:noFill/>
          <a:ln/>
        </p:spPr>
        <p:txBody>
          <a:bodyPr wrap="square" lIns="0" tIns="0" rIns="0" bIns="0" rtlCol="0" anchor="ctr"/>
          <a:lstStyle/>
          <a:p>
            <a:pPr marL="0" indent="0">
              <a:buNone/>
            </a:pPr>
            <a:r>
              <a:rPr lang="en-US" sz="1050" i="1" noProof="0" dirty="0">
                <a:solidFill>
                  <a:srgbClr val="64748B"/>
                </a:solidFill>
                <a:latin typeface="Calibri"/>
                <a:ea typeface="Calibri"/>
                <a:cs typeface="Calibri"/>
              </a:rPr>
              <a:t>Baru et al., 2025 — CIB Conferences, Vol. 1, Article 93 (Proc. 23rd CIB World Building Congress)</a:t>
            </a:r>
            <a:endParaRPr lang="en-US" sz="1050" noProof="0" dirty="0">
              <a:latin typeface="Calibri"/>
              <a:ea typeface="Calibri"/>
              <a:cs typeface="Calibri"/>
            </a:endParaRPr>
          </a:p>
        </p:txBody>
      </p:sp>
      <p:sp>
        <p:nvSpPr>
          <p:cNvPr id="6" name="Shape 4">
            <a:extLst>
              <a:ext uri="{FF2B5EF4-FFF2-40B4-BE49-F238E27FC236}">
                <a16:creationId xmlns:a16="http://schemas.microsoft.com/office/drawing/2014/main" id="{D1D95BA3-6BB7-D9A5-0698-9EBD77F21ACB}"/>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5CCF0056-0C9E-31B7-9BAC-6DE103E08EAF}"/>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BB1880D7-223E-E0E6-1CA9-99A4698B2186}"/>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pPr marL="228600" indent="-228600">
              <a:buFont typeface="+mj-lt"/>
              <a:buAutoNum type="arabicPeriod"/>
            </a:pPr>
            <a:r>
              <a:rPr lang="en-US" sz="1000" noProof="0" dirty="0">
                <a:solidFill>
                  <a:srgbClr val="64748B"/>
                </a:solidFill>
              </a:rPr>
              <a:t>What IEQ factors are measured in university buildings, and why?</a:t>
            </a:r>
          </a:p>
          <a:p>
            <a:pPr marL="228600" indent="-228600">
              <a:buFont typeface="+mj-lt"/>
              <a:buAutoNum type="arabicPeriod"/>
            </a:pPr>
            <a:r>
              <a:rPr lang="en-US" sz="1000" noProof="0" dirty="0">
                <a:solidFill>
                  <a:srgbClr val="64748B"/>
                </a:solidFill>
              </a:rPr>
              <a:t>What IoT sensors are used, and how is their data managed?</a:t>
            </a:r>
          </a:p>
          <a:p>
            <a:pPr marL="228600" indent="-228600">
              <a:buFont typeface="+mj-lt"/>
              <a:buAutoNum type="arabicPeriod"/>
            </a:pPr>
            <a:r>
              <a:rPr lang="en-US" sz="1000" noProof="0" dirty="0">
                <a:solidFill>
                  <a:srgbClr val="64748B"/>
                </a:solidFill>
              </a:rPr>
              <a:t>What ML models are used for occupant comfort prediction?</a:t>
            </a:r>
          </a:p>
        </p:txBody>
      </p:sp>
      <p:sp>
        <p:nvSpPr>
          <p:cNvPr id="24" name="Shape 22">
            <a:extLst>
              <a:ext uri="{FF2B5EF4-FFF2-40B4-BE49-F238E27FC236}">
                <a16:creationId xmlns:a16="http://schemas.microsoft.com/office/drawing/2014/main" id="{0040F2F1-B1B6-26AF-B73B-ED0B2F6E8AD6}"/>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E944A810-9549-A253-DD13-CB9592B61EB8}"/>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1691F7CD-92C4-957D-E097-2917D935C136}"/>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systematic review covers AI and ML applications for monitoring and improving indoor environmental quality (IEQ) in university buildings. 20 articles (2021–2024) were selected via PRISMA from Scopus. Air quality is the most studied IEQ factor (35%), followed by thermal comfort (25%) and visual comfort (15%). Deep learning accounts for 56% of ML algorithms used. Acoustic comfort has no ML coverage in the reviewed literature.</a:t>
            </a:r>
            <a:endParaRPr lang="en-US" sz="1000" noProof="0" dirty="0"/>
          </a:p>
        </p:txBody>
      </p:sp>
    </p:spTree>
    <p:extLst>
      <p:ext uri="{BB962C8B-B14F-4D97-AF65-F5344CB8AC3E}">
        <p14:creationId xmlns:p14="http://schemas.microsoft.com/office/powerpoint/2010/main" val="498978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6DD1C5-8366-3085-F7C5-5D5CC128FCF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5E7DCB3-046B-30DB-131F-723371BC256C}"/>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BB6420A7-5B4A-2B00-C945-42305878C63A}"/>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#7</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4F65D64C-54F2-3B6B-5BEC-449F1F5B5402}"/>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C7EDC11A-BD73-F573-27F3-3F928D6A8CAF}"/>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9719B512-F290-54EF-96D9-6DCEF5C129BA}"/>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Studies included: 20 (from 110 initial records)</a:t>
            </a:r>
          </a:p>
          <a:p>
            <a:pPr marL="171450" indent="-171450">
              <a:buFont typeface="Arial" panose="020B0604020202020204" pitchFamily="34" charset="0"/>
              <a:buChar char="•"/>
            </a:pPr>
            <a:r>
              <a:rPr lang="en-US" sz="1000" noProof="0" dirty="0">
                <a:solidFill>
                  <a:srgbClr val="64748B"/>
                </a:solidFill>
              </a:rPr>
              <a:t>Screening: Title → abstract → full text (3 stages)</a:t>
            </a:r>
          </a:p>
          <a:p>
            <a:pPr marL="171450" indent="-171450">
              <a:buFont typeface="Arial" panose="020B0604020202020204" pitchFamily="34" charset="0"/>
              <a:buChar char="•"/>
            </a:pPr>
            <a:r>
              <a:rPr lang="en-US" sz="1000" noProof="0" dirty="0">
                <a:solidFill>
                  <a:srgbClr val="64748B"/>
                </a:solidFill>
              </a:rPr>
              <a:t>Inclusion criteria: University buildings; at least one IEQ factor; AI/ML model used; English; 2021–2024</a:t>
            </a:r>
          </a:p>
          <a:p>
            <a:pPr marL="171450" indent="-171450">
              <a:buFont typeface="Arial" panose="020B0604020202020204" pitchFamily="34" charset="0"/>
              <a:buChar char="•"/>
            </a:pPr>
            <a:r>
              <a:rPr lang="en-US" sz="1000" noProof="0" dirty="0">
                <a:solidFill>
                  <a:srgbClr val="64748B"/>
                </a:solidFill>
              </a:rPr>
              <a:t>Time period: 2021–2024 (post-COVID-19 focus)</a:t>
            </a:r>
            <a:endParaRPr lang="en-US" sz="1000" noProof="0" dirty="0"/>
          </a:p>
        </p:txBody>
      </p:sp>
      <p:sp>
        <p:nvSpPr>
          <p:cNvPr id="12" name="Shape 10">
            <a:extLst>
              <a:ext uri="{FF2B5EF4-FFF2-40B4-BE49-F238E27FC236}">
                <a16:creationId xmlns:a16="http://schemas.microsoft.com/office/drawing/2014/main" id="{72564145-AD27-C197-D7EE-1B56A3831583}"/>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6F08055A-FD0E-9219-3EBC-FC4BF4DBD5D9}"/>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E77B0443-C61A-C0E5-10BB-39C38BE391FD}"/>
              </a:ext>
            </a:extLst>
          </p:cNvPr>
          <p:cNvSpPr/>
          <p:nvPr/>
        </p:nvSpPr>
        <p:spPr>
          <a:xfrm>
            <a:off x="4937760" y="911352"/>
            <a:ext cx="3550104" cy="2070405"/>
          </a:xfrm>
          <a:prstGeom prst="rect">
            <a:avLst/>
          </a:prstGeom>
          <a:noFill/>
          <a:ln/>
        </p:spPr>
        <p:txBody>
          <a:bodyPr wrap="square" rtlCol="0" anchor="t"/>
          <a:lstStyle/>
          <a:p>
            <a:r>
              <a:rPr lang="en-US" sz="1000" b="1" kern="0" spc="200" noProof="0" dirty="0">
                <a:solidFill>
                  <a:srgbClr val="065A82"/>
                </a:solidFill>
              </a:rPr>
              <a:t>TAXONOMY / METHODS COVERED</a:t>
            </a:r>
          </a:p>
          <a:p>
            <a:r>
              <a:rPr lang="en-US" sz="1000" b="1" noProof="0" dirty="0"/>
              <a:t>IEQ factors:</a:t>
            </a:r>
            <a:r>
              <a:rPr lang="en-US" sz="1000" noProof="0" dirty="0"/>
              <a:t> Air quality, thermal comfort, visual comfort, acoustic comfort (gap), holistic IEQ</a:t>
            </a:r>
          </a:p>
          <a:p>
            <a:r>
              <a:rPr lang="en-US" sz="1000" b="1" noProof="0" dirty="0"/>
              <a:t>ML model types:</a:t>
            </a:r>
            <a:endParaRPr lang="en-US" sz="1000" noProof="0" dirty="0"/>
          </a:p>
          <a:p>
            <a:r>
              <a:rPr lang="en-US" sz="1000" noProof="0" dirty="0"/>
              <a:t>Deep learning: ANN, LSTM, YOLO, CNN, Multilayer Perceptron, GAN, EDA, RF-TPE-LSTM hybrid</a:t>
            </a:r>
          </a:p>
          <a:p>
            <a:r>
              <a:rPr lang="en-US" sz="1000" noProof="0" dirty="0"/>
              <a:t>Traditional supervised: </a:t>
            </a:r>
            <a:r>
              <a:rPr lang="en-US" sz="1000" noProof="0" dirty="0" err="1"/>
              <a:t>XGBoost</a:t>
            </a:r>
            <a:r>
              <a:rPr lang="en-US" sz="1000" noProof="0" dirty="0"/>
              <a:t>, Random Forest, SVM, LSSVM, K-NN, Decision Tree</a:t>
            </a:r>
          </a:p>
          <a:p>
            <a:r>
              <a:rPr lang="en-US" sz="1000" noProof="0" dirty="0"/>
              <a:t>Unsupervised: DTW clustering, PCA, Kriging interpolation</a:t>
            </a:r>
          </a:p>
          <a:p>
            <a:r>
              <a:rPr lang="en-US" sz="1000" noProof="0" dirty="0"/>
              <a:t>Reinforcement learning: Q-Learning, BRANN + Q-Learning hybrid</a:t>
            </a:r>
          </a:p>
          <a:p>
            <a:r>
              <a:rPr lang="en-US" sz="1000" b="1" noProof="0" dirty="0"/>
              <a:t>IoT sensors:</a:t>
            </a:r>
            <a:r>
              <a:rPr lang="en-US" sz="1000" noProof="0" dirty="0"/>
              <a:t> Air quality, temperature/humidity, light, wearable, occupancy detection, multi-sensor</a:t>
            </a:r>
          </a:p>
          <a:p>
            <a:r>
              <a:rPr lang="en-US" sz="1000" b="1" noProof="0" dirty="0"/>
              <a:t>Data management:</a:t>
            </a:r>
            <a:r>
              <a:rPr lang="en-US" sz="1000" noProof="0" dirty="0"/>
              <a:t> Cloud computing (60% of studies), hybrid </a:t>
            </a:r>
            <a:r>
              <a:rPr lang="en-US" sz="1000" noProof="0" dirty="0" err="1"/>
              <a:t>edge+cloud</a:t>
            </a:r>
            <a:r>
              <a:rPr lang="en-US" sz="1000" noProof="0" dirty="0"/>
              <a:t> (40%)</a:t>
            </a:r>
          </a:p>
        </p:txBody>
      </p:sp>
      <p:sp>
        <p:nvSpPr>
          <p:cNvPr id="15" name="Shape 13">
            <a:extLst>
              <a:ext uri="{FF2B5EF4-FFF2-40B4-BE49-F238E27FC236}">
                <a16:creationId xmlns:a16="http://schemas.microsoft.com/office/drawing/2014/main" id="{72BE3567-A1D6-F7FF-40EE-E85A114BBACA}"/>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ED53A240-C0A4-5BC7-F46C-F72C9CCA518F}"/>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D33E339F-0BCD-A3F0-C469-AF71AA304BB4}"/>
              </a:ext>
            </a:extLst>
          </p:cNvPr>
          <p:cNvSpPr/>
          <p:nvPr/>
        </p:nvSpPr>
        <p:spPr>
          <a:xfrm>
            <a:off x="784150" y="3240408"/>
            <a:ext cx="8294066" cy="1688262"/>
          </a:xfrm>
          <a:prstGeom prst="rect">
            <a:avLst/>
          </a:prstGeom>
          <a:noFill/>
          <a:ln/>
        </p:spPr>
        <p:txBody>
          <a:bodyPr wrap="square" rtlCol="0" anchor="t"/>
          <a:lstStyle/>
          <a:p>
            <a:r>
              <a:rPr lang="en-US" sz="1000" b="1" kern="0" spc="200" noProof="0" dirty="0">
                <a:solidFill>
                  <a:srgbClr val="21295C"/>
                </a:solidFill>
              </a:rPr>
              <a:t>KEY FINDINGS</a:t>
            </a:r>
          </a:p>
          <a:p>
            <a:pPr lvl="0" eaLnBrk="0" fontAlgn="base" hangingPunct="0">
              <a:spcBef>
                <a:spcPct val="0"/>
              </a:spcBef>
              <a:spcAft>
                <a:spcPct val="0"/>
              </a:spcAft>
              <a:buFontTx/>
              <a:buChar char="•"/>
            </a:pPr>
            <a:r>
              <a:rPr lang="en-US" sz="1000" noProof="0" dirty="0">
                <a:solidFill>
                  <a:srgbClr val="64748B"/>
                </a:solidFill>
              </a:rPr>
              <a:t>Air quality: most studied (35% of articles); 7 articles focused exclusively on it </a:t>
            </a:r>
          </a:p>
          <a:p>
            <a:pPr lvl="0" eaLnBrk="0" fontAlgn="base" hangingPunct="0">
              <a:spcBef>
                <a:spcPct val="0"/>
              </a:spcBef>
              <a:spcAft>
                <a:spcPct val="0"/>
              </a:spcAft>
              <a:buFontTx/>
              <a:buChar char="•"/>
            </a:pPr>
            <a:r>
              <a:rPr lang="en-US" sz="1000" noProof="0" dirty="0">
                <a:solidFill>
                  <a:srgbClr val="64748B"/>
                </a:solidFill>
              </a:rPr>
              <a:t>Thermal comfort: 25% of articles; temperature and humidity sensors used in 55% of all studies </a:t>
            </a:r>
          </a:p>
          <a:p>
            <a:pPr lvl="0" eaLnBrk="0" fontAlgn="base" hangingPunct="0">
              <a:spcBef>
                <a:spcPct val="0"/>
              </a:spcBef>
              <a:spcAft>
                <a:spcPct val="0"/>
              </a:spcAft>
              <a:buFontTx/>
              <a:buChar char="•"/>
            </a:pPr>
            <a:r>
              <a:rPr lang="en-US" sz="1000" noProof="0" dirty="0">
                <a:solidFill>
                  <a:srgbClr val="64748B"/>
                </a:solidFill>
              </a:rPr>
              <a:t>Visual comfort: 15% of articles </a:t>
            </a:r>
          </a:p>
          <a:p>
            <a:pPr lvl="0" eaLnBrk="0" fontAlgn="base" hangingPunct="0">
              <a:spcBef>
                <a:spcPct val="0"/>
              </a:spcBef>
              <a:spcAft>
                <a:spcPct val="0"/>
              </a:spcAft>
              <a:buFontTx/>
              <a:buChar char="•"/>
            </a:pPr>
            <a:r>
              <a:rPr lang="en-US" sz="1000" noProof="0" dirty="0">
                <a:solidFill>
                  <a:srgbClr val="64748B"/>
                </a:solidFill>
              </a:rPr>
              <a:t>Acoustic comfort: 0 articles — clear gap </a:t>
            </a:r>
          </a:p>
          <a:p>
            <a:pPr lvl="0" eaLnBrk="0" fontAlgn="base" hangingPunct="0">
              <a:spcBef>
                <a:spcPct val="0"/>
              </a:spcBef>
              <a:spcAft>
                <a:spcPct val="0"/>
              </a:spcAft>
              <a:buFontTx/>
              <a:buChar char="•"/>
            </a:pPr>
            <a:r>
              <a:rPr lang="en-US" sz="1000" noProof="0" dirty="0">
                <a:solidFill>
                  <a:srgbClr val="64748B"/>
                </a:solidFill>
              </a:rPr>
              <a:t>Holistic IEQ (multiple factors): 25% of articles </a:t>
            </a:r>
          </a:p>
          <a:p>
            <a:pPr lvl="0" eaLnBrk="0" fontAlgn="base" hangingPunct="0">
              <a:spcBef>
                <a:spcPct val="0"/>
              </a:spcBef>
              <a:spcAft>
                <a:spcPct val="0"/>
              </a:spcAft>
              <a:buFontTx/>
              <a:buChar char="•"/>
            </a:pPr>
            <a:r>
              <a:rPr lang="en-US" sz="1000" noProof="0" dirty="0">
                <a:solidFill>
                  <a:srgbClr val="64748B"/>
                </a:solidFill>
              </a:rPr>
              <a:t>Deep learning models: 56% of all ML algorithms used; ANN, LSTM, YOLO most common </a:t>
            </a:r>
          </a:p>
          <a:p>
            <a:pPr lvl="0" eaLnBrk="0" fontAlgn="base" hangingPunct="0">
              <a:spcBef>
                <a:spcPct val="0"/>
              </a:spcBef>
              <a:spcAft>
                <a:spcPct val="0"/>
              </a:spcAft>
              <a:buFontTx/>
              <a:buChar char="•"/>
            </a:pPr>
            <a:r>
              <a:rPr lang="en-US" sz="1000" noProof="0" dirty="0">
                <a:solidFill>
                  <a:srgbClr val="64748B"/>
                </a:solidFill>
              </a:rPr>
              <a:t>Traditional ML: 46% of algorithms; </a:t>
            </a:r>
            <a:r>
              <a:rPr lang="en-US" sz="1000" noProof="0" dirty="0" err="1">
                <a:solidFill>
                  <a:srgbClr val="64748B"/>
                </a:solidFill>
              </a:rPr>
              <a:t>XGBoost</a:t>
            </a:r>
            <a:r>
              <a:rPr lang="en-US" sz="1000" noProof="0" dirty="0">
                <a:solidFill>
                  <a:srgbClr val="64748B"/>
                </a:solidFill>
              </a:rPr>
              <a:t> most common </a:t>
            </a:r>
          </a:p>
          <a:p>
            <a:pPr lvl="0" eaLnBrk="0" fontAlgn="base" hangingPunct="0">
              <a:spcBef>
                <a:spcPct val="0"/>
              </a:spcBef>
              <a:spcAft>
                <a:spcPct val="0"/>
              </a:spcAft>
              <a:buFontTx/>
              <a:buChar char="•"/>
            </a:pPr>
            <a:r>
              <a:rPr lang="en-US" sz="1000" noProof="0" dirty="0">
                <a:solidFill>
                  <a:srgbClr val="64748B"/>
                </a:solidFill>
              </a:rPr>
              <a:t>Reinforcement learning: used in 1 article only (Haifeng et al. 2024) </a:t>
            </a:r>
          </a:p>
          <a:p>
            <a:pPr lvl="0" eaLnBrk="0" fontAlgn="base" hangingPunct="0">
              <a:spcBef>
                <a:spcPct val="0"/>
              </a:spcBef>
              <a:spcAft>
                <a:spcPct val="0"/>
              </a:spcAft>
              <a:buFontTx/>
              <a:buChar char="•"/>
            </a:pPr>
            <a:r>
              <a:rPr lang="en-US" sz="1000" noProof="0" dirty="0">
                <a:solidFill>
                  <a:srgbClr val="64748B"/>
                </a:solidFill>
              </a:rPr>
              <a:t>Best reported accuracy: </a:t>
            </a:r>
            <a:r>
              <a:rPr lang="en-US" sz="1000" noProof="0" dirty="0" err="1">
                <a:solidFill>
                  <a:srgbClr val="64748B"/>
                </a:solidFill>
              </a:rPr>
              <a:t>XGBoost</a:t>
            </a:r>
            <a:r>
              <a:rPr lang="en-US" sz="1000" noProof="0" dirty="0">
                <a:solidFill>
                  <a:srgbClr val="64748B"/>
                </a:solidFill>
              </a:rPr>
              <a:t> at R²=95% (Stojic et al. 2022); </a:t>
            </a:r>
            <a:r>
              <a:rPr lang="en-US" sz="1000" noProof="0" dirty="0" err="1">
                <a:solidFill>
                  <a:srgbClr val="64748B"/>
                </a:solidFill>
              </a:rPr>
              <a:t>XGBoost</a:t>
            </a:r>
            <a:r>
              <a:rPr lang="en-US" sz="1000" noProof="0" dirty="0">
                <a:solidFill>
                  <a:srgbClr val="64748B"/>
                </a:solidFill>
              </a:rPr>
              <a:t> at R²=92.2% (</a:t>
            </a:r>
            <a:r>
              <a:rPr lang="en-US" sz="1000" noProof="0" dirty="0" err="1">
                <a:solidFill>
                  <a:srgbClr val="64748B"/>
                </a:solidFill>
              </a:rPr>
              <a:t>Deepaisarn</a:t>
            </a:r>
            <a:r>
              <a:rPr lang="en-US" sz="1000" noProof="0" dirty="0">
                <a:solidFill>
                  <a:srgbClr val="64748B"/>
                </a:solidFill>
              </a:rPr>
              <a:t> et al. 2023); LSTM at R²=79% (</a:t>
            </a:r>
            <a:r>
              <a:rPr lang="en-US" sz="1000" noProof="0" dirty="0" err="1">
                <a:solidFill>
                  <a:srgbClr val="64748B"/>
                </a:solidFill>
              </a:rPr>
              <a:t>Dudkina</a:t>
            </a:r>
            <a:r>
              <a:rPr lang="en-US" sz="1000" noProof="0" dirty="0">
                <a:solidFill>
                  <a:srgbClr val="64748B"/>
                </a:solidFill>
              </a:rPr>
              <a:t> et al. 2023) </a:t>
            </a:r>
          </a:p>
          <a:p>
            <a:pPr lvl="0" eaLnBrk="0" fontAlgn="base" hangingPunct="0">
              <a:spcBef>
                <a:spcPct val="0"/>
              </a:spcBef>
              <a:spcAft>
                <a:spcPct val="0"/>
              </a:spcAft>
              <a:buFontTx/>
              <a:buChar char="•"/>
            </a:pPr>
            <a:r>
              <a:rPr lang="en-US" sz="1000" noProof="0" dirty="0">
                <a:solidFill>
                  <a:srgbClr val="64748B"/>
                </a:solidFill>
              </a:rPr>
              <a:t>Cloud computing: 60% of studies; hybrid computing: 40% </a:t>
            </a:r>
          </a:p>
        </p:txBody>
      </p:sp>
    </p:spTree>
    <p:extLst>
      <p:ext uri="{BB962C8B-B14F-4D97-AF65-F5344CB8AC3E}">
        <p14:creationId xmlns:p14="http://schemas.microsoft.com/office/powerpoint/2010/main" val="2412329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49A6783-0968-D591-0CFA-3DD6E16795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5AD15F-F629-7A0E-3707-37E8E105348C}"/>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90DFC207-3EF8-21C5-66A8-CE228FDCB672}"/>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#7</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E2F0FFA0-4B54-70FA-7037-7E77FEDE5136}"/>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A35E07AC-4121-4AB6-2CBB-B0FDFB81246A}"/>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25E80C0F-CEFD-7874-A75B-945091423AB3}"/>
              </a:ext>
            </a:extLst>
          </p:cNvPr>
          <p:cNvSpPr/>
          <p:nvPr/>
        </p:nvSpPr>
        <p:spPr>
          <a:xfrm>
            <a:off x="784150" y="833120"/>
            <a:ext cx="8267752"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marL="171450" lvl="0" indent="-171450" eaLnBrk="0" fontAlgn="base" hangingPunct="0">
              <a:spcBef>
                <a:spcPct val="0"/>
              </a:spcBef>
              <a:spcAft>
                <a:spcPct val="0"/>
              </a:spcAft>
              <a:buFont typeface="Arial" panose="020B0604020202020204" pitchFamily="34" charset="0"/>
              <a:buChar char="•"/>
            </a:pPr>
            <a:endParaRPr lang="en-US" sz="1000" noProof="0" dirty="0">
              <a:solidFill>
                <a:srgbClr val="64748B"/>
              </a:solidFill>
              <a:cs typeface="Arial" panose="020B0604020202020204" pitchFamily="34" charset="0"/>
            </a:endParaRP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Acoustic comfort — no ML-based study addresses it. Confirmed by Zhang et al. 2024.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Occupant feedback — not included in any multifactorial IEQ ML model.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Comfort perception models — current models do not accurately predict subjective occupant comfort.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Open-access datasets — none exist for cross-building benchmarking and model validation.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Model </a:t>
            </a:r>
            <a:r>
              <a:rPr lang="en-US" sz="1000" noProof="0" dirty="0" err="1">
                <a:solidFill>
                  <a:srgbClr val="64748B"/>
                </a:solidFill>
                <a:cs typeface="Arial" panose="020B0604020202020204" pitchFamily="34" charset="0"/>
              </a:rPr>
              <a:t>generalisability</a:t>
            </a:r>
            <a:r>
              <a:rPr lang="en-US" sz="1000" noProof="0" dirty="0">
                <a:solidFill>
                  <a:srgbClr val="64748B"/>
                </a:solidFill>
                <a:cs typeface="Arial" panose="020B0604020202020204" pitchFamily="34" charset="0"/>
              </a:rPr>
              <a:t> — no validated models across different building types, climates, or spatial configurations.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Hybrid/ensemble ML — underused; needed for handling dynamic, real-time multi-factor data.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Reinforcement learning — only 1 of 20 studies used it; needs further development for real-time IEQ </a:t>
            </a:r>
            <a:r>
              <a:rPr lang="en-US" sz="1000" noProof="0" dirty="0" err="1">
                <a:solidFill>
                  <a:srgbClr val="64748B"/>
                </a:solidFill>
                <a:cs typeface="Arial" panose="020B0604020202020204" pitchFamily="34" charset="0"/>
              </a:rPr>
              <a:t>optimisation</a:t>
            </a:r>
            <a:r>
              <a:rPr lang="en-US" sz="1000" noProof="0" dirty="0">
                <a:solidFill>
                  <a:srgbClr val="64748B"/>
                </a:solidFill>
                <a:cs typeface="Arial" panose="020B0604020202020204" pitchFamily="34" charset="0"/>
              </a:rPr>
              <a:t>.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Ventilation–thermal interaction — no model jointly </a:t>
            </a:r>
            <a:r>
              <a:rPr lang="en-US" sz="1000" noProof="0" dirty="0" err="1">
                <a:solidFill>
                  <a:srgbClr val="64748B"/>
                </a:solidFill>
                <a:cs typeface="Arial" panose="020B0604020202020204" pitchFamily="34" charset="0"/>
              </a:rPr>
              <a:t>optimises</a:t>
            </a:r>
            <a:r>
              <a:rPr lang="en-US" sz="1000" noProof="0" dirty="0">
                <a:solidFill>
                  <a:srgbClr val="64748B"/>
                </a:solidFill>
                <a:cs typeface="Arial" panose="020B0604020202020204" pitchFamily="34" charset="0"/>
              </a:rPr>
              <a:t> air quality and thermal comfort despite known tradeoffs.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Wearable sensors — used in only 1 study (Shi et al. 2023); physiological data is largely untapped.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K-12 schools — excluded by design; findings do not transfer to primary/secondary education.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Pre-2021 literature — excluded; historical trends in ML-IEQ not captured.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Single database — Scopus only; studies in IEEE Xplore, Web of Science, PubMed may be missing.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Language bias — non-English studies excluded. </a:t>
            </a:r>
          </a:p>
          <a:p>
            <a:pPr marL="171450" marR="0" indent="-171450" eaLnBrk="0" fontAlgn="base" hangingPunct="0">
              <a:lnSpc>
                <a:spcPct val="100000"/>
              </a:lnSpc>
              <a:spcBef>
                <a:spcPct val="0"/>
              </a:spcBef>
              <a:spcAft>
                <a:spcPct val="0"/>
              </a:spcAft>
              <a:buClrTx/>
              <a:buSzTx/>
              <a:buFont typeface="Arial" panose="020B0604020202020204" pitchFamily="34" charset="0"/>
              <a:buChar char="•"/>
              <a:tabLst/>
            </a:pPr>
            <a:r>
              <a:rPr lang="en-US" sz="1000" noProof="0" dirty="0">
                <a:solidFill>
                  <a:srgbClr val="64748B"/>
                </a:solidFill>
                <a:cs typeface="Arial" panose="020B0604020202020204" pitchFamily="34" charset="0"/>
              </a:rPr>
              <a:t>Small sample — 20 articles; conclusions have limited </a:t>
            </a:r>
            <a:r>
              <a:rPr lang="en-US" sz="1000" noProof="0" dirty="0" err="1">
                <a:solidFill>
                  <a:srgbClr val="64748B"/>
                </a:solidFill>
                <a:cs typeface="Arial" panose="020B0604020202020204" pitchFamily="34" charset="0"/>
              </a:rPr>
              <a:t>generalisability</a:t>
            </a:r>
            <a:r>
              <a:rPr lang="en-US" sz="1000" noProof="0" dirty="0">
                <a:solidFill>
                  <a:srgbClr val="64748B"/>
                </a:solidFill>
                <a:cs typeface="Arial" panose="020B0604020202020204" pitchFamily="34" charset="0"/>
              </a:rPr>
              <a:t>. </a:t>
            </a:r>
          </a:p>
          <a:p>
            <a:endParaRPr lang="en-US" sz="1000" noProof="0" dirty="0">
              <a:solidFill>
                <a:srgbClr val="64748B"/>
              </a:solidFill>
            </a:endParaRPr>
          </a:p>
        </p:txBody>
      </p:sp>
    </p:spTree>
    <p:extLst>
      <p:ext uri="{BB962C8B-B14F-4D97-AF65-F5344CB8AC3E}">
        <p14:creationId xmlns:p14="http://schemas.microsoft.com/office/powerpoint/2010/main" val="32595521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C39BDA-357F-B3FC-5CCF-BE98C7E58D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75646E-6F95-0B80-B418-17F97F6E4B1D}"/>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BAE0DF2A-BCD5-31C2-7817-F8A2BB8C376B}"/>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#8</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91F4D8E3-1AA3-6727-D636-20853094E5E0}"/>
              </a:ext>
            </a:extLst>
          </p:cNvPr>
          <p:cNvSpPr/>
          <p:nvPr/>
        </p:nvSpPr>
        <p:spPr>
          <a:xfrm>
            <a:off x="548640" y="825778"/>
            <a:ext cx="8046720" cy="457200"/>
          </a:xfrm>
          <a:prstGeom prst="rect">
            <a:avLst/>
          </a:prstGeom>
          <a:noFill/>
          <a:ln/>
        </p:spPr>
        <p:txBody>
          <a:bodyPr wrap="square" lIns="0" tIns="0" rIns="0" bIns="0" rtlCol="0" anchor="ctr"/>
          <a:lstStyle/>
          <a:p>
            <a:r>
              <a:rPr lang="en-US" noProof="0" dirty="0"/>
              <a:t>Machine learning in building energy management: A critical review and future directions</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E7DFF3D7-105E-1740-D315-97041C05666D}"/>
              </a:ext>
            </a:extLst>
          </p:cNvPr>
          <p:cNvSpPr/>
          <p:nvPr/>
        </p:nvSpPr>
        <p:spPr>
          <a:xfrm>
            <a:off x="545122" y="1355436"/>
            <a:ext cx="8046720" cy="274320"/>
          </a:xfrm>
          <a:prstGeom prst="rect">
            <a:avLst/>
          </a:prstGeom>
          <a:noFill/>
          <a:ln/>
        </p:spPr>
        <p:txBody>
          <a:bodyPr wrap="square" lIns="0" tIns="0" rIns="0" bIns="0" rtlCol="0" anchor="ctr"/>
          <a:lstStyle/>
          <a:p>
            <a:r>
              <a:rPr lang="en-US" sz="1050" i="1" noProof="0" dirty="0">
                <a:solidFill>
                  <a:srgbClr val="64748B"/>
                </a:solidFill>
                <a:latin typeface="Calibri"/>
                <a:ea typeface="Calibri"/>
                <a:cs typeface="Calibri"/>
              </a:rPr>
              <a:t>Shi et al., 2022, Frontiers of Engineering Management, 9(2): 239–256</a:t>
            </a:r>
          </a:p>
        </p:txBody>
      </p:sp>
      <p:sp>
        <p:nvSpPr>
          <p:cNvPr id="6" name="Shape 4">
            <a:extLst>
              <a:ext uri="{FF2B5EF4-FFF2-40B4-BE49-F238E27FC236}">
                <a16:creationId xmlns:a16="http://schemas.microsoft.com/office/drawing/2014/main" id="{E6ECF8DC-D996-052B-DFAF-4877FA89C726}"/>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F8704C76-9247-A5C8-D5EE-47DDC20FDC75}"/>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F2A2843D-58FC-A1FA-1198-10E6810B2F40}"/>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pPr marL="228600" indent="-228600">
              <a:buFont typeface="+mj-lt"/>
              <a:buAutoNum type="arabicPeriod"/>
            </a:pPr>
            <a:r>
              <a:rPr lang="en-US" sz="1000" noProof="0" dirty="0">
                <a:solidFill>
                  <a:srgbClr val="64748B"/>
                </a:solidFill>
              </a:rPr>
              <a:t>How do ML methods redefine the scope of BEM across the building lifecycle?</a:t>
            </a:r>
          </a:p>
          <a:p>
            <a:pPr marL="228600" indent="-228600">
              <a:buFont typeface="+mj-lt"/>
              <a:buAutoNum type="arabicPeriod"/>
            </a:pPr>
            <a:r>
              <a:rPr lang="en-US" sz="1000" noProof="0" dirty="0">
                <a:solidFill>
                  <a:srgbClr val="64748B"/>
                </a:solidFill>
              </a:rPr>
              <a:t>What integrated framework describes the current ML-BEM knowledge domain?</a:t>
            </a:r>
          </a:p>
          <a:p>
            <a:pPr marL="228600" indent="-228600">
              <a:buFont typeface="+mj-lt"/>
              <a:buAutoNum type="arabicPeriod"/>
            </a:pPr>
            <a:r>
              <a:rPr lang="en-US" sz="1000" noProof="0" dirty="0">
                <a:solidFill>
                  <a:srgbClr val="64748B"/>
                </a:solidFill>
              </a:rPr>
              <a:t>How has ML-BEM evolved, and where is it heading?</a:t>
            </a:r>
          </a:p>
        </p:txBody>
      </p:sp>
      <p:sp>
        <p:nvSpPr>
          <p:cNvPr id="24" name="Shape 22">
            <a:extLst>
              <a:ext uri="{FF2B5EF4-FFF2-40B4-BE49-F238E27FC236}">
                <a16:creationId xmlns:a16="http://schemas.microsoft.com/office/drawing/2014/main" id="{5DD72741-48EC-7111-A189-B301923A84F6}"/>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45D9B7F2-1C39-F665-9A75-1E7B9A7FB731}"/>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CB42F255-C744-1C9F-EE4B-792F344F6A32}"/>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review maps machine learning (ML) applications across the full building energy management (BEM) lifecycle. It covers 387 peer-reviewed papers from 1998–2020 retrieved from Web of Science. The authors propose a four-layer framework (perception, data, algorithm, application) and use the Gartner hype cycle to track how ML-BEM has evolved. Five future research directions are identified. The field is growing fast, but most work is still predictive — diagnostic and lifecycle-wide applications are underrepresented.</a:t>
            </a:r>
            <a:endParaRPr lang="en-US" sz="1000" noProof="0" dirty="0"/>
          </a:p>
        </p:txBody>
      </p:sp>
    </p:spTree>
    <p:extLst>
      <p:ext uri="{BB962C8B-B14F-4D97-AF65-F5344CB8AC3E}">
        <p14:creationId xmlns:p14="http://schemas.microsoft.com/office/powerpoint/2010/main" val="3870923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891553-BBB0-3786-372B-812FB4A851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F0FF13-EBA2-4CA8-173F-FDCA174DB267}"/>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2A49744C-146C-C49C-5AD0-9776355CA871}"/>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#8</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B921D2C3-8245-B8AA-18BE-E665DB790A5B}"/>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AEC852DF-D4E7-6C1D-B64D-3273C79705C4}"/>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2F9BD80A-6073-63B8-816D-1D501939BA3D}"/>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Studies included: 387 (filtered from 581 initial records)</a:t>
            </a:r>
          </a:p>
          <a:p>
            <a:pPr marL="171450" indent="-171450">
              <a:buFont typeface="Arial" panose="020B0604020202020204" pitchFamily="34" charset="0"/>
              <a:buChar char="•"/>
            </a:pPr>
            <a:r>
              <a:rPr lang="en-US" sz="1000" noProof="0" dirty="0">
                <a:solidFill>
                  <a:srgbClr val="64748B"/>
                </a:solidFill>
              </a:rPr>
              <a:t>Selection criteria: Peer-reviewed English articles; approach must be ML; topic must be BEM-relevant; research areas limited to engineering, construction, environmental sciences, operations research, and business economics</a:t>
            </a:r>
          </a:p>
          <a:p>
            <a:pPr marL="171450" indent="-171450">
              <a:buFont typeface="Arial" panose="020B0604020202020204" pitchFamily="34" charset="0"/>
              <a:buChar char="•"/>
            </a:pPr>
            <a:r>
              <a:rPr lang="en-US" sz="1000" noProof="0" dirty="0">
                <a:solidFill>
                  <a:srgbClr val="64748B"/>
                </a:solidFill>
              </a:rPr>
              <a:t>Time period: 1998–2020 (end of December 2020)</a:t>
            </a:r>
            <a:endParaRPr lang="en-US" sz="1000" noProof="0" dirty="0"/>
          </a:p>
        </p:txBody>
      </p:sp>
      <p:sp>
        <p:nvSpPr>
          <p:cNvPr id="12" name="Shape 10">
            <a:extLst>
              <a:ext uri="{FF2B5EF4-FFF2-40B4-BE49-F238E27FC236}">
                <a16:creationId xmlns:a16="http://schemas.microsoft.com/office/drawing/2014/main" id="{D33EEA5E-F9EB-BCC7-86E9-2675D01BB6DB}"/>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E65BE8A2-1AC5-36B7-32C6-B135334FE5AC}"/>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361CA8EC-3E69-3152-6B47-5F57A0792C6D}"/>
              </a:ext>
            </a:extLst>
          </p:cNvPr>
          <p:cNvSpPr/>
          <p:nvPr/>
        </p:nvSpPr>
        <p:spPr>
          <a:xfrm>
            <a:off x="4937760" y="911352"/>
            <a:ext cx="3550104" cy="2070405"/>
          </a:xfrm>
          <a:prstGeom prst="rect">
            <a:avLst/>
          </a:prstGeom>
          <a:noFill/>
          <a:ln/>
        </p:spPr>
        <p:txBody>
          <a:bodyPr wrap="square" rtlCol="0" anchor="t"/>
          <a:lstStyle/>
          <a:p>
            <a:r>
              <a:rPr lang="en-US" sz="1000" b="1" kern="0" spc="200" noProof="0" dirty="0">
                <a:solidFill>
                  <a:srgbClr val="065A82"/>
                </a:solidFill>
              </a:rPr>
              <a:t>TAXONOMY / METHODS COVERED</a:t>
            </a:r>
          </a:p>
          <a:p>
            <a:r>
              <a:rPr lang="en-US" sz="1000" b="1" noProof="0" dirty="0"/>
              <a:t>ML algorithms (by frequency):</a:t>
            </a:r>
            <a:r>
              <a:rPr lang="en-US" sz="1000" noProof="0" dirty="0"/>
              <a:t> ANN (37.5%), SVM (21.4%), Regression (19.6%), Random Forest (11.1%), Decision Tree (10.6%), ELM (6.5%), Gaussian Process (5.7%), K-NN (5.2%), Markov Model (5.2%), K-means (4.4%), Q-learning (3.9%), Gradient Boosting (3.6%), Fuzzy (3.1%), Bayesian (2.8%)</a:t>
            </a:r>
          </a:p>
          <a:p>
            <a:r>
              <a:rPr lang="en-US" sz="1000" b="1" noProof="0" dirty="0"/>
              <a:t>BEM application topics:</a:t>
            </a:r>
            <a:r>
              <a:rPr lang="en-US" sz="1000" noProof="0" dirty="0"/>
              <a:t> Energy consumption prediction; BEM analysis and design; energy performance and optimization; fault detection and diagnosis; occupant behavior analysis</a:t>
            </a:r>
          </a:p>
          <a:p>
            <a:r>
              <a:rPr lang="en-US" sz="1000" b="1" noProof="0" dirty="0"/>
              <a:t>Building types:</a:t>
            </a:r>
            <a:r>
              <a:rPr lang="en-US" sz="1000" noProof="0" dirty="0"/>
              <a:t> Commercial (45.7%), Residential (39.0%), Laboratory (17.3%), Industrial (12.4%), Other (5.2%)</a:t>
            </a:r>
          </a:p>
        </p:txBody>
      </p:sp>
      <p:sp>
        <p:nvSpPr>
          <p:cNvPr id="15" name="Shape 13">
            <a:extLst>
              <a:ext uri="{FF2B5EF4-FFF2-40B4-BE49-F238E27FC236}">
                <a16:creationId xmlns:a16="http://schemas.microsoft.com/office/drawing/2014/main" id="{B5CA7F14-8DEC-8656-B5F7-7ED182BC85D1}"/>
              </a:ext>
            </a:extLst>
          </p:cNvPr>
          <p:cNvSpPr/>
          <p:nvPr/>
        </p:nvSpPr>
        <p:spPr>
          <a:xfrm>
            <a:off x="601271" y="3194688"/>
            <a:ext cx="7994088" cy="168826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66E249A4-5767-3B96-39A8-6A1A7054B2AA}"/>
              </a:ext>
            </a:extLst>
          </p:cNvPr>
          <p:cNvSpPr/>
          <p:nvPr/>
        </p:nvSpPr>
        <p:spPr>
          <a:xfrm>
            <a:off x="601270" y="3194688"/>
            <a:ext cx="54000" cy="1688262"/>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4D2E7E0B-E428-00E4-BF89-3F723AD3B3C1}"/>
              </a:ext>
            </a:extLst>
          </p:cNvPr>
          <p:cNvSpPr/>
          <p:nvPr/>
        </p:nvSpPr>
        <p:spPr>
          <a:xfrm>
            <a:off x="784150" y="3240408"/>
            <a:ext cx="8294066" cy="1688262"/>
          </a:xfrm>
          <a:prstGeom prst="rect">
            <a:avLst/>
          </a:prstGeom>
          <a:noFill/>
          <a:ln/>
        </p:spPr>
        <p:txBody>
          <a:bodyPr wrap="square" rtlCol="0" anchor="t"/>
          <a:lstStyle/>
          <a:p>
            <a:r>
              <a:rPr lang="en-US" sz="1000" b="1" kern="0" spc="200" noProof="0" dirty="0">
                <a:solidFill>
                  <a:srgbClr val="21295C"/>
                </a:solidFill>
              </a:rPr>
              <a:t>KEY FINDINGS</a:t>
            </a:r>
          </a:p>
          <a:p>
            <a:pPr lvl="0" eaLnBrk="0" fontAlgn="base" hangingPunct="0">
              <a:spcBef>
                <a:spcPct val="0"/>
              </a:spcBef>
              <a:spcAft>
                <a:spcPct val="0"/>
              </a:spcAft>
              <a:buFontTx/>
              <a:buChar char="•"/>
            </a:pPr>
            <a:r>
              <a:rPr lang="en-US" sz="1000" noProof="0" dirty="0">
                <a:solidFill>
                  <a:srgbClr val="64748B"/>
                </a:solidFill>
              </a:rPr>
              <a:t>ANN is the most-used method across all years (37.5% of articles); SVM is second (21.4%)</a:t>
            </a:r>
          </a:p>
          <a:p>
            <a:pPr lvl="0" eaLnBrk="0" fontAlgn="base" hangingPunct="0">
              <a:spcBef>
                <a:spcPct val="0"/>
              </a:spcBef>
              <a:spcAft>
                <a:spcPct val="0"/>
              </a:spcAft>
              <a:buFontTx/>
              <a:buChar char="•"/>
            </a:pPr>
            <a:r>
              <a:rPr lang="en-US" sz="1000" noProof="0" dirty="0">
                <a:solidFill>
                  <a:srgbClr val="64748B"/>
                </a:solidFill>
              </a:rPr>
              <a:t>Most-cited paper: Zhao &amp; </a:t>
            </a:r>
            <a:r>
              <a:rPr lang="en-US" sz="1000" noProof="0" dirty="0" err="1">
                <a:solidFill>
                  <a:srgbClr val="64748B"/>
                </a:solidFill>
              </a:rPr>
              <a:t>Magoulès</a:t>
            </a:r>
            <a:r>
              <a:rPr lang="en-US" sz="1000" noProof="0" dirty="0">
                <a:solidFill>
                  <a:srgbClr val="64748B"/>
                </a:solidFill>
              </a:rPr>
              <a:t> (2012) with 44 co-citations</a:t>
            </a:r>
          </a:p>
          <a:p>
            <a:pPr lvl="0" eaLnBrk="0" fontAlgn="base" hangingPunct="0">
              <a:spcBef>
                <a:spcPct val="0"/>
              </a:spcBef>
              <a:spcAft>
                <a:spcPct val="0"/>
              </a:spcAft>
              <a:buFontTx/>
              <a:buChar char="•"/>
            </a:pPr>
            <a:r>
              <a:rPr lang="en-US" sz="1000" noProof="0" dirty="0">
                <a:solidFill>
                  <a:srgbClr val="64748B"/>
                </a:solidFill>
              </a:rPr>
              <a:t>Energy consumption prediction dominates (keyword freq. 55); performance and modeling follow (52 each)</a:t>
            </a:r>
          </a:p>
          <a:p>
            <a:pPr lvl="0" eaLnBrk="0" fontAlgn="base" hangingPunct="0">
              <a:spcBef>
                <a:spcPct val="0"/>
              </a:spcBef>
              <a:spcAft>
                <a:spcPct val="0"/>
              </a:spcAft>
              <a:buFontTx/>
              <a:buChar char="•"/>
            </a:pPr>
            <a:r>
              <a:rPr lang="en-US" sz="1000" noProof="0" dirty="0">
                <a:solidFill>
                  <a:srgbClr val="64748B"/>
                </a:solidFill>
              </a:rPr>
              <a:t>Short-term (hourly/daily) prediction receives more attention than long-term (weekly/monthly)</a:t>
            </a:r>
          </a:p>
          <a:p>
            <a:pPr lvl="0" eaLnBrk="0" fontAlgn="base" hangingPunct="0">
              <a:spcBef>
                <a:spcPct val="0"/>
              </a:spcBef>
              <a:spcAft>
                <a:spcPct val="0"/>
              </a:spcAft>
              <a:buFontTx/>
              <a:buChar char="•"/>
            </a:pPr>
            <a:r>
              <a:rPr lang="en-US" sz="1000" noProof="0" dirty="0">
                <a:solidFill>
                  <a:srgbClr val="64748B"/>
                </a:solidFill>
              </a:rPr>
              <a:t>Commercial buildings are studied most (45.7%), industrial buildings least (12.4%)</a:t>
            </a:r>
          </a:p>
          <a:p>
            <a:pPr lvl="0" eaLnBrk="0" fontAlgn="base" hangingPunct="0">
              <a:spcBef>
                <a:spcPct val="0"/>
              </a:spcBef>
              <a:spcAft>
                <a:spcPct val="0"/>
              </a:spcAft>
              <a:buFontTx/>
              <a:buChar char="•"/>
            </a:pPr>
            <a:r>
              <a:rPr lang="en-US" sz="1000" noProof="0" dirty="0">
                <a:solidFill>
                  <a:srgbClr val="64748B"/>
                </a:solidFill>
              </a:rPr>
              <a:t>ML-BEM follows the ascending phase of the hype cycle; the field likely approaches a peak of inflated expectations</a:t>
            </a:r>
          </a:p>
          <a:p>
            <a:pPr lvl="0" eaLnBrk="0" fontAlgn="base" hangingPunct="0">
              <a:spcBef>
                <a:spcPct val="0"/>
              </a:spcBef>
              <a:spcAft>
                <a:spcPct val="0"/>
              </a:spcAft>
              <a:buFontTx/>
              <a:buChar char="•"/>
            </a:pPr>
            <a:r>
              <a:rPr lang="en-US" sz="1000" noProof="0" dirty="0">
                <a:solidFill>
                  <a:srgbClr val="64748B"/>
                </a:solidFill>
              </a:rPr>
              <a:t>Seven keyword clusters identified: SVM (energy demand), cooling load (smart grid), data mining (occupancy), urban sustainability, ACMV systems, surrogate models (passive buildings), deep learning (fault diagnosis)</a:t>
            </a:r>
          </a:p>
        </p:txBody>
      </p:sp>
    </p:spTree>
    <p:extLst>
      <p:ext uri="{BB962C8B-B14F-4D97-AF65-F5344CB8AC3E}">
        <p14:creationId xmlns:p14="http://schemas.microsoft.com/office/powerpoint/2010/main" val="2719294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10FA0F-4AB7-7F16-2949-7D61497384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AAF92DE-F541-3423-D0B5-0D7B01DBDBDE}"/>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4E62F852-A3EC-8CDF-E315-32064FB1D53D}"/>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#8</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5A5B2C81-7E78-1CA2-3F87-B2782FC1E02C}"/>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FDE382BC-6145-863E-D2C6-20A07148B9E5}"/>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73D5377A-30B3-5F78-0639-B587170FF85A}"/>
              </a:ext>
            </a:extLst>
          </p:cNvPr>
          <p:cNvSpPr/>
          <p:nvPr/>
        </p:nvSpPr>
        <p:spPr>
          <a:xfrm>
            <a:off x="784150" y="833120"/>
            <a:ext cx="8267752"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marL="171450" lvl="0" indent="-171450" eaLnBrk="0" fontAlgn="base" hangingPunct="0">
              <a:spcBef>
                <a:spcPct val="0"/>
              </a:spcBef>
              <a:spcAft>
                <a:spcPct val="0"/>
              </a:spcAft>
              <a:buFont typeface="Arial" panose="020B0604020202020204" pitchFamily="34" charset="0"/>
              <a:buChar char="•"/>
            </a:pPr>
            <a:endParaRPr lang="en-US" sz="1000" noProof="0" dirty="0">
              <a:solidFill>
                <a:srgbClr val="64748B"/>
              </a:solidFill>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Occupant behavior is understudied relative to its impact on heating, cooling, ventilation, and lighting demand.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Balancing occupant comfort and energy use — models rarely </a:t>
            </a:r>
            <a:r>
              <a:rPr lang="en-US" sz="1000" noProof="0" dirty="0" err="1">
                <a:solidFill>
                  <a:srgbClr val="64748B"/>
                </a:solidFill>
                <a:cs typeface="Arial" panose="020B0604020202020204" pitchFamily="34" charset="0"/>
              </a:rPr>
              <a:t>optimise</a:t>
            </a:r>
            <a:r>
              <a:rPr lang="en-US" sz="1000" noProof="0" dirty="0">
                <a:solidFill>
                  <a:srgbClr val="64748B"/>
                </a:solidFill>
                <a:cs typeface="Arial" panose="020B0604020202020204" pitchFamily="34" charset="0"/>
              </a:rPr>
              <a:t> both simultaneously.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Renewable energy integration — few studies address joint management of traditional and renewable energy within BEM.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Intermittent renewable energy — the variability of solar/wind energy creates new management problems not yet resolved.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Security of ML-BEM systems — data transmitted over wireless networks and stored in energy management databases is vulnerable; robust security models are lacking.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Security testing scenarios — no </a:t>
            </a:r>
            <a:r>
              <a:rPr lang="en-US" sz="1000" noProof="0" dirty="0" err="1">
                <a:solidFill>
                  <a:srgbClr val="64748B"/>
                </a:solidFill>
                <a:cs typeface="Arial" panose="020B0604020202020204" pitchFamily="34" charset="0"/>
              </a:rPr>
              <a:t>standardised</a:t>
            </a:r>
            <a:r>
              <a:rPr lang="en-US" sz="1000" noProof="0" dirty="0">
                <a:solidFill>
                  <a:srgbClr val="64748B"/>
                </a:solidFill>
                <a:cs typeface="Arial" panose="020B0604020202020204" pitchFamily="34" charset="0"/>
              </a:rPr>
              <a:t> frameworks exist to test energy management models under different attack conditions.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Construction phase is neglected — most research focuses on design and operation; construction-phase energy consumption (e.g., material production) is underexplored.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Fault detection and diagnosis (FDD) receives too little attention — almost all ML-BEM studies are predictive; diagnostic applications are rare.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Early fault detection — detecting faults before system failure is identified as a priority but remains underdeveloped.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Infrared image-based FDD — combining image recognition with infrared scans to diagnose energy systems is proposed but not yet </a:t>
            </a:r>
            <a:r>
              <a:rPr lang="en-US" sz="1000" noProof="0" dirty="0" err="1">
                <a:solidFill>
                  <a:srgbClr val="64748B"/>
                </a:solidFill>
                <a:cs typeface="Arial" panose="020B0604020202020204" pitchFamily="34" charset="0"/>
              </a:rPr>
              <a:t>realised</a:t>
            </a:r>
            <a:r>
              <a:rPr lang="en-US" sz="1000" noProof="0" dirty="0">
                <a:solidFill>
                  <a:srgbClr val="64748B"/>
                </a:solidFill>
                <a:cs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Retrofit and end-of-life phases are rarely studied in the ML-BEM lifecycle.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Proceeding papers excluded — the </a:t>
            </a:r>
            <a:r>
              <a:rPr lang="en-US" sz="1000" noProof="0" dirty="0" err="1">
                <a:solidFill>
                  <a:srgbClr val="64748B"/>
                </a:solidFill>
                <a:cs typeface="Arial" panose="020B0604020202020204" pitchFamily="34" charset="0"/>
              </a:rPr>
              <a:t>WoS</a:t>
            </a:r>
            <a:r>
              <a:rPr lang="en-US" sz="1000" noProof="0" dirty="0">
                <a:solidFill>
                  <a:srgbClr val="64748B"/>
                </a:solidFill>
                <a:cs typeface="Arial" panose="020B0604020202020204" pitchFamily="34" charset="0"/>
              </a:rPr>
              <a:t>-only search may miss relevant conference papers, limiting coverage.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Post-2020 literature not covered — rapidly evolving ML methods (e.g., large language models, transformer architectures) are outside scope.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Most advanced ML developments remain theoretical — practical deployment of cutting-edge methods in real BEM contexts is not documented.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Potential hype cycle downturn — the authors flag that a trough of disillusionment may follow the current growth phase; research should prepare for and manage this. </a:t>
            </a:r>
          </a:p>
          <a:p>
            <a:endParaRPr lang="en-US" sz="1000" noProof="0" dirty="0">
              <a:solidFill>
                <a:srgbClr val="64748B"/>
              </a:solidFill>
            </a:endParaRPr>
          </a:p>
        </p:txBody>
      </p:sp>
    </p:spTree>
    <p:extLst>
      <p:ext uri="{BB962C8B-B14F-4D97-AF65-F5344CB8AC3E}">
        <p14:creationId xmlns:p14="http://schemas.microsoft.com/office/powerpoint/2010/main" val="375465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E7ACA5-00C9-7E1B-5AA1-CDC1467B8C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6F8151-B20F-EA3E-E1AB-EF764BC562E9}"/>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D4AA9BED-BFEC-9627-BD6E-8FD2801019A4}"/>
              </a:ext>
            </a:extLst>
          </p:cNvPr>
          <p:cNvSpPr/>
          <p:nvPr/>
        </p:nvSpPr>
        <p:spPr>
          <a:xfrm>
            <a:off x="572126" y="0"/>
            <a:ext cx="8023234" cy="729015"/>
          </a:xfrm>
          <a:prstGeom prst="rect">
            <a:avLst/>
          </a:prstGeom>
          <a:noFill/>
          <a:ln/>
        </p:spPr>
        <p:txBody>
          <a:bodyPr wrap="square" lIns="91440" tIns="45720" rIns="91440" bIns="45720" rtlCol="0" anchor="ctr"/>
          <a:lstStyle/>
          <a:p>
            <a:pPr marL="0" indent="0">
              <a:buNone/>
            </a:pPr>
            <a:r>
              <a:rPr lang="en-US" sz="1400" b="1" kern="0" spc="400" noProof="0" dirty="0">
                <a:solidFill>
                  <a:srgbClr val="FFFFFF"/>
                </a:solidFill>
                <a:latin typeface="Trebuchet MS"/>
                <a:ea typeface="Calibri"/>
                <a:cs typeface="Calibri"/>
              </a:rPr>
              <a:t>REVIEW #9</a:t>
            </a:r>
            <a:endParaRPr lang="en-US" sz="1400" noProof="0" dirty="0">
              <a:latin typeface="Trebuchet MS"/>
              <a:ea typeface="Calibri"/>
              <a:cs typeface="Calibri"/>
            </a:endParaRPr>
          </a:p>
        </p:txBody>
      </p:sp>
      <p:sp>
        <p:nvSpPr>
          <p:cNvPr id="4" name="Text 2">
            <a:extLst>
              <a:ext uri="{FF2B5EF4-FFF2-40B4-BE49-F238E27FC236}">
                <a16:creationId xmlns:a16="http://schemas.microsoft.com/office/drawing/2014/main" id="{A7B2BBE0-736A-1BD8-0A5D-33579007886F}"/>
              </a:ext>
            </a:extLst>
          </p:cNvPr>
          <p:cNvSpPr/>
          <p:nvPr/>
        </p:nvSpPr>
        <p:spPr>
          <a:xfrm>
            <a:off x="548640" y="825778"/>
            <a:ext cx="8046720" cy="457200"/>
          </a:xfrm>
          <a:prstGeom prst="rect">
            <a:avLst/>
          </a:prstGeom>
          <a:noFill/>
          <a:ln/>
        </p:spPr>
        <p:txBody>
          <a:bodyPr wrap="square" lIns="0" tIns="0" rIns="0" bIns="0" rtlCol="0" anchor="ctr"/>
          <a:lstStyle/>
          <a:p>
            <a:r>
              <a:rPr lang="en-US" noProof="0" dirty="0"/>
              <a:t>A Systematic Review on the Use of AI for Energy Efficiency and Indoor Environmental Quality in Buildings</a:t>
            </a:r>
            <a:endParaRPr lang="en-US" noProof="0" dirty="0">
              <a:latin typeface="Trebuchet MS"/>
              <a:ea typeface="Calibri"/>
              <a:cs typeface="Calibri"/>
            </a:endParaRPr>
          </a:p>
        </p:txBody>
      </p:sp>
      <p:sp>
        <p:nvSpPr>
          <p:cNvPr id="5" name="Text 3">
            <a:extLst>
              <a:ext uri="{FF2B5EF4-FFF2-40B4-BE49-F238E27FC236}">
                <a16:creationId xmlns:a16="http://schemas.microsoft.com/office/drawing/2014/main" id="{6FEA49D0-DA77-7861-DBEA-4EA74166EC6A}"/>
              </a:ext>
            </a:extLst>
          </p:cNvPr>
          <p:cNvSpPr/>
          <p:nvPr/>
        </p:nvSpPr>
        <p:spPr>
          <a:xfrm>
            <a:off x="545122" y="1355436"/>
            <a:ext cx="8046720" cy="274320"/>
          </a:xfrm>
          <a:prstGeom prst="rect">
            <a:avLst/>
          </a:prstGeom>
          <a:noFill/>
          <a:ln/>
        </p:spPr>
        <p:txBody>
          <a:bodyPr wrap="square" lIns="0" tIns="0" rIns="0" bIns="0" rtlCol="0" anchor="ctr"/>
          <a:lstStyle/>
          <a:p>
            <a:r>
              <a:rPr lang="en-US" sz="1050" i="1" noProof="0" dirty="0" err="1">
                <a:solidFill>
                  <a:srgbClr val="64748B"/>
                </a:solidFill>
                <a:latin typeface="Calibri"/>
                <a:ea typeface="Calibri"/>
                <a:cs typeface="Calibri"/>
              </a:rPr>
              <a:t>Ogundiran</a:t>
            </a:r>
            <a:r>
              <a:rPr lang="en-US" sz="1050" i="1" noProof="0" dirty="0">
                <a:solidFill>
                  <a:srgbClr val="64748B"/>
                </a:solidFill>
                <a:latin typeface="Calibri"/>
                <a:ea typeface="Calibri"/>
                <a:cs typeface="Calibri"/>
              </a:rPr>
              <a:t> et al., 2024, Sustainability, Vol. 16, Article 3627</a:t>
            </a:r>
          </a:p>
        </p:txBody>
      </p:sp>
      <p:sp>
        <p:nvSpPr>
          <p:cNvPr id="6" name="Shape 4">
            <a:extLst>
              <a:ext uri="{FF2B5EF4-FFF2-40B4-BE49-F238E27FC236}">
                <a16:creationId xmlns:a16="http://schemas.microsoft.com/office/drawing/2014/main" id="{D977FE47-4E45-60BC-B62E-7ACC2BC2DBA7}"/>
              </a:ext>
            </a:extLst>
          </p:cNvPr>
          <p:cNvSpPr/>
          <p:nvPr/>
        </p:nvSpPr>
        <p:spPr>
          <a:xfrm>
            <a:off x="545122" y="3873818"/>
            <a:ext cx="8058065" cy="1066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7" name="Shape 5">
            <a:extLst>
              <a:ext uri="{FF2B5EF4-FFF2-40B4-BE49-F238E27FC236}">
                <a16:creationId xmlns:a16="http://schemas.microsoft.com/office/drawing/2014/main" id="{4CD8B87C-FB60-77AC-8D8B-E537E4D3442A}"/>
              </a:ext>
            </a:extLst>
          </p:cNvPr>
          <p:cNvSpPr/>
          <p:nvPr/>
        </p:nvSpPr>
        <p:spPr>
          <a:xfrm>
            <a:off x="548640" y="3865118"/>
            <a:ext cx="54864" cy="1066640"/>
          </a:xfrm>
          <a:prstGeom prst="rect">
            <a:avLst/>
          </a:prstGeom>
          <a:solidFill>
            <a:srgbClr val="0D9488"/>
          </a:solidFill>
          <a:ln/>
        </p:spPr>
        <p:txBody>
          <a:bodyPr/>
          <a:lstStyle/>
          <a:p>
            <a:endParaRPr lang="en-US" sz="1000" noProof="0" dirty="0"/>
          </a:p>
        </p:txBody>
      </p:sp>
      <p:sp>
        <p:nvSpPr>
          <p:cNvPr id="8" name="Text 6">
            <a:extLst>
              <a:ext uri="{FF2B5EF4-FFF2-40B4-BE49-F238E27FC236}">
                <a16:creationId xmlns:a16="http://schemas.microsoft.com/office/drawing/2014/main" id="{5A5B2490-77EA-6E66-469F-D84D56D774B8}"/>
              </a:ext>
            </a:extLst>
          </p:cNvPr>
          <p:cNvSpPr/>
          <p:nvPr/>
        </p:nvSpPr>
        <p:spPr>
          <a:xfrm>
            <a:off x="731520" y="3940162"/>
            <a:ext cx="7688788" cy="976408"/>
          </a:xfrm>
          <a:prstGeom prst="rect">
            <a:avLst/>
          </a:prstGeom>
          <a:noFill/>
          <a:ln/>
        </p:spPr>
        <p:txBody>
          <a:bodyPr wrap="square" rtlCol="0" anchor="t"/>
          <a:lstStyle/>
          <a:p>
            <a:r>
              <a:rPr lang="en-US" sz="1000" b="1" kern="0" spc="200" noProof="0" dirty="0">
                <a:solidFill>
                  <a:srgbClr val="0D9488"/>
                </a:solidFill>
              </a:rPr>
              <a:t>INTENTION / RESEARCH QUESTION</a:t>
            </a:r>
          </a:p>
          <a:p>
            <a:pPr marL="228600" indent="-228600">
              <a:buFont typeface="+mj-lt"/>
              <a:buAutoNum type="arabicPeriod"/>
            </a:pPr>
            <a:r>
              <a:rPr lang="en-US" sz="1000" noProof="0" dirty="0"/>
              <a:t>Where are AI solutions applied for building energy management? </a:t>
            </a:r>
          </a:p>
          <a:p>
            <a:pPr marL="228600" indent="-228600">
              <a:buFont typeface="+mj-lt"/>
              <a:buAutoNum type="arabicPeriod"/>
            </a:pPr>
            <a:r>
              <a:rPr lang="en-US" sz="1000" noProof="0" dirty="0"/>
              <a:t>Which AI method suits each application best?</a:t>
            </a:r>
          </a:p>
          <a:p>
            <a:pPr marL="228600" indent="-228600">
              <a:buFont typeface="+mj-lt"/>
              <a:buAutoNum type="arabicPeriod"/>
            </a:pPr>
            <a:r>
              <a:rPr lang="en-US" sz="1000" noProof="0" dirty="0"/>
              <a:t>Which application areas remain unexplored? </a:t>
            </a:r>
          </a:p>
          <a:p>
            <a:pPr marL="228600" indent="-228600">
              <a:buFont typeface="+mj-lt"/>
              <a:buAutoNum type="arabicPeriod"/>
            </a:pPr>
            <a:r>
              <a:rPr lang="en-US" sz="1000" noProof="0" dirty="0"/>
              <a:t>Are current methods usable in real-life scenarios?</a:t>
            </a:r>
          </a:p>
          <a:p>
            <a:pPr marL="228600" indent="-228600">
              <a:buFont typeface="+mj-lt"/>
              <a:buAutoNum type="arabicPeriod"/>
            </a:pPr>
            <a:r>
              <a:rPr lang="en-US" sz="1000" noProof="0" dirty="0"/>
              <a:t>What barriers prevent real-life deployment?</a:t>
            </a:r>
            <a:endParaRPr lang="en-US" sz="1000" noProof="0" dirty="0">
              <a:solidFill>
                <a:srgbClr val="64748B"/>
              </a:solidFill>
            </a:endParaRPr>
          </a:p>
        </p:txBody>
      </p:sp>
      <p:sp>
        <p:nvSpPr>
          <p:cNvPr id="24" name="Shape 22">
            <a:extLst>
              <a:ext uri="{FF2B5EF4-FFF2-40B4-BE49-F238E27FC236}">
                <a16:creationId xmlns:a16="http://schemas.microsoft.com/office/drawing/2014/main" id="{32C4EDDF-814F-634A-4C8D-91B1E3364BF0}"/>
              </a:ext>
            </a:extLst>
          </p:cNvPr>
          <p:cNvSpPr/>
          <p:nvPr/>
        </p:nvSpPr>
        <p:spPr>
          <a:xfrm>
            <a:off x="556468" y="1744251"/>
            <a:ext cx="8046720" cy="20237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25" name="Shape 23">
            <a:extLst>
              <a:ext uri="{FF2B5EF4-FFF2-40B4-BE49-F238E27FC236}">
                <a16:creationId xmlns:a16="http://schemas.microsoft.com/office/drawing/2014/main" id="{E4158605-F152-AAE0-9BD8-7FD8BBC0148F}"/>
              </a:ext>
            </a:extLst>
          </p:cNvPr>
          <p:cNvSpPr/>
          <p:nvPr/>
        </p:nvSpPr>
        <p:spPr>
          <a:xfrm>
            <a:off x="556468" y="1744251"/>
            <a:ext cx="54864" cy="2015071"/>
          </a:xfrm>
          <a:prstGeom prst="rect">
            <a:avLst/>
          </a:prstGeom>
          <a:solidFill>
            <a:srgbClr val="D97706"/>
          </a:solidFill>
          <a:ln/>
        </p:spPr>
        <p:txBody>
          <a:bodyPr/>
          <a:lstStyle/>
          <a:p>
            <a:endParaRPr lang="en-US" sz="1000" noProof="0" dirty="0"/>
          </a:p>
        </p:txBody>
      </p:sp>
      <p:sp>
        <p:nvSpPr>
          <p:cNvPr id="26" name="Text 24">
            <a:extLst>
              <a:ext uri="{FF2B5EF4-FFF2-40B4-BE49-F238E27FC236}">
                <a16:creationId xmlns:a16="http://schemas.microsoft.com/office/drawing/2014/main" id="{DD8641B6-0C3F-1BB2-40D7-7AEA6D9939FA}"/>
              </a:ext>
            </a:extLst>
          </p:cNvPr>
          <p:cNvSpPr/>
          <p:nvPr/>
        </p:nvSpPr>
        <p:spPr>
          <a:xfrm>
            <a:off x="830788" y="1819275"/>
            <a:ext cx="7589520" cy="1839846"/>
          </a:xfrm>
          <a:prstGeom prst="rect">
            <a:avLst/>
          </a:prstGeom>
          <a:noFill/>
          <a:ln/>
        </p:spPr>
        <p:txBody>
          <a:bodyPr wrap="square" lIns="91440" tIns="45720" rIns="91440" bIns="45720" rtlCol="0" anchor="t"/>
          <a:lstStyle/>
          <a:p>
            <a:r>
              <a:rPr lang="en-US" sz="1000" b="1" kern="0" spc="200" noProof="0" dirty="0">
                <a:solidFill>
                  <a:schemeClr val="accent2"/>
                </a:solidFill>
              </a:rPr>
              <a:t>SUMMARY</a:t>
            </a:r>
          </a:p>
          <a:p>
            <a:r>
              <a:rPr lang="en-US" sz="1000" b="1" kern="0" spc="200" noProof="0" dirty="0">
                <a:solidFill>
                  <a:srgbClr val="DC2626"/>
                </a:solidFill>
              </a:rPr>
              <a:t>  </a:t>
            </a:r>
          </a:p>
          <a:p>
            <a:r>
              <a:rPr lang="en-US" sz="1000" noProof="0" dirty="0">
                <a:solidFill>
                  <a:srgbClr val="64748B"/>
                </a:solidFill>
              </a:rPr>
              <a:t>This review examines how AI and machine learning (ML) are used to manage building energy and indoor environmental quality (IEQ). HVAC systems account for ~70% of building energy use, and reducing that consumption risks degrading IEQ. The authors identify five application areas: thermal comfort and indoor air quality (IAQ) control, energy management and consumption prediction, anomaly detection, indoor temperature prediction, and HVAC controls. Lighting and acoustic comfort are identified as largely unexplored. The review also flags gaps in sensor standards, real-world deployment, and policy frameworks.</a:t>
            </a:r>
            <a:endParaRPr lang="en-US" sz="1000" noProof="0" dirty="0"/>
          </a:p>
        </p:txBody>
      </p:sp>
    </p:spTree>
    <p:extLst>
      <p:ext uri="{BB962C8B-B14F-4D97-AF65-F5344CB8AC3E}">
        <p14:creationId xmlns:p14="http://schemas.microsoft.com/office/powerpoint/2010/main" val="34807211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303459-FF61-4664-F663-4533428527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2805D4-1130-5777-7EBF-049C26883A4D}"/>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3043F7E6-2342-1D52-E2A2-4779733EDAF7}"/>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#9</a:t>
            </a:r>
            <a:endParaRPr lang="en-US" sz="1400" noProof="0" dirty="0">
              <a:latin typeface="Trebuchet MS"/>
              <a:ea typeface="Calibri"/>
              <a:cs typeface="Calibri"/>
            </a:endParaRPr>
          </a:p>
        </p:txBody>
      </p:sp>
      <p:sp>
        <p:nvSpPr>
          <p:cNvPr id="9" name="Shape 7">
            <a:extLst>
              <a:ext uri="{FF2B5EF4-FFF2-40B4-BE49-F238E27FC236}">
                <a16:creationId xmlns:a16="http://schemas.microsoft.com/office/drawing/2014/main" id="{7A3B7A18-88C6-9BBB-082E-477AFB3FC909}"/>
              </a:ext>
            </a:extLst>
          </p:cNvPr>
          <p:cNvSpPr/>
          <p:nvPr/>
        </p:nvSpPr>
        <p:spPr>
          <a:xfrm>
            <a:off x="601272"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0" name="Shape 8">
            <a:extLst>
              <a:ext uri="{FF2B5EF4-FFF2-40B4-BE49-F238E27FC236}">
                <a16:creationId xmlns:a16="http://schemas.microsoft.com/office/drawing/2014/main" id="{EA677CF9-3391-F0B9-2E0A-AC72E0E246D3}"/>
              </a:ext>
            </a:extLst>
          </p:cNvPr>
          <p:cNvSpPr/>
          <p:nvPr/>
        </p:nvSpPr>
        <p:spPr>
          <a:xfrm>
            <a:off x="601272" y="865632"/>
            <a:ext cx="54864" cy="2070405"/>
          </a:xfrm>
          <a:prstGeom prst="rect">
            <a:avLst/>
          </a:prstGeom>
          <a:solidFill>
            <a:srgbClr val="1C7293"/>
          </a:solidFill>
          <a:ln/>
        </p:spPr>
        <p:txBody>
          <a:bodyPr/>
          <a:lstStyle/>
          <a:p>
            <a:endParaRPr lang="en-US" sz="1000" noProof="0" dirty="0"/>
          </a:p>
        </p:txBody>
      </p:sp>
      <p:sp>
        <p:nvSpPr>
          <p:cNvPr id="11" name="Text 9">
            <a:extLst>
              <a:ext uri="{FF2B5EF4-FFF2-40B4-BE49-F238E27FC236}">
                <a16:creationId xmlns:a16="http://schemas.microsoft.com/office/drawing/2014/main" id="{38CFE14B-9A4E-1EC0-5DBB-AE707719C5EC}"/>
              </a:ext>
            </a:extLst>
          </p:cNvPr>
          <p:cNvSpPr/>
          <p:nvPr/>
        </p:nvSpPr>
        <p:spPr>
          <a:xfrm>
            <a:off x="784150" y="911352"/>
            <a:ext cx="3657601" cy="2070405"/>
          </a:xfrm>
          <a:prstGeom prst="rect">
            <a:avLst/>
          </a:prstGeom>
          <a:noFill/>
          <a:ln/>
        </p:spPr>
        <p:txBody>
          <a:bodyPr wrap="square" rtlCol="0" anchor="t"/>
          <a:lstStyle/>
          <a:p>
            <a:pPr marL="0" indent="0">
              <a:buNone/>
            </a:pPr>
            <a:r>
              <a:rPr lang="en-US" sz="1000" b="1" kern="0" spc="200" noProof="0" dirty="0">
                <a:solidFill>
                  <a:srgbClr val="1C7293"/>
                </a:solidFill>
              </a:rPr>
              <a:t>SCOPE</a:t>
            </a:r>
            <a:endParaRPr lang="en-US" sz="1000" noProof="0" dirty="0"/>
          </a:p>
          <a:p>
            <a:pPr marL="171450" indent="-171450">
              <a:buFont typeface="Arial" panose="020B0604020202020204" pitchFamily="34" charset="0"/>
              <a:buChar char="•"/>
            </a:pPr>
            <a:r>
              <a:rPr lang="en-US" sz="1000" noProof="0" dirty="0">
                <a:solidFill>
                  <a:srgbClr val="64748B"/>
                </a:solidFill>
              </a:rPr>
              <a:t>Tool used: </a:t>
            </a:r>
            <a:r>
              <a:rPr lang="en-US" sz="1000" noProof="0" dirty="0" err="1">
                <a:solidFill>
                  <a:srgbClr val="64748B"/>
                </a:solidFill>
              </a:rPr>
              <a:t>Harzing</a:t>
            </a:r>
            <a:r>
              <a:rPr lang="en-US" sz="1000" noProof="0" dirty="0">
                <a:solidFill>
                  <a:srgbClr val="64748B"/>
                </a:solidFill>
              </a:rPr>
              <a:t> Publish or Perish 8</a:t>
            </a:r>
          </a:p>
          <a:p>
            <a:pPr marL="171450" indent="-171450">
              <a:buFont typeface="Arial" panose="020B0604020202020204" pitchFamily="34" charset="0"/>
              <a:buChar char="•"/>
            </a:pPr>
            <a:r>
              <a:rPr lang="en-US" sz="1000" noProof="0" dirty="0">
                <a:solidFill>
                  <a:srgbClr val="64748B"/>
                </a:solidFill>
              </a:rPr>
              <a:t>Initial records: 1,856</a:t>
            </a:r>
          </a:p>
          <a:p>
            <a:pPr marL="171450" indent="-171450">
              <a:buFont typeface="Arial" panose="020B0604020202020204" pitchFamily="34" charset="0"/>
              <a:buChar char="•"/>
            </a:pPr>
            <a:r>
              <a:rPr lang="en-US" sz="1000" noProof="0" dirty="0">
                <a:solidFill>
                  <a:srgbClr val="64748B"/>
                </a:solidFill>
              </a:rPr>
              <a:t>Final included studies: 80 (after duplicate removal and screening)</a:t>
            </a:r>
          </a:p>
          <a:p>
            <a:pPr marL="171450" indent="-171450">
              <a:buFont typeface="Arial" panose="020B0604020202020204" pitchFamily="34" charset="0"/>
              <a:buChar char="•"/>
            </a:pPr>
            <a:r>
              <a:rPr lang="en-US" sz="1000" noProof="0" dirty="0">
                <a:solidFill>
                  <a:srgbClr val="64748B"/>
                </a:solidFill>
              </a:rPr>
              <a:t>Time period: 2013–2023 (3 exceptions with ≥100 citations)</a:t>
            </a:r>
          </a:p>
          <a:p>
            <a:pPr marL="171450" indent="-171450">
              <a:buFont typeface="Arial" panose="020B0604020202020204" pitchFamily="34" charset="0"/>
              <a:buChar char="•"/>
            </a:pPr>
            <a:r>
              <a:rPr lang="en-US" sz="1000" noProof="0" dirty="0">
                <a:solidFill>
                  <a:srgbClr val="64748B"/>
                </a:solidFill>
              </a:rPr>
              <a:t>Exclusion criteria: Studies not applying AI to buildings; articles outside timeframe without sufficient citations</a:t>
            </a:r>
            <a:endParaRPr lang="en-US" sz="1000" noProof="0" dirty="0"/>
          </a:p>
        </p:txBody>
      </p:sp>
      <p:sp>
        <p:nvSpPr>
          <p:cNvPr id="12" name="Shape 10">
            <a:extLst>
              <a:ext uri="{FF2B5EF4-FFF2-40B4-BE49-F238E27FC236}">
                <a16:creationId xmlns:a16="http://schemas.microsoft.com/office/drawing/2014/main" id="{E5999E86-1551-ABF3-3C44-F94C3EFC181A}"/>
              </a:ext>
            </a:extLst>
          </p:cNvPr>
          <p:cNvSpPr/>
          <p:nvPr/>
        </p:nvSpPr>
        <p:spPr>
          <a:xfrm>
            <a:off x="4754880" y="865632"/>
            <a:ext cx="3840480" cy="207040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3" name="Shape 11">
            <a:extLst>
              <a:ext uri="{FF2B5EF4-FFF2-40B4-BE49-F238E27FC236}">
                <a16:creationId xmlns:a16="http://schemas.microsoft.com/office/drawing/2014/main" id="{8EEF70D9-E0C2-48F5-9A0A-AE5D81E50CCC}"/>
              </a:ext>
            </a:extLst>
          </p:cNvPr>
          <p:cNvSpPr/>
          <p:nvPr/>
        </p:nvSpPr>
        <p:spPr>
          <a:xfrm>
            <a:off x="4754880" y="865632"/>
            <a:ext cx="54864" cy="2070405"/>
          </a:xfrm>
          <a:prstGeom prst="rect">
            <a:avLst/>
          </a:prstGeom>
          <a:solidFill>
            <a:srgbClr val="065A82"/>
          </a:solidFill>
          <a:ln/>
        </p:spPr>
        <p:txBody>
          <a:bodyPr/>
          <a:lstStyle/>
          <a:p>
            <a:endParaRPr lang="en-US" sz="1000" noProof="0" dirty="0"/>
          </a:p>
        </p:txBody>
      </p:sp>
      <p:sp>
        <p:nvSpPr>
          <p:cNvPr id="14" name="Text 12">
            <a:extLst>
              <a:ext uri="{FF2B5EF4-FFF2-40B4-BE49-F238E27FC236}">
                <a16:creationId xmlns:a16="http://schemas.microsoft.com/office/drawing/2014/main" id="{BA40F546-BB89-3DFE-9C01-AD60DF1C3628}"/>
              </a:ext>
            </a:extLst>
          </p:cNvPr>
          <p:cNvSpPr/>
          <p:nvPr/>
        </p:nvSpPr>
        <p:spPr>
          <a:xfrm>
            <a:off x="4937760" y="911352"/>
            <a:ext cx="4079012" cy="2070405"/>
          </a:xfrm>
          <a:prstGeom prst="rect">
            <a:avLst/>
          </a:prstGeom>
          <a:noFill/>
          <a:ln/>
        </p:spPr>
        <p:txBody>
          <a:bodyPr wrap="square" rtlCol="0" anchor="t"/>
          <a:lstStyle/>
          <a:p>
            <a:r>
              <a:rPr lang="en-US" sz="1000" b="1" kern="0" spc="200" noProof="0" dirty="0">
                <a:solidFill>
                  <a:srgbClr val="065A82"/>
                </a:solidFill>
              </a:rPr>
              <a:t>TAXONOMY / METHODS COVERED</a:t>
            </a:r>
          </a:p>
          <a:p>
            <a:r>
              <a:rPr lang="en-US" sz="1000" b="1" noProof="0" dirty="0"/>
              <a:t>Application areas:</a:t>
            </a:r>
            <a:endParaRPr lang="en-US" sz="1000" noProof="0" dirty="0"/>
          </a:p>
          <a:p>
            <a:r>
              <a:rPr lang="en-US" sz="1000" noProof="0" dirty="0"/>
              <a:t>Thermal comfort and IAQ control (27.87% of studies)</a:t>
            </a:r>
          </a:p>
          <a:p>
            <a:r>
              <a:rPr lang="en-US" sz="1000" noProof="0" dirty="0"/>
              <a:t>Energy management and consumption prediction (47.54%)</a:t>
            </a:r>
          </a:p>
          <a:p>
            <a:r>
              <a:rPr lang="en-US" sz="1000" noProof="0" dirty="0"/>
              <a:t>Anomaly detection (4.92%)</a:t>
            </a:r>
          </a:p>
          <a:p>
            <a:r>
              <a:rPr lang="en-US" sz="1000" noProof="0" dirty="0"/>
              <a:t>Indoor temperature prediction (4.92%)</a:t>
            </a:r>
          </a:p>
          <a:p>
            <a:r>
              <a:rPr lang="en-US" sz="1000" noProof="0" dirty="0"/>
              <a:t>HVAC controls (14.75%)</a:t>
            </a:r>
          </a:p>
          <a:p>
            <a:r>
              <a:rPr lang="en-US" sz="1000" b="1" noProof="0" dirty="0"/>
              <a:t>AI/ML methods identified:</a:t>
            </a:r>
            <a:endParaRPr lang="en-US" sz="1000" noProof="0" dirty="0"/>
          </a:p>
          <a:p>
            <a:r>
              <a:rPr lang="en-US" sz="1000" noProof="0" dirty="0"/>
              <a:t>Supervised: ANN, SVM, SVR, RF, decision trees, linear/multilinear regression, gradient boosting (GBRT), ANFIS</a:t>
            </a:r>
          </a:p>
          <a:p>
            <a:r>
              <a:rPr lang="en-US" sz="1000" noProof="0" dirty="0"/>
              <a:t>Deep learning: CNN, RNN, LSTM, DNN, deep Q-learning, DRL</a:t>
            </a:r>
          </a:p>
          <a:p>
            <a:r>
              <a:rPr lang="en-US" sz="1000" noProof="0" dirty="0"/>
              <a:t>Unsupervised/hybrid: clustering, fuzzy logic, PSO, GA, NSGA-II, MPC, MOGA</a:t>
            </a:r>
          </a:p>
          <a:p>
            <a:r>
              <a:rPr lang="en-US" sz="1000" noProof="0" dirty="0"/>
              <a:t>IoT-integrated frameworks</a:t>
            </a:r>
          </a:p>
        </p:txBody>
      </p:sp>
      <p:sp>
        <p:nvSpPr>
          <p:cNvPr id="15" name="Shape 13">
            <a:extLst>
              <a:ext uri="{FF2B5EF4-FFF2-40B4-BE49-F238E27FC236}">
                <a16:creationId xmlns:a16="http://schemas.microsoft.com/office/drawing/2014/main" id="{B3BA533D-F8FD-A5F5-66F4-5E13BEADD399}"/>
              </a:ext>
            </a:extLst>
          </p:cNvPr>
          <p:cNvSpPr/>
          <p:nvPr/>
        </p:nvSpPr>
        <p:spPr>
          <a:xfrm>
            <a:off x="601271" y="3027477"/>
            <a:ext cx="7994088" cy="1855473"/>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6" name="Shape 14">
            <a:extLst>
              <a:ext uri="{FF2B5EF4-FFF2-40B4-BE49-F238E27FC236}">
                <a16:creationId xmlns:a16="http://schemas.microsoft.com/office/drawing/2014/main" id="{472CE958-3ABF-0024-1876-9AC115B6B2B1}"/>
              </a:ext>
            </a:extLst>
          </p:cNvPr>
          <p:cNvSpPr/>
          <p:nvPr/>
        </p:nvSpPr>
        <p:spPr>
          <a:xfrm>
            <a:off x="601270" y="3027477"/>
            <a:ext cx="54000" cy="1855473"/>
          </a:xfrm>
          <a:prstGeom prst="rect">
            <a:avLst/>
          </a:prstGeom>
          <a:solidFill>
            <a:srgbClr val="21295C"/>
          </a:solidFill>
          <a:ln/>
        </p:spPr>
        <p:txBody>
          <a:bodyPr/>
          <a:lstStyle/>
          <a:p>
            <a:endParaRPr lang="en-US" sz="1000" noProof="0" dirty="0"/>
          </a:p>
        </p:txBody>
      </p:sp>
      <p:sp>
        <p:nvSpPr>
          <p:cNvPr id="17" name="Text 15">
            <a:extLst>
              <a:ext uri="{FF2B5EF4-FFF2-40B4-BE49-F238E27FC236}">
                <a16:creationId xmlns:a16="http://schemas.microsoft.com/office/drawing/2014/main" id="{6C29EDD9-CA75-81C4-577E-377E840ED852}"/>
              </a:ext>
            </a:extLst>
          </p:cNvPr>
          <p:cNvSpPr/>
          <p:nvPr/>
        </p:nvSpPr>
        <p:spPr>
          <a:xfrm>
            <a:off x="784150" y="3073197"/>
            <a:ext cx="7811210" cy="1855473"/>
          </a:xfrm>
          <a:prstGeom prst="rect">
            <a:avLst/>
          </a:prstGeom>
          <a:noFill/>
          <a:ln/>
        </p:spPr>
        <p:txBody>
          <a:bodyPr wrap="square" rtlCol="0" anchor="t"/>
          <a:lstStyle/>
          <a:p>
            <a:r>
              <a:rPr lang="en-US" sz="1000" b="1" kern="0" spc="200" noProof="0" dirty="0">
                <a:solidFill>
                  <a:srgbClr val="21295C"/>
                </a:solidFill>
              </a:rPr>
              <a:t>KEY FINDINGS</a:t>
            </a:r>
            <a:endParaRPr lang="en-US" sz="1000" noProof="0" dirty="0">
              <a:solidFill>
                <a:srgbClr val="64748B"/>
              </a:solidFill>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ANN was the most frequently used model across all five application areas.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No single model was identified as universally best — methods, datasets, and building types varied too much across studies.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Energy management and prediction had the most studies (47.5%); anomaly detection and indoor temperature prediction had the fewest (combined ~10%).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For thermal comfort: ANN, RF, and SVM were the top methods; RF outperformed the traditional PMV model in multiple studies.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Energy savings reported: 21.81–44.36% (Merabet et al., reviewed studies); thermal comfort improvement: 21.67–85.77%.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Specific reported results from individual studies: 17.4–25.7% energy reduction (Ahn et al.); 94.3% higher performance with LSTM (Xiang et al.); 50% energy savings potential with MBPC (Ruano et al.); 40.56% less cooling consumption with MPC+ANN (Eini et al.); 23.9% reduction in natural gas use (</a:t>
            </a:r>
            <a:r>
              <a:rPr lang="en-US" sz="1000" noProof="0" dirty="0" err="1">
                <a:solidFill>
                  <a:srgbClr val="64748B"/>
                </a:solidFill>
                <a:cs typeface="Arial" panose="020B0604020202020204" pitchFamily="34" charset="0"/>
              </a:rPr>
              <a:t>Cotrufo</a:t>
            </a:r>
            <a:r>
              <a:rPr lang="en-US" sz="1000" noProof="0" dirty="0">
                <a:solidFill>
                  <a:srgbClr val="64748B"/>
                </a:solidFill>
                <a:cs typeface="Arial" panose="020B0604020202020204" pitchFamily="34" charset="0"/>
              </a:rPr>
              <a:t> et al.).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For anomaly detection: LSTM combined with ARIMA outperformed individual models.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For HVAC controls: DRL, MPC, MOGA, and fuzzy models were most used; an 8.68% ventilation efficiency improvement was reported (Nam et al.). </a:t>
            </a:r>
          </a:p>
        </p:txBody>
      </p:sp>
    </p:spTree>
    <p:extLst>
      <p:ext uri="{BB962C8B-B14F-4D97-AF65-F5344CB8AC3E}">
        <p14:creationId xmlns:p14="http://schemas.microsoft.com/office/powerpoint/2010/main" val="2875982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6D4AF0-CE1B-3464-94B8-28911108966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6121AF-56BA-114E-5596-B7CC7AC325F0}"/>
              </a:ext>
            </a:extLst>
          </p:cNvPr>
          <p:cNvSpPr/>
          <p:nvPr/>
        </p:nvSpPr>
        <p:spPr>
          <a:xfrm>
            <a:off x="1" y="0"/>
            <a:ext cx="9144000" cy="729015"/>
          </a:xfrm>
          <a:prstGeom prst="rect">
            <a:avLst/>
          </a:prstGeom>
          <a:solidFill>
            <a:srgbClr val="065A82"/>
          </a:solidFill>
          <a:ln/>
        </p:spPr>
        <p:txBody>
          <a:bodyPr/>
          <a:lstStyle/>
          <a:p>
            <a:endParaRPr lang="en-US" noProof="0" dirty="0"/>
          </a:p>
        </p:txBody>
      </p:sp>
      <p:sp>
        <p:nvSpPr>
          <p:cNvPr id="3" name="Text 1">
            <a:extLst>
              <a:ext uri="{FF2B5EF4-FFF2-40B4-BE49-F238E27FC236}">
                <a16:creationId xmlns:a16="http://schemas.microsoft.com/office/drawing/2014/main" id="{C2854BF7-F7C9-A577-8F92-B3D7582B487C}"/>
              </a:ext>
            </a:extLst>
          </p:cNvPr>
          <p:cNvSpPr/>
          <p:nvPr/>
        </p:nvSpPr>
        <p:spPr>
          <a:xfrm>
            <a:off x="572126" y="0"/>
            <a:ext cx="8023234" cy="729015"/>
          </a:xfrm>
          <a:prstGeom prst="rect">
            <a:avLst/>
          </a:prstGeom>
          <a:noFill/>
          <a:ln/>
        </p:spPr>
        <p:txBody>
          <a:bodyPr wrap="square" lIns="91440" tIns="45720" rIns="91440" bIns="45720" rtlCol="0" anchor="ctr"/>
          <a:lstStyle/>
          <a:p>
            <a:r>
              <a:rPr lang="en-US" sz="1400" b="1" kern="0" spc="400" noProof="0" dirty="0">
                <a:solidFill>
                  <a:srgbClr val="FFFFFF"/>
                </a:solidFill>
                <a:latin typeface="Trebuchet MS"/>
                <a:ea typeface="Calibri"/>
                <a:cs typeface="Calibri"/>
              </a:rPr>
              <a:t>REVIEW #9</a:t>
            </a:r>
            <a:endParaRPr lang="en-US" sz="1400" noProof="0" dirty="0">
              <a:latin typeface="Trebuchet MS"/>
              <a:ea typeface="Calibri"/>
              <a:cs typeface="Calibri"/>
            </a:endParaRPr>
          </a:p>
        </p:txBody>
      </p:sp>
      <p:sp>
        <p:nvSpPr>
          <p:cNvPr id="18" name="Shape 16">
            <a:extLst>
              <a:ext uri="{FF2B5EF4-FFF2-40B4-BE49-F238E27FC236}">
                <a16:creationId xmlns:a16="http://schemas.microsoft.com/office/drawing/2014/main" id="{AB9E88B1-925D-35DF-3B66-8C44D1BF37FA}"/>
              </a:ext>
            </a:extLst>
          </p:cNvPr>
          <p:cNvSpPr/>
          <p:nvPr/>
        </p:nvSpPr>
        <p:spPr>
          <a:xfrm>
            <a:off x="601271" y="787400"/>
            <a:ext cx="7994088" cy="4237045"/>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sz="1000" noProof="0" dirty="0"/>
          </a:p>
        </p:txBody>
      </p:sp>
      <p:sp>
        <p:nvSpPr>
          <p:cNvPr id="19" name="Shape 17">
            <a:extLst>
              <a:ext uri="{FF2B5EF4-FFF2-40B4-BE49-F238E27FC236}">
                <a16:creationId xmlns:a16="http://schemas.microsoft.com/office/drawing/2014/main" id="{554CE6EF-9015-AAB0-2666-9CEB43744592}"/>
              </a:ext>
            </a:extLst>
          </p:cNvPr>
          <p:cNvSpPr/>
          <p:nvPr/>
        </p:nvSpPr>
        <p:spPr>
          <a:xfrm>
            <a:off x="601270" y="787400"/>
            <a:ext cx="54000" cy="4237045"/>
          </a:xfrm>
          <a:prstGeom prst="rect">
            <a:avLst/>
          </a:prstGeom>
          <a:solidFill>
            <a:srgbClr val="0D9488"/>
          </a:solidFill>
          <a:ln/>
        </p:spPr>
        <p:txBody>
          <a:bodyPr/>
          <a:lstStyle/>
          <a:p>
            <a:endParaRPr lang="en-US" sz="1000" noProof="0" dirty="0"/>
          </a:p>
        </p:txBody>
      </p:sp>
      <p:sp>
        <p:nvSpPr>
          <p:cNvPr id="20" name="Text 18">
            <a:extLst>
              <a:ext uri="{FF2B5EF4-FFF2-40B4-BE49-F238E27FC236}">
                <a16:creationId xmlns:a16="http://schemas.microsoft.com/office/drawing/2014/main" id="{E2690678-5212-7FEA-EED3-608C215466D6}"/>
              </a:ext>
            </a:extLst>
          </p:cNvPr>
          <p:cNvSpPr/>
          <p:nvPr/>
        </p:nvSpPr>
        <p:spPr>
          <a:xfrm>
            <a:off x="784150" y="833120"/>
            <a:ext cx="8267752" cy="4237045"/>
          </a:xfrm>
          <a:prstGeom prst="rect">
            <a:avLst/>
          </a:prstGeom>
          <a:noFill/>
          <a:ln/>
        </p:spPr>
        <p:txBody>
          <a:bodyPr wrap="square" rtlCol="0" anchor="t"/>
          <a:lstStyle/>
          <a:p>
            <a:r>
              <a:rPr lang="en-US" sz="1000" b="1" kern="0" spc="200" noProof="0" dirty="0">
                <a:solidFill>
                  <a:srgbClr val="0D9488"/>
                </a:solidFill>
              </a:rPr>
              <a:t>FUTURE RESEARCH DIRECTIONS &amp; OPEN PROBLEMS</a:t>
            </a:r>
          </a:p>
          <a:p>
            <a:pPr lvl="0" eaLnBrk="0" fontAlgn="base" hangingPunct="0">
              <a:spcBef>
                <a:spcPct val="0"/>
              </a:spcBef>
              <a:spcAft>
                <a:spcPct val="0"/>
              </a:spcAft>
            </a:pPr>
            <a:endParaRPr lang="en-US" sz="1000" noProof="0" dirty="0">
              <a:solidFill>
                <a:srgbClr val="64748B"/>
              </a:solidFill>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AI models need large, high-quality real-world datasets; solutions requiring less data are lacking.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Most models are trained and tested in simulated or controlled settings — real-world deployments are rare.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Sensor positioning is rarely addressed; wrong placement produces unreliable results.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No </a:t>
            </a:r>
            <a:r>
              <a:rPr lang="en-US" sz="1000" noProof="0" dirty="0" err="1">
                <a:solidFill>
                  <a:srgbClr val="64748B"/>
                </a:solidFill>
                <a:cs typeface="Arial" panose="020B0604020202020204" pitchFamily="34" charset="0"/>
              </a:rPr>
              <a:t>standardised</a:t>
            </a:r>
            <a:r>
              <a:rPr lang="en-US" sz="1000" noProof="0" dirty="0">
                <a:solidFill>
                  <a:srgbClr val="64748B"/>
                </a:solidFill>
                <a:cs typeface="Arial" panose="020B0604020202020204" pitchFamily="34" charset="0"/>
              </a:rPr>
              <a:t> sensor selection or installation guidelines exist for IEQ monitoring.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Most studies limit thermal comfort variables to temperature and relative humidity; other factors (air speed, radiant temperature, personal factors) are omitted.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Poorly calibrated or low-quality sensors distort AI/ML outputs.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Lighting and visual comfort are almost entirely unexplored in AI/IEQ research.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Acoustic comfort is almost entirely unexplored; no studies in this review applied AI/ML to acoustic comfort.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No uniform modelling approach exists; models cannot transfer across buildings with different features.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Selecting the best model for a specific problem is difficult given the diversity of approaches.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Data privacy regulations for continuous occupant monitoring are unclear; collection policies are needed.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Most thermal comfort models use the PMV index, which was developed under steady-state conditions and excludes non-adults and unhealthy individuals.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Regulatory and policy frameworks for AI deployment in buildings are underdeveloped.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AI/ML methods for lighting beyond daylight </a:t>
            </a:r>
            <a:r>
              <a:rPr lang="en-US" sz="1000" noProof="0" dirty="0" err="1">
                <a:solidFill>
                  <a:srgbClr val="64748B"/>
                </a:solidFill>
                <a:cs typeface="Arial" panose="020B0604020202020204" pitchFamily="34" charset="0"/>
              </a:rPr>
              <a:t>optimisation</a:t>
            </a:r>
            <a:r>
              <a:rPr lang="en-US" sz="1000" noProof="0" dirty="0">
                <a:solidFill>
                  <a:srgbClr val="64748B"/>
                </a:solidFill>
                <a:cs typeface="Arial" panose="020B0604020202020204" pitchFamily="34" charset="0"/>
              </a:rPr>
              <a:t> remain unexplored.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Ethical considerations (bias, transparency, fairness) are not addressed in most studies.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Algorithm and result bias risk exists where studies focus on specific locations, races, or genders.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IEQ measurement standards and procedures are rarely followed during data collection; this undermines result validity. </a:t>
            </a:r>
          </a:p>
          <a:p>
            <a:pPr marL="171450" lvl="0" indent="-171450" eaLnBrk="0" fontAlgn="base" hangingPunct="0">
              <a:spcBef>
                <a:spcPct val="0"/>
              </a:spcBef>
              <a:spcAft>
                <a:spcPct val="0"/>
              </a:spcAft>
              <a:buFont typeface="Arial" panose="020B0604020202020204" pitchFamily="34" charset="0"/>
              <a:buChar char="•"/>
            </a:pPr>
            <a:r>
              <a:rPr lang="en-US" sz="1000" noProof="0" dirty="0">
                <a:solidFill>
                  <a:srgbClr val="64748B"/>
                </a:solidFill>
                <a:cs typeface="Arial" panose="020B0604020202020204" pitchFamily="34" charset="0"/>
              </a:rPr>
              <a:t>Sensor quality, calibration, and sensitivity are not reviewed as part of AI/IEQ study methodology. </a:t>
            </a:r>
          </a:p>
          <a:p>
            <a:endParaRPr lang="en-US" sz="1000" noProof="0" dirty="0">
              <a:solidFill>
                <a:srgbClr val="64748B"/>
              </a:solidFill>
            </a:endParaRPr>
          </a:p>
        </p:txBody>
      </p:sp>
    </p:spTree>
    <p:extLst>
      <p:ext uri="{BB962C8B-B14F-4D97-AF65-F5344CB8AC3E}">
        <p14:creationId xmlns:p14="http://schemas.microsoft.com/office/powerpoint/2010/main" val="3204432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D1FFBC96-035D-8795-00DC-BAD5E490DF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4DC2AF-CBD3-0D37-55A7-B75BFBA14D36}"/>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9BB23732-E2AA-2B7D-930D-C1DD95DF64A4}"/>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7A0E8DD6-3B24-6C45-2532-9207F7376F98}"/>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Research ideas</a:t>
            </a:r>
            <a:endParaRPr lang="en-US" sz="3600" noProof="0" dirty="0"/>
          </a:p>
        </p:txBody>
      </p:sp>
      <p:sp>
        <p:nvSpPr>
          <p:cNvPr id="5" name="Text 3">
            <a:extLst>
              <a:ext uri="{FF2B5EF4-FFF2-40B4-BE49-F238E27FC236}">
                <a16:creationId xmlns:a16="http://schemas.microsoft.com/office/drawing/2014/main" id="{018E2FE1-23A2-12DB-45F8-B8F5E4075C32}"/>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62A7C271-48AF-14F9-E874-85313F079DB4}"/>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B9497F51-6B3A-5D0C-56A6-13B56DF3F20A}"/>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1079208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latin typeface="Calibri" panose="020F0502020204030204" pitchFamily="34" charset="0"/>
                <a:ea typeface="Calibri" panose="020F0502020204030204" pitchFamily="34" charset="0"/>
                <a:cs typeface="Calibri" panose="020F0502020204030204" pitchFamily="34" charset="0"/>
              </a:rPr>
              <a:t>RESEARCH IDEA #1</a:t>
            </a:r>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p:cNvSpPr/>
          <p:nvPr/>
        </p:nvSpPr>
        <p:spPr>
          <a:xfrm>
            <a:off x="442341" y="617565"/>
            <a:ext cx="8161020" cy="480060"/>
          </a:xfrm>
          <a:prstGeom prst="rect">
            <a:avLst/>
          </a:prstGeom>
          <a:noFill/>
          <a:ln/>
        </p:spPr>
        <p:txBody>
          <a:bodyPr wrap="square" lIns="0" tIns="0" rIns="0" bIns="0" rtlCol="0" anchor="ctr"/>
          <a:lstStyle/>
          <a:p>
            <a:r>
              <a:rPr lang="en-US" sz="1650" noProof="0" dirty="0">
                <a:solidFill>
                  <a:srgbClr val="101010"/>
                </a:solidFill>
                <a:latin typeface="Calibri" panose="020F0502020204030204" pitchFamily="34" charset="0"/>
                <a:ea typeface="Calibri" panose="020F0502020204030204" pitchFamily="34" charset="0"/>
                <a:cs typeface="Calibri" panose="020F0502020204030204" pitchFamily="34" charset="0"/>
              </a:rPr>
              <a:t>Multidomain Systems: One model for energy, IAQ, and comfort-risk proxies</a:t>
            </a:r>
            <a:endParaRPr lang="en-US" sz="16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4" name="Shape 2"/>
          <p:cNvSpPr/>
          <p:nvPr/>
        </p:nvSpPr>
        <p:spPr>
          <a:xfrm>
            <a:off x="483489" y="1114037"/>
            <a:ext cx="4114800" cy="1059619"/>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5" name="Shape 3"/>
          <p:cNvSpPr/>
          <p:nvPr/>
        </p:nvSpPr>
        <p:spPr>
          <a:xfrm>
            <a:off x="504063" y="1168901"/>
            <a:ext cx="41148" cy="982556"/>
          </a:xfrm>
          <a:prstGeom prst="rect">
            <a:avLst/>
          </a:prstGeom>
          <a:solidFill>
            <a:srgbClr val="D88800"/>
          </a:solidFill>
          <a:ln w="12700">
            <a:solidFill>
              <a:srgbClr val="D88800"/>
            </a:solidFill>
            <a:prstDash val="solid"/>
          </a:ln>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606933" y="1196333"/>
            <a:ext cx="3922776" cy="115595"/>
          </a:xfrm>
          <a:prstGeom prst="rect">
            <a:avLst/>
          </a:prstGeom>
          <a:noFill/>
          <a:ln/>
        </p:spPr>
        <p:txBody>
          <a:bodyPr wrap="square" lIns="0" tIns="0" rIns="0" bIns="0" rtlCol="0" anchor="ctr"/>
          <a:lstStyle/>
          <a:p>
            <a:r>
              <a:rPr lang="en-US" sz="1000" b="1" noProof="0" dirty="0">
                <a:solidFill>
                  <a:srgbClr val="D88800"/>
                </a:solidFill>
                <a:latin typeface="Calibri" panose="020F0502020204030204" pitchFamily="34" charset="0"/>
                <a:ea typeface="Calibri" panose="020F0502020204030204" pitchFamily="34" charset="0"/>
                <a:cs typeface="Calibri" panose="020F0502020204030204" pitchFamily="34" charset="0"/>
              </a:rPr>
              <a:t>RESEARCH QUESTION</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p:nvPr/>
        </p:nvSpPr>
        <p:spPr>
          <a:xfrm>
            <a:off x="606933" y="1402073"/>
            <a:ext cx="3936492" cy="895860"/>
          </a:xfrm>
          <a:prstGeom prst="rect">
            <a:avLst/>
          </a:prstGeom>
          <a:noFill/>
          <a:ln/>
        </p:spPr>
        <p:txBody>
          <a:bodyPr wrap="square" lIns="0" tIns="0" rIns="0" bIns="0" rtlCol="0" anchor="t">
            <a:normAutofit/>
          </a:bodyPr>
          <a:lstStyle/>
          <a:p>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Does multi-task learning outperform separate models when forecasting HVAC energy, CO₂, TVOC, and comfort-risk proxies?</a:t>
            </a:r>
            <a:endParaRPr lang="en-US" sz="1050" noProof="0" dirty="0">
              <a:latin typeface="Calibri" panose="020F0502020204030204" pitchFamily="34" charset="0"/>
              <a:ea typeface="Calibri" panose="020F0502020204030204" pitchFamily="34" charset="0"/>
              <a:cs typeface="Calibri" panose="020F0502020204030204" pitchFamily="34" charset="0"/>
            </a:endParaRPr>
          </a:p>
          <a:p>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Does shared learning transfer better across pre-retrofit and post-retrofit operation?</a:t>
            </a:r>
            <a:endParaRPr lang="en-US" sz="10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8" name="Shape 6"/>
          <p:cNvSpPr/>
          <p:nvPr/>
        </p:nvSpPr>
        <p:spPr>
          <a:xfrm>
            <a:off x="4783455" y="1114037"/>
            <a:ext cx="3909060" cy="1059619"/>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9" name="Shape 7"/>
          <p:cNvSpPr/>
          <p:nvPr/>
        </p:nvSpPr>
        <p:spPr>
          <a:xfrm>
            <a:off x="4804029" y="1168901"/>
            <a:ext cx="41148" cy="982556"/>
          </a:xfrm>
          <a:prstGeom prst="rect">
            <a:avLst/>
          </a:prstGeom>
          <a:solidFill>
            <a:srgbClr val="10A07D"/>
          </a:solidFill>
          <a:ln w="12700">
            <a:solidFill>
              <a:srgbClr val="10A07D"/>
            </a:solidFill>
            <a:prstDash val="solid"/>
          </a:ln>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8"/>
          <p:cNvSpPr/>
          <p:nvPr/>
        </p:nvSpPr>
        <p:spPr>
          <a:xfrm>
            <a:off x="4906899" y="1196333"/>
            <a:ext cx="3717036" cy="115595"/>
          </a:xfrm>
          <a:prstGeom prst="rect">
            <a:avLst/>
          </a:prstGeom>
          <a:noFill/>
          <a:ln/>
        </p:spPr>
        <p:txBody>
          <a:bodyPr wrap="square" lIns="0" tIns="0" rIns="0" bIns="0" rtlCol="0" anchor="ctr"/>
          <a:lstStyle/>
          <a:p>
            <a:r>
              <a:rPr lang="en-US" sz="1000" b="1" noProof="0" dirty="0">
                <a:solidFill>
                  <a:srgbClr val="10A07D"/>
                </a:solidFill>
                <a:latin typeface="Calibri" panose="020F0502020204030204" pitchFamily="34" charset="0"/>
                <a:ea typeface="Calibri" panose="020F0502020204030204" pitchFamily="34" charset="0"/>
                <a:cs typeface="Calibri" panose="020F0502020204030204" pitchFamily="34" charset="0"/>
              </a:rPr>
              <a:t>WHAT IS ALREADY KNOWN</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9"/>
          <p:cNvSpPr/>
          <p:nvPr/>
        </p:nvSpPr>
        <p:spPr>
          <a:xfrm>
            <a:off x="4906899" y="1402073"/>
            <a:ext cx="3730752" cy="895860"/>
          </a:xfrm>
          <a:prstGeom prst="rect">
            <a:avLst/>
          </a:prstGeom>
          <a:noFill/>
          <a:ln/>
        </p:spPr>
        <p:txBody>
          <a:bodyPr wrap="square" lIns="0" tIns="0" rIns="0" bIns="0" rtlCol="0" anchor="t">
            <a:normAutofit/>
          </a:bodyPr>
          <a:lstStyle/>
          <a:p>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Public datasets usually provide either detailed energy or rich IEQ, but rarely both together.</a:t>
            </a:r>
            <a:endParaRPr lang="en-US" sz="1050" noProof="0" dirty="0">
              <a:latin typeface="Calibri" panose="020F0502020204030204" pitchFamily="34" charset="0"/>
              <a:ea typeface="Calibri" panose="020F0502020204030204" pitchFamily="34" charset="0"/>
              <a:cs typeface="Calibri" panose="020F0502020204030204" pitchFamily="34" charset="0"/>
            </a:endParaRPr>
          </a:p>
          <a:p>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Retrofit papers seldom test whether one shared representation can improve both energy and IEQ modeling.</a:t>
            </a:r>
            <a:endParaRPr lang="en-US" sz="10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2" name="Shape 10"/>
          <p:cNvSpPr/>
          <p:nvPr/>
        </p:nvSpPr>
        <p:spPr>
          <a:xfrm>
            <a:off x="483489" y="2283384"/>
            <a:ext cx="4114800" cy="142924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11"/>
          <p:cNvSpPr/>
          <p:nvPr/>
        </p:nvSpPr>
        <p:spPr>
          <a:xfrm>
            <a:off x="504063" y="2338248"/>
            <a:ext cx="41148" cy="1325298"/>
          </a:xfrm>
          <a:prstGeom prst="rect">
            <a:avLst/>
          </a:prstGeom>
          <a:solidFill>
            <a:srgbClr val="0A6E8F"/>
          </a:solidFill>
          <a:ln w="12700">
            <a:solidFill>
              <a:srgbClr val="0A6E8F"/>
            </a:solidFill>
            <a:prstDash val="solid"/>
          </a:ln>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2"/>
          <p:cNvSpPr/>
          <p:nvPr/>
        </p:nvSpPr>
        <p:spPr>
          <a:xfrm>
            <a:off x="606933" y="2365680"/>
            <a:ext cx="3922776" cy="155918"/>
          </a:xfrm>
          <a:prstGeom prst="rect">
            <a:avLst/>
          </a:prstGeom>
          <a:noFill/>
          <a:ln/>
        </p:spPr>
        <p:txBody>
          <a:bodyPr wrap="square" lIns="0" tIns="0" rIns="0" bIns="0" rtlCol="0" anchor="ctr"/>
          <a:lstStyle/>
          <a:p>
            <a:r>
              <a:rPr lang="en-US" sz="1000" b="1" noProof="0" dirty="0">
                <a:solidFill>
                  <a:srgbClr val="0A6E8F"/>
                </a:solidFill>
                <a:latin typeface="Calibri" panose="020F0502020204030204" pitchFamily="34" charset="0"/>
                <a:ea typeface="Calibri" panose="020F0502020204030204" pitchFamily="34" charset="0"/>
                <a:cs typeface="Calibri" panose="020F0502020204030204" pitchFamily="34" charset="0"/>
              </a:rPr>
              <a:t>EXPECTED CONTRIBUTION / USE</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3"/>
          <p:cNvSpPr/>
          <p:nvPr/>
        </p:nvSpPr>
        <p:spPr>
          <a:xfrm>
            <a:off x="606933" y="2571420"/>
            <a:ext cx="3936492" cy="1208360"/>
          </a:xfrm>
          <a:prstGeom prst="rect">
            <a:avLst/>
          </a:prstGeom>
          <a:noFill/>
          <a:ln/>
        </p:spPr>
        <p:txBody>
          <a:bodyPr wrap="square" lIns="0" tIns="0" rIns="0" bIns="0" rtlCol="0" anchor="t">
            <a:normAutofit/>
          </a:bodyPr>
          <a:lstStyle/>
          <a:p>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Direct comparison of single-task baselines versus a shared encoder with task-specific heads.</a:t>
            </a:r>
            <a:endParaRPr lang="en-US" sz="1050" noProof="0" dirty="0">
              <a:latin typeface="Calibri" panose="020F0502020204030204" pitchFamily="34" charset="0"/>
              <a:ea typeface="Calibri" panose="020F0502020204030204" pitchFamily="34" charset="0"/>
              <a:cs typeface="Calibri" panose="020F0502020204030204" pitchFamily="34" charset="0"/>
            </a:endParaRPr>
          </a:p>
          <a:p>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Useful for control-oriented digital twins where energy and IEQ must be optimized jointly.</a:t>
            </a:r>
            <a:endParaRPr lang="en-US" sz="10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6" name="Shape 14"/>
          <p:cNvSpPr/>
          <p:nvPr/>
        </p:nvSpPr>
        <p:spPr>
          <a:xfrm>
            <a:off x="4783455" y="2313595"/>
            <a:ext cx="3909060" cy="1399032"/>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7" name="Shape 15"/>
          <p:cNvSpPr/>
          <p:nvPr/>
        </p:nvSpPr>
        <p:spPr>
          <a:xfrm>
            <a:off x="4804029" y="2368459"/>
            <a:ext cx="41148" cy="1297284"/>
          </a:xfrm>
          <a:prstGeom prst="rect">
            <a:avLst/>
          </a:prstGeom>
          <a:solidFill>
            <a:srgbClr val="374C8A"/>
          </a:solidFill>
          <a:ln w="12700">
            <a:solidFill>
              <a:srgbClr val="374C8A"/>
            </a:solidFill>
            <a:prstDash val="solid"/>
          </a:ln>
        </p:spPr>
        <p:txBody>
          <a:bodyPr/>
          <a:lstStyle/>
          <a:p>
            <a:endParaRPr lang="en-US" sz="12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6"/>
          <p:cNvSpPr/>
          <p:nvPr/>
        </p:nvSpPr>
        <p:spPr>
          <a:xfrm>
            <a:off x="4913757" y="2369806"/>
            <a:ext cx="3717036" cy="152622"/>
          </a:xfrm>
          <a:prstGeom prst="rect">
            <a:avLst/>
          </a:prstGeom>
          <a:noFill/>
          <a:ln/>
        </p:spPr>
        <p:txBody>
          <a:bodyPr wrap="square" lIns="0" tIns="0" rIns="0" bIns="0" rtlCol="0" anchor="ctr"/>
          <a:lstStyle/>
          <a:p>
            <a:r>
              <a:rPr lang="en-US" sz="1000" b="1" noProof="0" dirty="0">
                <a:solidFill>
                  <a:srgbClr val="374C8A"/>
                </a:solidFill>
                <a:latin typeface="Calibri" panose="020F0502020204030204" pitchFamily="34" charset="0"/>
                <a:ea typeface="Calibri" panose="020F0502020204030204" pitchFamily="34" charset="0"/>
                <a:cs typeface="Calibri" panose="020F0502020204030204" pitchFamily="34" charset="0"/>
              </a:rPr>
              <a:t>DATASET(S) AND KEY VARIABLES</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7"/>
          <p:cNvSpPr/>
          <p:nvPr/>
        </p:nvSpPr>
        <p:spPr>
          <a:xfrm>
            <a:off x="4906899" y="2530883"/>
            <a:ext cx="3730752" cy="1030196"/>
          </a:xfrm>
          <a:prstGeom prst="rect">
            <a:avLst/>
          </a:prstGeom>
          <a:noFill/>
          <a:ln/>
        </p:spPr>
        <p:txBody>
          <a:bodyPr wrap="square" lIns="0" tIns="0" rIns="0" bIns="0" rtlCol="0" anchor="t">
            <a:normAutofit fontScale="92500" lnSpcReduction="10000"/>
          </a:bodyPr>
          <a:lstStyle/>
          <a:p>
            <a:r>
              <a:rPr lang="en-US" sz="900" b="1" noProof="0" dirty="0">
                <a:solidFill>
                  <a:srgbClr val="586881"/>
                </a:solidFill>
              </a:rPr>
              <a:t>Dormitory retrofit dataset — </a:t>
            </a:r>
            <a:r>
              <a:rPr lang="en-US" sz="900" noProof="0" dirty="0">
                <a:solidFill>
                  <a:srgbClr val="586881"/>
                </a:solidFill>
              </a:rPr>
              <a:t>2 years; 16 student apartments; pre/post deep retrofit. Variables: CO₂, TVOC, temperature, RH, lighting, window/door state, weather, and 16 end-use energy channels. Strongest main dataset for joint </a:t>
            </a:r>
            <a:r>
              <a:rPr lang="en-US" sz="900" noProof="0" dirty="0" err="1">
                <a:solidFill>
                  <a:srgbClr val="586881"/>
                </a:solidFill>
              </a:rPr>
              <a:t>energy+IAQ</a:t>
            </a:r>
            <a:r>
              <a:rPr lang="en-US" sz="900" noProof="0" dirty="0">
                <a:solidFill>
                  <a:srgbClr val="586881"/>
                </a:solidFill>
              </a:rPr>
              <a:t> modeling.</a:t>
            </a:r>
            <a:endParaRPr lang="en-US" sz="1000" noProof="0" dirty="0"/>
          </a:p>
          <a:p>
            <a:pPr>
              <a:lnSpc>
                <a:spcPct val="100000"/>
              </a:lnSpc>
              <a:spcAft>
                <a:spcPts val="0"/>
              </a:spcAft>
            </a:pPr>
            <a:r>
              <a:rPr lang="en-US" sz="900" b="1" noProof="0" dirty="0">
                <a:solidFill>
                  <a:srgbClr val="586881"/>
                </a:solidFill>
              </a:rPr>
              <a:t>Pre-retrofit university apartment dataset — </a:t>
            </a:r>
            <a:r>
              <a:rPr lang="en-US" sz="900" noProof="0" dirty="0">
                <a:solidFill>
                  <a:srgbClr val="586881"/>
                </a:solidFill>
              </a:rPr>
              <a:t>12 months; 14 apartments. Variables: energy, temperature, RH, CO₂, TVOC, PM2.5, PM10, heat flux, surface temperatures, local air conditions, motion, and door/window counts. Best IEQ/physics-rich alternative.</a:t>
            </a:r>
            <a:endParaRPr lang="en-US" sz="800" u="sng" noProof="0" dirty="0">
              <a:solidFill>
                <a:srgbClr val="0066CC"/>
              </a:solidFill>
              <a:hlinkClick r:id="rId3"/>
            </a:endParaRPr>
          </a:p>
          <a:p>
            <a:pPr>
              <a:lnSpc>
                <a:spcPct val="100000"/>
              </a:lnSpc>
              <a:spcAft>
                <a:spcPts val="0"/>
              </a:spcAft>
            </a:pPr>
            <a:r>
              <a:rPr lang="en-US" sz="900" b="1" noProof="0" dirty="0">
                <a:solidFill>
                  <a:srgbClr val="586881"/>
                </a:solidFill>
              </a:rPr>
              <a:t>ASHRAE Global Thermal Comfort Database II — </a:t>
            </a:r>
            <a:r>
              <a:rPr lang="en-US" sz="900" noProof="0" dirty="0">
                <a:solidFill>
                  <a:srgbClr val="586881"/>
                </a:solidFill>
              </a:rPr>
              <a:t>&gt;100k paired subjective comfort records with environmental measurements. Best source for real comfort labels, but without detailed apartment end-use energy.</a:t>
            </a:r>
          </a:p>
        </p:txBody>
      </p:sp>
      <p:sp>
        <p:nvSpPr>
          <p:cNvPr id="20" name="Text 18"/>
          <p:cNvSpPr/>
          <p:nvPr/>
        </p:nvSpPr>
        <p:spPr>
          <a:xfrm>
            <a:off x="4906899" y="4063836"/>
            <a:ext cx="3730752" cy="109728"/>
          </a:xfrm>
          <a:prstGeom prst="rect">
            <a:avLst/>
          </a:prstGeom>
          <a:noFill/>
          <a:ln/>
        </p:spPr>
        <p:txBody>
          <a:bodyPr wrap="square" lIns="0" tIns="0" rIns="0" bIns="0" rtlCol="0" anchor="ctr"/>
          <a:lstStyle/>
          <a:p>
            <a:r>
              <a:rPr lang="en-US" sz="765" noProof="0" dirty="0">
                <a:solidFill>
                  <a:srgbClr val="68788F"/>
                </a:solidFill>
                <a:latin typeface="Calibri" panose="020F0502020204030204" pitchFamily="34" charset="0"/>
                <a:ea typeface="Calibri" panose="020F0502020204030204" pitchFamily="34" charset="0"/>
                <a:cs typeface="Calibri" panose="020F0502020204030204" pitchFamily="34" charset="0"/>
              </a:rPr>
              <a:t>Download: </a:t>
            </a:r>
            <a:r>
              <a:rPr lang="en-US" sz="765" u="sng" noProof="0"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Dormitory retrofit DOI</a:t>
            </a:r>
            <a:endParaRPr lang="en-US" sz="765" noProof="0" dirty="0">
              <a:latin typeface="Calibri" panose="020F0502020204030204" pitchFamily="34" charset="0"/>
              <a:ea typeface="Calibri" panose="020F0502020204030204" pitchFamily="34" charset="0"/>
              <a:cs typeface="Calibri" panose="020F0502020204030204" pitchFamily="34" charset="0"/>
            </a:endParaRPr>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pPr algn="r"/>
              <a:t>46</a:t>
            </a:fld>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1" name="Shape 10">
            <a:extLst>
              <a:ext uri="{FF2B5EF4-FFF2-40B4-BE49-F238E27FC236}">
                <a16:creationId xmlns:a16="http://schemas.microsoft.com/office/drawing/2014/main" id="{1FBB2D01-6E38-1392-BFD6-FDF76D769570}"/>
              </a:ext>
            </a:extLst>
          </p:cNvPr>
          <p:cNvSpPr/>
          <p:nvPr/>
        </p:nvSpPr>
        <p:spPr>
          <a:xfrm>
            <a:off x="483489" y="3829602"/>
            <a:ext cx="8209026" cy="118808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0E7A22CD-D1D6-0A45-B2A9-3364C789CFB8}"/>
              </a:ext>
            </a:extLst>
          </p:cNvPr>
          <p:cNvSpPr/>
          <p:nvPr/>
        </p:nvSpPr>
        <p:spPr>
          <a:xfrm>
            <a:off x="510921" y="3902754"/>
            <a:ext cx="45719" cy="1101681"/>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E4676ED3-65A9-575A-AC90-4FDEC5485B8D}"/>
              </a:ext>
            </a:extLst>
          </p:cNvPr>
          <p:cNvSpPr/>
          <p:nvPr/>
        </p:nvSpPr>
        <p:spPr>
          <a:xfrm>
            <a:off x="648081" y="3939331"/>
            <a:ext cx="7825938" cy="129610"/>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03E2E192-D20B-5FC3-BF73-20385E806DCC}"/>
              </a:ext>
            </a:extLst>
          </p:cNvPr>
          <p:cNvSpPr/>
          <p:nvPr/>
        </p:nvSpPr>
        <p:spPr>
          <a:xfrm>
            <a:off x="652653" y="4133124"/>
            <a:ext cx="7853302" cy="838595"/>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Assemble one shared dataset with aligned energy, IAQ, weather, and building-operation variables.</a:t>
            </a:r>
          </a:p>
          <a:p>
            <a:pPr marL="171450" indent="-171450">
              <a:buFont typeface="Arial" panose="020B0604020202020204" pitchFamily="34" charset="0"/>
              <a:buChar char="•"/>
            </a:pPr>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Define three target branches: energy prediction, IAQ prediction, and discomfort-risk proxy prediction.</a:t>
            </a:r>
          </a:p>
          <a:p>
            <a:pPr marL="171450" indent="-171450">
              <a:buFont typeface="Arial" panose="020B0604020202020204" pitchFamily="34" charset="0"/>
              <a:buChar char="•"/>
            </a:pPr>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separate single-task baselines for each target.</a:t>
            </a:r>
          </a:p>
          <a:p>
            <a:pPr marL="171450" indent="-171450">
              <a:buFont typeface="Arial" panose="020B0604020202020204" pitchFamily="34" charset="0"/>
              <a:buChar char="•"/>
            </a:pPr>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one multi-task model with a shared encoder and task-specific heads.</a:t>
            </a:r>
          </a:p>
          <a:p>
            <a:pPr marL="171450" indent="-171450">
              <a:buFont typeface="Arial" panose="020B0604020202020204" pitchFamily="34" charset="0"/>
              <a:buChar char="•"/>
            </a:pPr>
            <a:r>
              <a:rPr lang="en-US" sz="105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accuracy, cross-season transfer, and pre-/post-retrofit generalization against the single-task models.</a:t>
            </a:r>
          </a:p>
        </p:txBody>
      </p:sp>
      <p:sp>
        <p:nvSpPr>
          <p:cNvPr id="27" name="TextBox 26">
            <a:extLst>
              <a:ext uri="{FF2B5EF4-FFF2-40B4-BE49-F238E27FC236}">
                <a16:creationId xmlns:a16="http://schemas.microsoft.com/office/drawing/2014/main" id="{1EADE7D8-FCD5-5EE9-BBBB-5EF272B94781}"/>
              </a:ext>
            </a:extLst>
          </p:cNvPr>
          <p:cNvSpPr txBox="1"/>
          <p:nvPr/>
        </p:nvSpPr>
        <p:spPr>
          <a:xfrm>
            <a:off x="4369764" y="3507405"/>
            <a:ext cx="4290747" cy="215444"/>
          </a:xfrm>
          <a:prstGeom prst="rect">
            <a:avLst/>
          </a:prstGeom>
          <a:noFill/>
        </p:spPr>
        <p:txBody>
          <a:bodyPr wrap="square">
            <a:spAutoFit/>
          </a:bodyPr>
          <a:lstStyle/>
          <a:p>
            <a:pPr lvl="1">
              <a:spcAft>
                <a:spcPts val="100"/>
              </a:spcAft>
            </a:pPr>
            <a:r>
              <a:rPr lang="en-US" sz="800" u="sng" noProof="0" dirty="0">
                <a:solidFill>
                  <a:srgbClr val="0066CC"/>
                </a:solidFill>
                <a:latin typeface="Aptos"/>
                <a:hlinkClick r:id="rId4"/>
              </a:rPr>
              <a:t>Dormitory retrofit, </a:t>
            </a:r>
            <a:r>
              <a:rPr lang="en-US" sz="800" u="sng" noProof="0" dirty="0">
                <a:solidFill>
                  <a:srgbClr val="0066CC"/>
                </a:solidFill>
                <a:latin typeface="Aptos"/>
                <a:hlinkClick r:id="rId3"/>
              </a:rPr>
              <a:t>University apartments, </a:t>
            </a:r>
            <a:r>
              <a:rPr lang="en-US" sz="800" u="sng" noProof="0" dirty="0">
                <a:solidFill>
                  <a:srgbClr val="0066CC"/>
                </a:solidFill>
                <a:latin typeface="Aptos"/>
                <a:hlinkClick r:id="rId5"/>
              </a:rPr>
              <a:t>ASHRAE</a:t>
            </a:r>
            <a:endParaRPr lang="en-US" sz="800" u="sng" noProof="0" dirty="0">
              <a:solidFill>
                <a:srgbClr val="0066CC"/>
              </a:solidFill>
              <a:latin typeface="Aptos"/>
              <a:hlinkClick r:id="rId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latin typeface="Calibri" panose="020F0502020204030204" pitchFamily="34" charset="0"/>
                <a:ea typeface="Calibri" panose="020F0502020204030204" pitchFamily="34" charset="0"/>
                <a:cs typeface="Calibri" panose="020F0502020204030204" pitchFamily="34" charset="0"/>
              </a:rPr>
              <a:t>RESEARCH IDEA #2</a:t>
            </a:r>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p:cNvSpPr/>
          <p:nvPr/>
        </p:nvSpPr>
        <p:spPr>
          <a:xfrm>
            <a:off x="425196" y="809244"/>
            <a:ext cx="8161020" cy="480060"/>
          </a:xfrm>
          <a:prstGeom prst="rect">
            <a:avLst/>
          </a:prstGeom>
          <a:noFill/>
          <a:ln/>
        </p:spPr>
        <p:txBody>
          <a:bodyPr wrap="square" lIns="0" tIns="0" rIns="0" bIns="0" rtlCol="0" anchor="ctr"/>
          <a:lstStyle/>
          <a:p>
            <a:r>
              <a:rPr lang="en-US" sz="1650" noProof="0" dirty="0">
                <a:solidFill>
                  <a:srgbClr val="101010"/>
                </a:solidFill>
                <a:latin typeface="Calibri" panose="020F0502020204030204" pitchFamily="34" charset="0"/>
                <a:ea typeface="Calibri" panose="020F0502020204030204" pitchFamily="34" charset="0"/>
                <a:cs typeface="Calibri" panose="020F0502020204030204" pitchFamily="34" charset="0"/>
              </a:rPr>
              <a:t>Personalization to Real Occupants: Few-shot adaptation for repeated IEQ votes</a:t>
            </a:r>
            <a:endParaRPr lang="en-US" sz="16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4" name="Shape 2"/>
          <p:cNvSpPr/>
          <p:nvPr/>
        </p:nvSpPr>
        <p:spPr>
          <a:xfrm>
            <a:off x="466344" y="1440180"/>
            <a:ext cx="4114800" cy="102014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5" name="Shape 3"/>
          <p:cNvSpPr/>
          <p:nvPr/>
        </p:nvSpPr>
        <p:spPr>
          <a:xfrm>
            <a:off x="486918" y="1495044"/>
            <a:ext cx="41148" cy="945955"/>
          </a:xfrm>
          <a:prstGeom prst="rect">
            <a:avLst/>
          </a:prstGeom>
          <a:solidFill>
            <a:srgbClr val="D88800"/>
          </a:solidFill>
          <a:ln w="12700">
            <a:solidFill>
              <a:srgbClr val="D88800"/>
            </a:solidFill>
            <a:prstDash val="solid"/>
          </a:ln>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589788" y="1522476"/>
            <a:ext cx="3922776" cy="111289"/>
          </a:xfrm>
          <a:prstGeom prst="rect">
            <a:avLst/>
          </a:prstGeom>
          <a:noFill/>
          <a:ln/>
        </p:spPr>
        <p:txBody>
          <a:bodyPr wrap="square" lIns="0" tIns="0" rIns="0" bIns="0" rtlCol="0" anchor="ctr"/>
          <a:lstStyle/>
          <a:p>
            <a:r>
              <a:rPr lang="en-US" sz="863" b="1" noProof="0" dirty="0">
                <a:solidFill>
                  <a:srgbClr val="D88800"/>
                </a:solidFill>
                <a:latin typeface="Calibri" panose="020F0502020204030204" pitchFamily="34" charset="0"/>
                <a:ea typeface="Calibri" panose="020F0502020204030204" pitchFamily="34" charset="0"/>
                <a:cs typeface="Calibri" panose="020F0502020204030204" pitchFamily="34" charset="0"/>
              </a:rPr>
              <a:t>RESEARCH QUESTION</a:t>
            </a:r>
            <a:endParaRPr lang="en-US" sz="863" noProof="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p:nvPr/>
        </p:nvSpPr>
        <p:spPr>
          <a:xfrm>
            <a:off x="589788" y="1728216"/>
            <a:ext cx="3936492" cy="1275588"/>
          </a:xfrm>
          <a:prstGeom prst="rect">
            <a:avLst/>
          </a:prstGeom>
          <a:noFill/>
          <a:ln/>
        </p:spPr>
        <p:txBody>
          <a:bodyPr wrap="square" lIns="0" tIns="0" rIns="0" bIns="0" rtlCol="0" anchor="t">
            <a:normAutofit/>
          </a:bodyPr>
          <a:lstStyle/>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How many repeated votes are needed before a personal model beats a population model?</a:t>
            </a:r>
            <a:endParaRPr lang="en-US" sz="1000" noProof="0" dirty="0">
              <a:latin typeface="Calibri" panose="020F0502020204030204" pitchFamily="34" charset="0"/>
              <a:ea typeface="Calibri" panose="020F0502020204030204" pitchFamily="34" charset="0"/>
              <a:cs typeface="Calibri" panose="020F0502020204030204" pitchFamily="34" charset="0"/>
            </a:endParaRP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Is personalization equally useful for thermal, IAQ, visual, acoustic, and overall IEQ satisfaction?</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8" name="Shape 6"/>
          <p:cNvSpPr/>
          <p:nvPr/>
        </p:nvSpPr>
        <p:spPr>
          <a:xfrm>
            <a:off x="4766310" y="1440180"/>
            <a:ext cx="3909060" cy="102014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9" name="Shape 7"/>
          <p:cNvSpPr/>
          <p:nvPr/>
        </p:nvSpPr>
        <p:spPr>
          <a:xfrm>
            <a:off x="4786884" y="1495044"/>
            <a:ext cx="41148" cy="945955"/>
          </a:xfrm>
          <a:prstGeom prst="rect">
            <a:avLst/>
          </a:prstGeom>
          <a:solidFill>
            <a:srgbClr val="10A07D"/>
          </a:solidFill>
          <a:ln w="12700">
            <a:solidFill>
              <a:srgbClr val="10A07D"/>
            </a:solidFill>
            <a:prstDash val="solid"/>
          </a:ln>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8"/>
          <p:cNvSpPr/>
          <p:nvPr/>
        </p:nvSpPr>
        <p:spPr>
          <a:xfrm>
            <a:off x="4889754" y="1522476"/>
            <a:ext cx="3717036" cy="111289"/>
          </a:xfrm>
          <a:prstGeom prst="rect">
            <a:avLst/>
          </a:prstGeom>
          <a:noFill/>
          <a:ln/>
        </p:spPr>
        <p:txBody>
          <a:bodyPr wrap="square" lIns="0" tIns="0" rIns="0" bIns="0" rtlCol="0" anchor="ctr"/>
          <a:lstStyle/>
          <a:p>
            <a:r>
              <a:rPr lang="en-US" sz="863" b="1" noProof="0" dirty="0">
                <a:solidFill>
                  <a:srgbClr val="10A07D"/>
                </a:solidFill>
                <a:latin typeface="Calibri" panose="020F0502020204030204" pitchFamily="34" charset="0"/>
                <a:ea typeface="Calibri" panose="020F0502020204030204" pitchFamily="34" charset="0"/>
                <a:cs typeface="Calibri" panose="020F0502020204030204" pitchFamily="34" charset="0"/>
              </a:rPr>
              <a:t>WHAT IS ALREADY KNOWN</a:t>
            </a:r>
            <a:endParaRPr lang="en-US" sz="863" noProof="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9"/>
          <p:cNvSpPr/>
          <p:nvPr/>
        </p:nvSpPr>
        <p:spPr>
          <a:xfrm>
            <a:off x="4889754" y="1728216"/>
            <a:ext cx="3730752" cy="1275588"/>
          </a:xfrm>
          <a:prstGeom prst="rect">
            <a:avLst/>
          </a:prstGeom>
          <a:noFill/>
          <a:ln/>
        </p:spPr>
        <p:txBody>
          <a:bodyPr wrap="square" lIns="0" tIns="0" rIns="0" bIns="0" rtlCol="0" anchor="t">
            <a:normAutofit/>
          </a:bodyPr>
          <a:lstStyle/>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Personal comfort modeling is well studied for thermal comfort, much less for full IEQ.</a:t>
            </a:r>
            <a:endParaRPr lang="en-US" sz="1000" noProof="0" dirty="0">
              <a:latin typeface="Calibri" panose="020F0502020204030204" pitchFamily="34" charset="0"/>
              <a:ea typeface="Calibri" panose="020F0502020204030204" pitchFamily="34" charset="0"/>
              <a:cs typeface="Calibri" panose="020F0502020204030204" pitchFamily="34" charset="0"/>
            </a:endParaRP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Open repeated-measures datasets with all four IEQ domains are still rare.</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2" name="Shape 10"/>
          <p:cNvSpPr/>
          <p:nvPr/>
        </p:nvSpPr>
        <p:spPr>
          <a:xfrm>
            <a:off x="466344" y="2560181"/>
            <a:ext cx="4114800" cy="1149512"/>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11"/>
          <p:cNvSpPr/>
          <p:nvPr/>
        </p:nvSpPr>
        <p:spPr>
          <a:xfrm>
            <a:off x="486918" y="2615045"/>
            <a:ext cx="41148" cy="1065911"/>
          </a:xfrm>
          <a:prstGeom prst="rect">
            <a:avLst/>
          </a:prstGeom>
          <a:solidFill>
            <a:srgbClr val="0A6E8F"/>
          </a:solidFill>
          <a:ln w="12700">
            <a:solidFill>
              <a:srgbClr val="0A6E8F"/>
            </a:solidFill>
            <a:prstDash val="solid"/>
          </a:ln>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2"/>
          <p:cNvSpPr/>
          <p:nvPr/>
        </p:nvSpPr>
        <p:spPr>
          <a:xfrm>
            <a:off x="589788" y="2642477"/>
            <a:ext cx="3922776" cy="125401"/>
          </a:xfrm>
          <a:prstGeom prst="rect">
            <a:avLst/>
          </a:prstGeom>
          <a:noFill/>
          <a:ln/>
        </p:spPr>
        <p:txBody>
          <a:bodyPr wrap="square" lIns="0" tIns="0" rIns="0" bIns="0" rtlCol="0" anchor="ctr"/>
          <a:lstStyle/>
          <a:p>
            <a:r>
              <a:rPr lang="en-US" sz="863" b="1" noProof="0" dirty="0">
                <a:solidFill>
                  <a:srgbClr val="0A6E8F"/>
                </a:solidFill>
                <a:latin typeface="Calibri" panose="020F0502020204030204" pitchFamily="34" charset="0"/>
                <a:ea typeface="Calibri" panose="020F0502020204030204" pitchFamily="34" charset="0"/>
                <a:cs typeface="Calibri" panose="020F0502020204030204" pitchFamily="34" charset="0"/>
              </a:rPr>
              <a:t>EXPECTED CONTRIBUTION / USE</a:t>
            </a:r>
            <a:endParaRPr lang="en-US" sz="863" noProof="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3"/>
          <p:cNvSpPr/>
          <p:nvPr/>
        </p:nvSpPr>
        <p:spPr>
          <a:xfrm>
            <a:off x="589788" y="2848217"/>
            <a:ext cx="3936492" cy="971860"/>
          </a:xfrm>
          <a:prstGeom prst="rect">
            <a:avLst/>
          </a:prstGeom>
          <a:noFill/>
          <a:ln/>
        </p:spPr>
        <p:txBody>
          <a:bodyPr wrap="square" lIns="0" tIns="0" rIns="0" bIns="0" rtlCol="0" anchor="t">
            <a:normAutofit/>
          </a:bodyPr>
          <a:lstStyle/>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Few-shot adaptation benchmark with 0, 3, 5, 10, and 15 personal votes.</a:t>
            </a:r>
            <a:endParaRPr lang="en-US" sz="1000" noProof="0" dirty="0">
              <a:latin typeface="Calibri" panose="020F0502020204030204" pitchFamily="34" charset="0"/>
              <a:ea typeface="Calibri" panose="020F0502020204030204" pitchFamily="34" charset="0"/>
              <a:cs typeface="Calibri" panose="020F0502020204030204" pitchFamily="34" charset="0"/>
            </a:endParaRP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Quantifies where personalization matters most: thermal, acoustic, visual, IAQ, or overall IEQ.</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6" name="Shape 14"/>
          <p:cNvSpPr/>
          <p:nvPr/>
        </p:nvSpPr>
        <p:spPr>
          <a:xfrm>
            <a:off x="4766310" y="2560181"/>
            <a:ext cx="3909060" cy="1149512"/>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7" name="Shape 15"/>
          <p:cNvSpPr/>
          <p:nvPr/>
        </p:nvSpPr>
        <p:spPr>
          <a:xfrm>
            <a:off x="4786884" y="2615045"/>
            <a:ext cx="41148" cy="1065911"/>
          </a:xfrm>
          <a:prstGeom prst="rect">
            <a:avLst/>
          </a:prstGeom>
          <a:solidFill>
            <a:srgbClr val="374C8A"/>
          </a:solidFill>
          <a:ln w="12700">
            <a:solidFill>
              <a:srgbClr val="374C8A"/>
            </a:solidFill>
            <a:prstDash val="solid"/>
          </a:ln>
        </p:spPr>
        <p:txBody>
          <a:bodyPr/>
          <a:lstStyle/>
          <a:p>
            <a:endParaRPr lang="en-US" sz="13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6"/>
          <p:cNvSpPr/>
          <p:nvPr/>
        </p:nvSpPr>
        <p:spPr>
          <a:xfrm>
            <a:off x="4889754" y="2642477"/>
            <a:ext cx="3717036" cy="125401"/>
          </a:xfrm>
          <a:prstGeom prst="rect">
            <a:avLst/>
          </a:prstGeom>
          <a:noFill/>
          <a:ln/>
        </p:spPr>
        <p:txBody>
          <a:bodyPr wrap="square" lIns="0" tIns="0" rIns="0" bIns="0" rtlCol="0" anchor="ctr"/>
          <a:lstStyle/>
          <a:p>
            <a:r>
              <a:rPr lang="en-US" sz="863" b="1" noProof="0" dirty="0">
                <a:solidFill>
                  <a:srgbClr val="374C8A"/>
                </a:solidFill>
                <a:latin typeface="Calibri" panose="020F0502020204030204" pitchFamily="34" charset="0"/>
                <a:ea typeface="Calibri" panose="020F0502020204030204" pitchFamily="34" charset="0"/>
                <a:cs typeface="Calibri" panose="020F0502020204030204" pitchFamily="34" charset="0"/>
              </a:rPr>
              <a:t>DATASET(S) AND KEY VARIABLES</a:t>
            </a:r>
            <a:endParaRPr lang="en-US" sz="863" noProof="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7"/>
          <p:cNvSpPr/>
          <p:nvPr/>
        </p:nvSpPr>
        <p:spPr>
          <a:xfrm>
            <a:off x="4889754" y="2792787"/>
            <a:ext cx="3785616" cy="846459"/>
          </a:xfrm>
          <a:prstGeom prst="rect">
            <a:avLst/>
          </a:prstGeom>
          <a:noFill/>
          <a:ln/>
        </p:spPr>
        <p:txBody>
          <a:bodyPr wrap="square" lIns="0" tIns="0" rIns="0" bIns="0" rtlCol="0" anchor="t">
            <a:normAutofit fontScale="92500"/>
          </a:bodyPr>
          <a:lstStyle/>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Belgian classrooms — 6,834 satisfaction assessments from 321 occupants across 3 educational case studies.</a:t>
            </a:r>
            <a:endParaRPr lang="en-US" sz="1000" noProof="0" dirty="0">
              <a:latin typeface="Calibri" panose="020F0502020204030204" pitchFamily="34" charset="0"/>
              <a:ea typeface="Calibri" panose="020F0502020204030204" pitchFamily="34" charset="0"/>
              <a:cs typeface="Calibri" panose="020F0502020204030204" pitchFamily="34" charset="0"/>
            </a:endParaRP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Targets: 1–5 satisfaction ratings for thermal, IAQ, visual, acoustic, overall IEQ.</a:t>
            </a:r>
            <a:endParaRPr lang="en-US" sz="1000" noProof="0" dirty="0">
              <a:latin typeface="Calibri" panose="020F0502020204030204" pitchFamily="34" charset="0"/>
              <a:ea typeface="Calibri" panose="020F0502020204030204" pitchFamily="34" charset="0"/>
              <a:cs typeface="Calibri" panose="020F0502020204030204" pitchFamily="34" charset="0"/>
            </a:endParaRP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Variables: temperature, RH, CO₂, light, sound, clothing, seat location, window status, timing, demographics; case 3 also includes air speed, TVOC, and PM.</a:t>
            </a:r>
            <a:endParaRPr lang="en-US" sz="10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pPr algn="r"/>
              <a:t>47</a:t>
            </a:fld>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8">
            <a:extLst>
              <a:ext uri="{FF2B5EF4-FFF2-40B4-BE49-F238E27FC236}">
                <a16:creationId xmlns:a16="http://schemas.microsoft.com/office/drawing/2014/main" id="{4D1B5C85-52DC-A945-67F7-86EA5B5E23E5}"/>
              </a:ext>
            </a:extLst>
          </p:cNvPr>
          <p:cNvSpPr/>
          <p:nvPr/>
        </p:nvSpPr>
        <p:spPr>
          <a:xfrm>
            <a:off x="4889754" y="3555645"/>
            <a:ext cx="3730752" cy="83601"/>
          </a:xfrm>
          <a:prstGeom prst="rect">
            <a:avLst/>
          </a:prstGeom>
          <a:noFill/>
          <a:ln/>
        </p:spPr>
        <p:txBody>
          <a:bodyPr wrap="square" lIns="0" tIns="0" rIns="0" bIns="0" rtlCol="0" anchor="ctr"/>
          <a:lstStyle/>
          <a:p>
            <a:r>
              <a:rPr lang="en-US" sz="765" noProof="0" dirty="0">
                <a:solidFill>
                  <a:srgbClr val="68788F"/>
                </a:solidFill>
                <a:latin typeface="Calibri" panose="020F0502020204030204" pitchFamily="34" charset="0"/>
                <a:ea typeface="Calibri" panose="020F0502020204030204" pitchFamily="34" charset="0"/>
                <a:cs typeface="Calibri" panose="020F0502020204030204" pitchFamily="34" charset="0"/>
              </a:rPr>
              <a:t>Download: </a:t>
            </a:r>
            <a:r>
              <a:rPr lang="en-US" sz="765" u="sng" noProof="0"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Dormitory retrofit DOI</a:t>
            </a:r>
            <a:r>
              <a:rPr lang="en-US" sz="765" u="sng" noProof="0"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765" u="sng" noProof="0"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Belgian classrooms DOI</a:t>
            </a:r>
            <a:endParaRPr lang="en-US" sz="765" noProof="0" dirty="0">
              <a:latin typeface="Calibri" panose="020F0502020204030204" pitchFamily="34" charset="0"/>
              <a:ea typeface="Calibri" panose="020F0502020204030204" pitchFamily="34" charset="0"/>
              <a:cs typeface="Calibri" panose="020F0502020204030204" pitchFamily="34" charset="0"/>
            </a:endParaRPr>
          </a:p>
        </p:txBody>
      </p:sp>
      <p:sp>
        <p:nvSpPr>
          <p:cNvPr id="22" name="Shape 10">
            <a:extLst>
              <a:ext uri="{FF2B5EF4-FFF2-40B4-BE49-F238E27FC236}">
                <a16:creationId xmlns:a16="http://schemas.microsoft.com/office/drawing/2014/main" id="{08C9C1F0-D14C-7452-A10F-18A1D2DAA848}"/>
              </a:ext>
            </a:extLst>
          </p:cNvPr>
          <p:cNvSpPr/>
          <p:nvPr/>
        </p:nvSpPr>
        <p:spPr>
          <a:xfrm>
            <a:off x="483489" y="3829602"/>
            <a:ext cx="8209026" cy="118808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3" name="Shape 11">
            <a:extLst>
              <a:ext uri="{FF2B5EF4-FFF2-40B4-BE49-F238E27FC236}">
                <a16:creationId xmlns:a16="http://schemas.microsoft.com/office/drawing/2014/main" id="{D0A3F067-9067-921D-B798-C1D94AC38AAD}"/>
              </a:ext>
            </a:extLst>
          </p:cNvPr>
          <p:cNvSpPr/>
          <p:nvPr/>
        </p:nvSpPr>
        <p:spPr>
          <a:xfrm>
            <a:off x="510921" y="3902754"/>
            <a:ext cx="45719" cy="1101681"/>
          </a:xfrm>
          <a:prstGeom prst="rect">
            <a:avLst/>
          </a:prstGeom>
          <a:solidFill>
            <a:srgbClr val="FF0000"/>
          </a:solidFill>
          <a:ln>
            <a:noFill/>
          </a:ln>
        </p:spPr>
        <p:txBody>
          <a:bodyPr/>
          <a:lstStyle/>
          <a:p>
            <a:endParaRPr lang="en-US" sz="1000" noProof="0" dirty="0">
              <a:solidFill>
                <a:srgbClr val="FF0000"/>
              </a:solidFill>
            </a:endParaRPr>
          </a:p>
        </p:txBody>
      </p:sp>
      <p:sp>
        <p:nvSpPr>
          <p:cNvPr id="24" name="Text 12">
            <a:extLst>
              <a:ext uri="{FF2B5EF4-FFF2-40B4-BE49-F238E27FC236}">
                <a16:creationId xmlns:a16="http://schemas.microsoft.com/office/drawing/2014/main" id="{CEB8FD3F-5ABF-685A-691F-02A485F763ED}"/>
              </a:ext>
            </a:extLst>
          </p:cNvPr>
          <p:cNvSpPr/>
          <p:nvPr/>
        </p:nvSpPr>
        <p:spPr>
          <a:xfrm>
            <a:off x="648081" y="3959865"/>
            <a:ext cx="7825938" cy="98749"/>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6" name="Text 13">
            <a:extLst>
              <a:ext uri="{FF2B5EF4-FFF2-40B4-BE49-F238E27FC236}">
                <a16:creationId xmlns:a16="http://schemas.microsoft.com/office/drawing/2014/main" id="{B619A558-E677-C3FE-F9DE-53A6A2EFD1EE}"/>
              </a:ext>
            </a:extLst>
          </p:cNvPr>
          <p:cNvSpPr/>
          <p:nvPr/>
        </p:nvSpPr>
        <p:spPr>
          <a:xfrm>
            <a:off x="652653" y="4133124"/>
            <a:ext cx="7853302" cy="1004475"/>
          </a:xfrm>
          <a:prstGeom prst="rect">
            <a:avLst/>
          </a:prstGeom>
          <a:noFill/>
          <a:ln/>
        </p:spPr>
        <p:txBody>
          <a:bodyPr wrap="square" lIns="0" tIns="0" rIns="0" bIns="0" rtlCol="0" anchor="t">
            <a:normAutofit/>
          </a:bodyPr>
          <a:lstStyle/>
          <a:p>
            <a:pPr marL="0" indent="0">
              <a:buNone/>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Train a global model on all occupants except one unseen subject.</a:t>
            </a: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Apply it to the unseen subject to obtain the non-personalized baseline.</a:t>
            </a: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Reveal the first 3 / 10 / 30 votes as simulated user feedback.</a:t>
            </a: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Adapt the model with few-shot fine-tuning or a personal calibration layer.</a:t>
            </a:r>
          </a:p>
          <a:p>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 Test on the remaining later votes and compare the gain across thermal, acoustic, visual, IAQ, and overall IEQ.</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#3</a:t>
            </a:r>
            <a:endParaRPr lang="en-US" sz="1350" noProof="0" dirty="0"/>
          </a:p>
        </p:txBody>
      </p:sp>
      <p:sp>
        <p:nvSpPr>
          <p:cNvPr id="3" name="Text 1"/>
          <p:cNvSpPr/>
          <p:nvPr/>
        </p:nvSpPr>
        <p:spPr>
          <a:xfrm>
            <a:off x="425196" y="699516"/>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Hybrid and Physics-Informed Models: Building physics + ML for CO₂ and temperature</a:t>
            </a:r>
            <a:endParaRPr lang="en-US" sz="1650" noProof="0" dirty="0"/>
          </a:p>
        </p:txBody>
      </p:sp>
      <p:sp>
        <p:nvSpPr>
          <p:cNvPr id="4" name="Shape 2"/>
          <p:cNvSpPr/>
          <p:nvPr/>
        </p:nvSpPr>
        <p:spPr>
          <a:xfrm>
            <a:off x="486918" y="1239966"/>
            <a:ext cx="4114800" cy="954364"/>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507492" y="1294830"/>
            <a:ext cx="41148" cy="884956"/>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610362" y="1322262"/>
            <a:ext cx="3922776" cy="104112"/>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610362" y="1528002"/>
            <a:ext cx="3936492" cy="806871"/>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Do physics-informed constraints improve 6–24 h forecasts of CO₂ and zone temperature during window or HVAC regime changes?</a:t>
            </a:r>
            <a:endParaRPr lang="en-US" sz="1000" noProof="0" dirty="0"/>
          </a:p>
          <a:p>
            <a:r>
              <a:rPr lang="en-US" sz="1000" noProof="0" dirty="0">
                <a:solidFill>
                  <a:srgbClr val="4F6177"/>
                </a:solidFill>
                <a:ea typeface="Arial" pitchFamily="34" charset="-122"/>
                <a:cs typeface="Arial" pitchFamily="34" charset="-120"/>
              </a:rPr>
              <a:t>• Which constraints matter most: mass balance, thermal inertia, or actuator-state consistency?</a:t>
            </a:r>
            <a:endParaRPr lang="en-US" sz="1000" noProof="0" dirty="0"/>
          </a:p>
        </p:txBody>
      </p:sp>
      <p:sp>
        <p:nvSpPr>
          <p:cNvPr id="8" name="Shape 6"/>
          <p:cNvSpPr/>
          <p:nvPr/>
        </p:nvSpPr>
        <p:spPr>
          <a:xfrm>
            <a:off x="4786884" y="1239966"/>
            <a:ext cx="3909060" cy="954364"/>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807458" y="1294830"/>
            <a:ext cx="41148" cy="884956"/>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910328" y="1322262"/>
            <a:ext cx="3717036" cy="104112"/>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910328" y="1528002"/>
            <a:ext cx="3730752" cy="806871"/>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Black-box sequence models often fit routine operation well but drift during rollout or rare events (e.g. Heatwaves).</a:t>
            </a:r>
            <a:endParaRPr lang="en-US" sz="1000" noProof="0" dirty="0"/>
          </a:p>
          <a:p>
            <a:r>
              <a:rPr lang="en-US" sz="1000" noProof="0" dirty="0">
                <a:solidFill>
                  <a:srgbClr val="4F6177"/>
                </a:solidFill>
                <a:ea typeface="Arial" pitchFamily="34" charset="-122"/>
                <a:cs typeface="Arial" pitchFamily="34" charset="-120"/>
              </a:rPr>
              <a:t>• Building physics offers strong priors for CO₂ and thermal dynamics, but these are rarely enforced in open-data ML benchmarks.</a:t>
            </a:r>
            <a:endParaRPr lang="en-US" sz="1000" noProof="0" dirty="0"/>
          </a:p>
        </p:txBody>
      </p:sp>
      <p:sp>
        <p:nvSpPr>
          <p:cNvPr id="12" name="Shape 10"/>
          <p:cNvSpPr/>
          <p:nvPr/>
        </p:nvSpPr>
        <p:spPr>
          <a:xfrm>
            <a:off x="486918" y="2288194"/>
            <a:ext cx="4114800" cy="144904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507492" y="2343058"/>
            <a:ext cx="41148" cy="1343663"/>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610362" y="2370490"/>
            <a:ext cx="3922776" cy="158078"/>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EXPECTED CONTRIBUTION / USE</a:t>
            </a:r>
            <a:endParaRPr lang="en-US" sz="1000" noProof="0" dirty="0"/>
          </a:p>
        </p:txBody>
      </p:sp>
      <p:sp>
        <p:nvSpPr>
          <p:cNvPr id="15" name="Text 13"/>
          <p:cNvSpPr/>
          <p:nvPr/>
        </p:nvSpPr>
        <p:spPr>
          <a:xfrm>
            <a:off x="610362" y="2576230"/>
            <a:ext cx="3936492" cy="1225104"/>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Comparison of pure ML baselines against hybrid RC or physics-regularized sequence models on the same building.</a:t>
            </a:r>
            <a:endParaRPr lang="en-US" sz="1000" noProof="0" dirty="0"/>
          </a:p>
          <a:p>
            <a:r>
              <a:rPr lang="en-US" sz="1000" noProof="0" dirty="0">
                <a:solidFill>
                  <a:srgbClr val="4F6177"/>
                </a:solidFill>
                <a:ea typeface="Arial" pitchFamily="34" charset="-122"/>
                <a:cs typeface="Arial" pitchFamily="34" charset="-120"/>
              </a:rPr>
              <a:t>• Better long-horizon stability would make the result directly relevant for predictive control.</a:t>
            </a:r>
            <a:endParaRPr lang="en-US" sz="1000" noProof="0" dirty="0"/>
          </a:p>
        </p:txBody>
      </p:sp>
      <p:sp>
        <p:nvSpPr>
          <p:cNvPr id="16" name="Shape 14"/>
          <p:cNvSpPr/>
          <p:nvPr/>
        </p:nvSpPr>
        <p:spPr>
          <a:xfrm>
            <a:off x="4786884" y="2288194"/>
            <a:ext cx="3909060" cy="144904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807458" y="2343058"/>
            <a:ext cx="41148" cy="1343663"/>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910328" y="2370490"/>
            <a:ext cx="3717036" cy="158078"/>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910328" y="2576230"/>
            <a:ext cx="3730752" cy="1067026"/>
          </a:xfrm>
          <a:prstGeom prst="rect">
            <a:avLst/>
          </a:prstGeom>
          <a:noFill/>
          <a:ln/>
        </p:spPr>
        <p:txBody>
          <a:bodyPr wrap="square" lIns="0" tIns="0" rIns="0" bIns="0" rtlCol="0" anchor="t">
            <a:noAutofit/>
          </a:bodyPr>
          <a:lstStyle/>
          <a:p>
            <a:r>
              <a:rPr lang="en-US" sz="950" noProof="0" dirty="0">
                <a:solidFill>
                  <a:srgbClr val="4F6177"/>
                </a:solidFill>
                <a:ea typeface="Arial" pitchFamily="34" charset="-122"/>
                <a:cs typeface="Arial" pitchFamily="34" charset="-120"/>
              </a:rPr>
              <a:t>• </a:t>
            </a:r>
            <a:r>
              <a:rPr lang="en-US" sz="950" noProof="0" dirty="0" err="1">
                <a:solidFill>
                  <a:srgbClr val="4F6177"/>
                </a:solidFill>
                <a:ea typeface="Arial" pitchFamily="34" charset="-122"/>
                <a:cs typeface="Arial" pitchFamily="34" charset="-120"/>
              </a:rPr>
              <a:t>HouseZero</a:t>
            </a:r>
            <a:r>
              <a:rPr lang="en-US" sz="950" noProof="0" dirty="0">
                <a:solidFill>
                  <a:srgbClr val="4F6177"/>
                </a:solidFill>
                <a:ea typeface="Arial" pitchFamily="34" charset="-122"/>
                <a:cs typeface="Arial" pitchFamily="34" charset="-120"/>
              </a:rPr>
              <a:t> — 2 years of hourly data from an ultra-low-energy office building; 189 released sensors/meters.</a:t>
            </a:r>
            <a:endParaRPr lang="en-US" sz="950" noProof="0" dirty="0"/>
          </a:p>
          <a:p>
            <a:r>
              <a:rPr lang="en-US" sz="950" noProof="0" dirty="0">
                <a:solidFill>
                  <a:srgbClr val="4F6177"/>
                </a:solidFill>
                <a:ea typeface="Arial" pitchFamily="34" charset="-122"/>
                <a:cs typeface="Arial" pitchFamily="34" charset="-120"/>
              </a:rPr>
              <a:t>• Variables: zone air temperature, CO₂, RH, façade temperatures, weather, PV, end-use energy, BTU meters, valve status, slab temperatures, window/skylight state, heat pump, and geothermal operations.</a:t>
            </a:r>
            <a:endParaRPr lang="en-US" sz="950" noProof="0" dirty="0"/>
          </a:p>
          <a:p>
            <a:r>
              <a:rPr lang="en-US" sz="950" noProof="0" dirty="0">
                <a:solidFill>
                  <a:srgbClr val="4F6177"/>
                </a:solidFill>
                <a:ea typeface="Arial" pitchFamily="34" charset="-122"/>
                <a:cs typeface="Arial" pitchFamily="34" charset="-120"/>
              </a:rPr>
              <a:t>• Missing-data percentages are explicitly documented, which is valuable for realistic evaluation.</a:t>
            </a:r>
            <a:endParaRPr lang="en-US" sz="950" noProof="0" dirty="0"/>
          </a:p>
        </p:txBody>
      </p:sp>
      <p:sp>
        <p:nvSpPr>
          <p:cNvPr id="20" name="Text 18"/>
          <p:cNvSpPr/>
          <p:nvPr/>
        </p:nvSpPr>
        <p:spPr>
          <a:xfrm>
            <a:off x="4910328" y="3597825"/>
            <a:ext cx="3730752" cy="105385"/>
          </a:xfrm>
          <a:prstGeom prst="rect">
            <a:avLst/>
          </a:prstGeom>
          <a:noFill/>
          <a:ln/>
        </p:spPr>
        <p:txBody>
          <a:bodyPr wrap="square" lIns="0" tIns="0" rIns="0" bIns="0" rtlCol="0" anchor="ctr"/>
          <a:lstStyle/>
          <a:p>
            <a:r>
              <a:rPr lang="en-US" sz="800" noProof="0" dirty="0">
                <a:solidFill>
                  <a:srgbClr val="68788F"/>
                </a:solidFill>
                <a:ea typeface="Arial" pitchFamily="34" charset="-122"/>
                <a:cs typeface="Arial" pitchFamily="34" charset="-120"/>
              </a:rPr>
              <a:t>Download: </a:t>
            </a:r>
            <a:r>
              <a:rPr lang="en-US" sz="800" u="sng" noProof="0" dirty="0" err="1">
                <a:solidFill>
                  <a:srgbClr val="0563C1"/>
                </a:solidFill>
                <a:ea typeface="Arial" pitchFamily="34" charset="-122"/>
                <a:cs typeface="Arial" pitchFamily="34" charset="-120"/>
              </a:rPr>
              <a:t>HouseZero</a:t>
            </a:r>
            <a:endParaRPr lang="en-US" sz="800"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pPr algn="r"/>
              <a:t>48</a:t>
            </a:fld>
            <a:endParaRPr lang="en-US" noProof="0" dirty="0"/>
          </a:p>
        </p:txBody>
      </p:sp>
      <p:sp>
        <p:nvSpPr>
          <p:cNvPr id="21" name="Shape 10">
            <a:extLst>
              <a:ext uri="{FF2B5EF4-FFF2-40B4-BE49-F238E27FC236}">
                <a16:creationId xmlns:a16="http://schemas.microsoft.com/office/drawing/2014/main" id="{F7264045-2C13-060F-CBF8-800D5C31B211}"/>
              </a:ext>
            </a:extLst>
          </p:cNvPr>
          <p:cNvSpPr/>
          <p:nvPr/>
        </p:nvSpPr>
        <p:spPr>
          <a:xfrm>
            <a:off x="483489" y="3829601"/>
            <a:ext cx="8209026" cy="1169995"/>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99332028-73BF-0317-C5AE-9F2DFA5FAE3D}"/>
              </a:ext>
            </a:extLst>
          </p:cNvPr>
          <p:cNvSpPr/>
          <p:nvPr/>
        </p:nvSpPr>
        <p:spPr>
          <a:xfrm>
            <a:off x="510921" y="3902754"/>
            <a:ext cx="45719" cy="1084904"/>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1B27B34F-54C2-1656-2B2B-08B35893CA26}"/>
              </a:ext>
            </a:extLst>
          </p:cNvPr>
          <p:cNvSpPr/>
          <p:nvPr/>
        </p:nvSpPr>
        <p:spPr>
          <a:xfrm>
            <a:off x="648081" y="3959866"/>
            <a:ext cx="7825938" cy="97246"/>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49909C9B-F536-5257-F84E-C8DDF9E9BF65}"/>
              </a:ext>
            </a:extLst>
          </p:cNvPr>
          <p:cNvSpPr/>
          <p:nvPr/>
        </p:nvSpPr>
        <p:spPr>
          <a:xfrm>
            <a:off x="652653" y="4133125"/>
            <a:ext cx="7853302" cy="989178"/>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Select one physically governed target such as indoor CO2, temperature, or ventilation-related IAQ.</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purely data-driven baseline model on the historical time series.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Build a hybrid version by adding physics constraints such as mass balance, temporal smoothness, or energy balance consistency.</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Evaluate both models on forecasting accuracy and physically implausible predictions.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Test whether the physics-informed model generalizes better across buildings, seasons, or missing-data conditions.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#4</a:t>
            </a:r>
            <a:endParaRPr lang="en-US" sz="1350" noProof="0" dirty="0"/>
          </a:p>
        </p:txBody>
      </p:sp>
      <p:sp>
        <p:nvSpPr>
          <p:cNvPr id="4" name="Shape 2"/>
          <p:cNvSpPr/>
          <p:nvPr/>
        </p:nvSpPr>
        <p:spPr>
          <a:xfrm>
            <a:off x="466344" y="1231299"/>
            <a:ext cx="4114800" cy="993834"/>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286163"/>
            <a:ext cx="41148" cy="921555"/>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313595"/>
            <a:ext cx="3922776" cy="108418"/>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519335"/>
            <a:ext cx="3936492" cy="840241"/>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How much do sound level and illuminance improve prediction of overall IEQ satisfaction beyond thermal + IAQ variables?</a:t>
            </a:r>
            <a:endParaRPr lang="en-US" sz="1000" noProof="0" dirty="0"/>
          </a:p>
          <a:p>
            <a:r>
              <a:rPr lang="en-US" sz="1000" noProof="0" dirty="0">
                <a:solidFill>
                  <a:srgbClr val="4F6177"/>
                </a:solidFill>
                <a:ea typeface="Arial" pitchFamily="34" charset="-122"/>
                <a:cs typeface="Arial" pitchFamily="34" charset="-120"/>
              </a:rPr>
              <a:t>• Are visual and acoustic features globally useful, or only in selected rooms or seasons?</a:t>
            </a:r>
            <a:endParaRPr lang="en-US" sz="1000" noProof="0" dirty="0"/>
          </a:p>
        </p:txBody>
      </p:sp>
      <p:sp>
        <p:nvSpPr>
          <p:cNvPr id="8" name="Shape 6"/>
          <p:cNvSpPr/>
          <p:nvPr/>
        </p:nvSpPr>
        <p:spPr>
          <a:xfrm>
            <a:off x="4766310" y="1231299"/>
            <a:ext cx="3909060" cy="993834"/>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286163"/>
            <a:ext cx="41148" cy="921555"/>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313595"/>
            <a:ext cx="3717036" cy="108418"/>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519335"/>
            <a:ext cx="3730752" cy="840241"/>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Most open comfort datasets are thermal-only, or thermal + IAQ only.</a:t>
            </a:r>
            <a:endParaRPr lang="en-US" sz="1000" noProof="0" dirty="0"/>
          </a:p>
          <a:p>
            <a:r>
              <a:rPr lang="en-US" sz="1000" noProof="0" dirty="0">
                <a:solidFill>
                  <a:srgbClr val="4F6177"/>
                </a:solidFill>
                <a:ea typeface="Arial" pitchFamily="34" charset="-122"/>
                <a:cs typeface="Arial" pitchFamily="34" charset="-120"/>
              </a:rPr>
              <a:t>• The marginal value of light and sound in ML models is therefore still weakly quantified.</a:t>
            </a:r>
            <a:endParaRPr lang="en-US" sz="1000" noProof="0" dirty="0"/>
          </a:p>
        </p:txBody>
      </p:sp>
      <p:sp>
        <p:nvSpPr>
          <p:cNvPr id="12" name="Shape 10"/>
          <p:cNvSpPr/>
          <p:nvPr/>
        </p:nvSpPr>
        <p:spPr>
          <a:xfrm>
            <a:off x="466344" y="2318097"/>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86918" y="2372961"/>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9788" y="2400393"/>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EXPECTED CONTRIBUTION / USE</a:t>
            </a:r>
            <a:endParaRPr lang="en-US" sz="1000" noProof="0" dirty="0"/>
          </a:p>
        </p:txBody>
      </p:sp>
      <p:sp>
        <p:nvSpPr>
          <p:cNvPr id="15" name="Text 13"/>
          <p:cNvSpPr/>
          <p:nvPr/>
        </p:nvSpPr>
        <p:spPr>
          <a:xfrm>
            <a:off x="589788" y="2606133"/>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Clean ablation study: thermal-only → thermal + IAQ → +light → +sound → full IEQ stack.</a:t>
            </a:r>
            <a:endParaRPr lang="en-US" sz="1000" noProof="0" dirty="0"/>
          </a:p>
          <a:p>
            <a:r>
              <a:rPr lang="en-US" sz="1000" noProof="0" dirty="0">
                <a:solidFill>
                  <a:srgbClr val="4F6177"/>
                </a:solidFill>
                <a:ea typeface="Arial" pitchFamily="34" charset="-122"/>
                <a:cs typeface="Arial" pitchFamily="34" charset="-120"/>
              </a:rPr>
              <a:t>• Useful for sensor selection: which extra modality provides the highest prediction gain per added sensor?</a:t>
            </a:r>
            <a:endParaRPr lang="en-US" sz="1000" noProof="0" dirty="0"/>
          </a:p>
        </p:txBody>
      </p:sp>
      <p:sp>
        <p:nvSpPr>
          <p:cNvPr id="16" name="Shape 14"/>
          <p:cNvSpPr/>
          <p:nvPr/>
        </p:nvSpPr>
        <p:spPr>
          <a:xfrm>
            <a:off x="4766310" y="2318097"/>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86884" y="2372961"/>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9754" y="2400393"/>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9754" y="2606133"/>
            <a:ext cx="3730752" cy="1110996"/>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Belgian classrooms — repeated ratings of visual, acoustic, and overall IEQ satisfaction with simultaneous environmental measurements.</a:t>
            </a:r>
            <a:endParaRPr lang="en-US" sz="1000" noProof="0" dirty="0"/>
          </a:p>
          <a:p>
            <a:r>
              <a:rPr lang="en-US" sz="1000" noProof="0" dirty="0">
                <a:solidFill>
                  <a:srgbClr val="4F6177"/>
                </a:solidFill>
                <a:ea typeface="Arial" pitchFamily="34" charset="-122"/>
                <a:cs typeface="Arial" pitchFamily="34" charset="-120"/>
              </a:rPr>
              <a:t>• Variables: temperature, RH, CO₂, light intensity, sound level, seating position, window status, and contextual variables.</a:t>
            </a:r>
            <a:endParaRPr lang="en-US" sz="1000" noProof="0" dirty="0"/>
          </a:p>
          <a:p>
            <a:r>
              <a:rPr lang="en-US" sz="1000" noProof="0" dirty="0">
                <a:solidFill>
                  <a:srgbClr val="4F6177"/>
                </a:solidFill>
                <a:ea typeface="Arial" pitchFamily="34" charset="-122"/>
                <a:cs typeface="Arial" pitchFamily="34" charset="-120"/>
              </a:rPr>
              <a:t>• One of the rare open datasets where all four IEQ domains are observed together at the same time.</a:t>
            </a:r>
            <a:endParaRPr lang="en-US" sz="1000" noProof="0" dirty="0"/>
          </a:p>
        </p:txBody>
      </p:sp>
      <p:sp>
        <p:nvSpPr>
          <p:cNvPr id="20" name="Text 18"/>
          <p:cNvSpPr/>
          <p:nvPr/>
        </p:nvSpPr>
        <p:spPr>
          <a:xfrm>
            <a:off x="4889754" y="3675981"/>
            <a:ext cx="3730752" cy="109728"/>
          </a:xfrm>
          <a:prstGeom prst="rect">
            <a:avLst/>
          </a:prstGeom>
          <a:noFill/>
          <a:ln/>
        </p:spPr>
        <p:txBody>
          <a:bodyPr wrap="square" lIns="0" tIns="0" rIns="0" bIns="0" rtlCol="0" anchor="ctr"/>
          <a:lstStyle/>
          <a:p>
            <a:r>
              <a:rPr lang="en-US" sz="1000" noProof="0" dirty="0">
                <a:solidFill>
                  <a:srgbClr val="68788F"/>
                </a:solidFill>
                <a:ea typeface="Arial" pitchFamily="34" charset="-122"/>
                <a:cs typeface="Arial" pitchFamily="34" charset="-120"/>
              </a:rPr>
              <a:t>Download: </a:t>
            </a:r>
            <a:r>
              <a:rPr lang="en-US" sz="1000"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Belgian classrooms DOI</a:t>
            </a:r>
            <a:endParaRPr lang="en-US" sz="1000"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pPr algn="r"/>
              <a:t>49</a:t>
            </a:fld>
            <a:endParaRPr lang="en-US" noProof="0" dirty="0"/>
          </a:p>
        </p:txBody>
      </p:sp>
      <p:sp>
        <p:nvSpPr>
          <p:cNvPr id="21" name="Shape 10">
            <a:extLst>
              <a:ext uri="{FF2B5EF4-FFF2-40B4-BE49-F238E27FC236}">
                <a16:creationId xmlns:a16="http://schemas.microsoft.com/office/drawing/2014/main" id="{E428FD19-AC80-698E-BD13-0E5A964B547D}"/>
              </a:ext>
            </a:extLst>
          </p:cNvPr>
          <p:cNvSpPr/>
          <p:nvPr/>
        </p:nvSpPr>
        <p:spPr>
          <a:xfrm>
            <a:off x="483489" y="3934514"/>
            <a:ext cx="8209026"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853423F5-E16E-1220-1CE1-BC3C7BBD81F2}"/>
              </a:ext>
            </a:extLst>
          </p:cNvPr>
          <p:cNvSpPr/>
          <p:nvPr/>
        </p:nvSpPr>
        <p:spPr>
          <a:xfrm>
            <a:off x="477561" y="400262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8FC6B5A0-3097-F565-70EA-5D999F1155B5}"/>
              </a:ext>
            </a:extLst>
          </p:cNvPr>
          <p:cNvSpPr/>
          <p:nvPr/>
        </p:nvSpPr>
        <p:spPr>
          <a:xfrm>
            <a:off x="648081" y="4064779"/>
            <a:ext cx="7825938"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A65399A3-57B6-CB20-905A-5C8CBAD9DCF5}"/>
              </a:ext>
            </a:extLst>
          </p:cNvPr>
          <p:cNvSpPr/>
          <p:nvPr/>
        </p:nvSpPr>
        <p:spPr>
          <a:xfrm>
            <a:off x="652653" y="4238037"/>
            <a:ext cx="7853302" cy="972783"/>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Build a multimodal dataset combining thermal, IAQ, lighting, and acoustic variables with comfort-related labels.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baseline model using only thermal and IAQ inputs.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Add lighting variables and quantify the performance gain.</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Add acoustic variables and quantify the additional gain.</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which domains improve prediction most for thermal, visual, acoustic, and overall IEQ perception.</a:t>
            </a:r>
          </a:p>
        </p:txBody>
      </p:sp>
      <p:sp>
        <p:nvSpPr>
          <p:cNvPr id="28" name="Text 1">
            <a:extLst>
              <a:ext uri="{FF2B5EF4-FFF2-40B4-BE49-F238E27FC236}">
                <a16:creationId xmlns:a16="http://schemas.microsoft.com/office/drawing/2014/main" id="{B87380E8-E3AB-8A47-8866-48C1971BE728}"/>
              </a:ext>
            </a:extLst>
          </p:cNvPr>
          <p:cNvSpPr/>
          <p:nvPr/>
        </p:nvSpPr>
        <p:spPr>
          <a:xfrm>
            <a:off x="510921" y="594631"/>
            <a:ext cx="10881360" cy="640080"/>
          </a:xfrm>
          <a:prstGeom prst="rect">
            <a:avLst/>
          </a:prstGeom>
          <a:noFill/>
          <a:ln/>
        </p:spPr>
        <p:txBody>
          <a:bodyPr wrap="square" lIns="0" tIns="0" rIns="0" bIns="0" rtlCol="0" anchor="ctr"/>
          <a:lstStyle/>
          <a:p>
            <a:pPr marL="0" indent="0">
              <a:buNone/>
            </a:pPr>
            <a:r>
              <a:rPr lang="en-US" noProof="0" dirty="0">
                <a:solidFill>
                  <a:srgbClr val="101010"/>
                </a:solidFill>
                <a:ea typeface="Arial" pitchFamily="34" charset="-122"/>
                <a:cs typeface="Arial" pitchFamily="34" charset="-120"/>
              </a:rPr>
              <a:t>Incorporating Lighting and Acoustics: How much do these modalities really help?</a:t>
            </a:r>
            <a:endParaRPr lang="en-US"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#5</a:t>
            </a:r>
            <a:endParaRPr lang="en-US" sz="1350" noProof="0" dirty="0"/>
          </a:p>
        </p:txBody>
      </p:sp>
      <p:sp>
        <p:nvSpPr>
          <p:cNvPr id="3" name="Text 1"/>
          <p:cNvSpPr/>
          <p:nvPr/>
        </p:nvSpPr>
        <p:spPr>
          <a:xfrm>
            <a:off x="457200" y="630228"/>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Using Data from Wearables: Ambient-only vs wearable-only vs fused sensing</a:t>
            </a:r>
            <a:endParaRPr lang="en-US" sz="1650" noProof="0" dirty="0"/>
          </a:p>
        </p:txBody>
      </p:sp>
      <p:sp>
        <p:nvSpPr>
          <p:cNvPr id="4" name="Shape 2"/>
          <p:cNvSpPr/>
          <p:nvPr/>
        </p:nvSpPr>
        <p:spPr>
          <a:xfrm>
            <a:off x="457200" y="1137720"/>
            <a:ext cx="4114800" cy="100041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77774" y="1192584"/>
            <a:ext cx="41148" cy="927656"/>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0644" y="1220016"/>
            <a:ext cx="3922776" cy="109136"/>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0644" y="1425756"/>
            <a:ext cx="3936492" cy="845804"/>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How much ambient sensing can wearable streams replace in personal comfort models?</a:t>
            </a:r>
            <a:endParaRPr lang="en-US" sz="1000" noProof="0" dirty="0"/>
          </a:p>
          <a:p>
            <a:r>
              <a:rPr lang="en-US" sz="1000" noProof="0" dirty="0">
                <a:solidFill>
                  <a:srgbClr val="4F6177"/>
                </a:solidFill>
                <a:ea typeface="Arial" pitchFamily="34" charset="-122"/>
                <a:cs typeface="Arial" pitchFamily="34" charset="-120"/>
              </a:rPr>
              <a:t>• Does physiology improve cold-start adaptation for a new occupant?</a:t>
            </a:r>
            <a:endParaRPr lang="en-US" sz="1000" noProof="0" dirty="0"/>
          </a:p>
        </p:txBody>
      </p:sp>
      <p:sp>
        <p:nvSpPr>
          <p:cNvPr id="8" name="Shape 6"/>
          <p:cNvSpPr/>
          <p:nvPr/>
        </p:nvSpPr>
        <p:spPr>
          <a:xfrm>
            <a:off x="4757166" y="1137720"/>
            <a:ext cx="3909060" cy="100041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77740" y="1192584"/>
            <a:ext cx="41148" cy="927656"/>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0610" y="1220016"/>
            <a:ext cx="3717036" cy="109136"/>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0610" y="1425756"/>
            <a:ext cx="3730752" cy="845804"/>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Wearables improve thermal comfort prediction, but many papers only report per-subject accuracy.</a:t>
            </a:r>
            <a:endParaRPr lang="en-US" sz="1000" noProof="0" dirty="0"/>
          </a:p>
          <a:p>
            <a:r>
              <a:rPr lang="en-US" sz="1000" noProof="0" dirty="0">
                <a:solidFill>
                  <a:srgbClr val="4F6177"/>
                </a:solidFill>
                <a:ea typeface="Arial" pitchFamily="34" charset="-122"/>
                <a:cs typeface="Arial" pitchFamily="34" charset="-120"/>
              </a:rPr>
              <a:t>• The practical comparison between wearable-only, ambient-only, and fused sensing is still weakly benchmarked on open data.</a:t>
            </a:r>
            <a:endParaRPr lang="en-US" sz="1000" noProof="0" dirty="0"/>
          </a:p>
        </p:txBody>
      </p:sp>
      <p:sp>
        <p:nvSpPr>
          <p:cNvPr id="12" name="Shape 10"/>
          <p:cNvSpPr/>
          <p:nvPr/>
        </p:nvSpPr>
        <p:spPr>
          <a:xfrm>
            <a:off x="457200" y="2286937"/>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77774" y="2341801"/>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0644" y="2369233"/>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EXPECTED CONTRIBUTION / USE</a:t>
            </a:r>
            <a:endParaRPr lang="en-US" sz="1000" noProof="0" dirty="0"/>
          </a:p>
        </p:txBody>
      </p:sp>
      <p:sp>
        <p:nvSpPr>
          <p:cNvPr id="15" name="Text 13"/>
          <p:cNvSpPr/>
          <p:nvPr/>
        </p:nvSpPr>
        <p:spPr>
          <a:xfrm>
            <a:off x="580644" y="2574973"/>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Unified benchmark across three open datasets: ambient-only, wearable-only, fused, and cold-start personalization.</a:t>
            </a:r>
            <a:endParaRPr lang="en-US" sz="1000" noProof="0" dirty="0"/>
          </a:p>
          <a:p>
            <a:r>
              <a:rPr lang="en-US" sz="1000" noProof="0" dirty="0">
                <a:solidFill>
                  <a:srgbClr val="4F6177"/>
                </a:solidFill>
                <a:ea typeface="Arial" pitchFamily="34" charset="-122"/>
                <a:cs typeface="Arial" pitchFamily="34" charset="-120"/>
              </a:rPr>
              <a:t>• Direct relevance for sparse-sensor buildings or portable comfort agents.</a:t>
            </a:r>
          </a:p>
          <a:p>
            <a:r>
              <a:rPr lang="en-US" sz="1000" noProof="0" dirty="0">
                <a:solidFill>
                  <a:srgbClr val="4F6177"/>
                </a:solidFill>
                <a:ea typeface="Arial" pitchFamily="34" charset="-122"/>
                <a:cs typeface="Arial" pitchFamily="34" charset="-120"/>
              </a:rPr>
              <a:t>• Identifying which sensors can we cut off in wearables operated buildings</a:t>
            </a:r>
            <a:endParaRPr lang="en-US" sz="1000" noProof="0" dirty="0"/>
          </a:p>
        </p:txBody>
      </p:sp>
      <p:sp>
        <p:nvSpPr>
          <p:cNvPr id="16" name="Shape 14"/>
          <p:cNvSpPr/>
          <p:nvPr/>
        </p:nvSpPr>
        <p:spPr>
          <a:xfrm>
            <a:off x="4757166" y="2286937"/>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77740" y="2341801"/>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0610" y="2369233"/>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0610" y="2539992"/>
            <a:ext cx="3737610" cy="1110996"/>
          </a:xfrm>
          <a:prstGeom prst="rect">
            <a:avLst/>
          </a:prstGeom>
          <a:noFill/>
          <a:ln/>
        </p:spPr>
        <p:txBody>
          <a:bodyPr wrap="square" lIns="0" tIns="0" rIns="0" bIns="0" rtlCol="0" anchor="t">
            <a:noAutofit/>
          </a:bodyPr>
          <a:lstStyle/>
          <a:p>
            <a:r>
              <a:rPr lang="en-US" sz="900" noProof="0" dirty="0">
                <a:solidFill>
                  <a:srgbClr val="4F6177"/>
                </a:solidFill>
                <a:ea typeface="Arial" pitchFamily="34" charset="-122"/>
                <a:cs typeface="Arial" pitchFamily="34" charset="-120"/>
              </a:rPr>
              <a:t>• Dryad thermal comfort wearables — 14 adults; 2–4 weeks/person; heart rate, skin temperature, air temperature, RH, and preference votes.</a:t>
            </a:r>
            <a:endParaRPr lang="en-US" sz="900" noProof="0" dirty="0"/>
          </a:p>
          <a:p>
            <a:r>
              <a:rPr lang="en-US" sz="900" noProof="0" dirty="0">
                <a:solidFill>
                  <a:srgbClr val="4F6177"/>
                </a:solidFill>
                <a:ea typeface="Arial" pitchFamily="34" charset="-122"/>
                <a:cs typeface="Arial" pitchFamily="34" charset="-120"/>
              </a:rPr>
              <a:t>• En-Gage — 23 students + 6 teachers over 4 weeks; EDA, BVP, skin temperature, acceleration, indoor/outdoor temp, humidity, CO₂, noise, and self-reports on comfort, engagement, emotion, and confidence.</a:t>
            </a:r>
            <a:endParaRPr lang="en-US" sz="900" noProof="0" dirty="0"/>
          </a:p>
          <a:p>
            <a:r>
              <a:rPr lang="en-US" sz="900" noProof="0" dirty="0">
                <a:solidFill>
                  <a:srgbClr val="4F6177"/>
                </a:solidFill>
                <a:ea typeface="Arial" pitchFamily="34" charset="-122"/>
                <a:cs typeface="Arial" pitchFamily="34" charset="-120"/>
              </a:rPr>
              <a:t>• Urban comfort / </a:t>
            </a:r>
            <a:r>
              <a:rPr lang="en-US" sz="900" noProof="0" dirty="0" err="1">
                <a:solidFill>
                  <a:srgbClr val="4F6177"/>
                </a:solidFill>
                <a:ea typeface="Arial" pitchFamily="34" charset="-122"/>
                <a:cs typeface="Arial" pitchFamily="34" charset="-120"/>
              </a:rPr>
              <a:t>AirSpec</a:t>
            </a:r>
            <a:r>
              <a:rPr lang="en-US" sz="900" noProof="0" dirty="0">
                <a:solidFill>
                  <a:srgbClr val="4F6177"/>
                </a:solidFill>
                <a:ea typeface="Arial" pitchFamily="34" charset="-122"/>
                <a:cs typeface="Arial" pitchFamily="34" charset="-120"/>
              </a:rPr>
              <a:t> — 30 participants across 3 cities; 5-day working-hours data with Apple Watch, </a:t>
            </a:r>
            <a:r>
              <a:rPr lang="en-US" sz="900" noProof="0" dirty="0" err="1">
                <a:solidFill>
                  <a:srgbClr val="4F6177"/>
                </a:solidFill>
                <a:ea typeface="Arial" pitchFamily="34" charset="-122"/>
                <a:cs typeface="Arial" pitchFamily="34" charset="-120"/>
              </a:rPr>
              <a:t>Empatica</a:t>
            </a:r>
            <a:r>
              <a:rPr lang="en-US" sz="900" noProof="0" dirty="0">
                <a:solidFill>
                  <a:srgbClr val="4F6177"/>
                </a:solidFill>
                <a:ea typeface="Arial" pitchFamily="34" charset="-122"/>
                <a:cs typeface="Arial" pitchFamily="34" charset="-120"/>
              </a:rPr>
              <a:t> E4, smart eyeglasses, indoor environmental variables, and subjective perceptions.</a:t>
            </a:r>
            <a:endParaRPr lang="en-US" sz="900" noProof="0" dirty="0"/>
          </a:p>
        </p:txBody>
      </p:sp>
      <p:sp>
        <p:nvSpPr>
          <p:cNvPr id="20" name="Text 18"/>
          <p:cNvSpPr/>
          <p:nvPr/>
        </p:nvSpPr>
        <p:spPr>
          <a:xfrm>
            <a:off x="4873752" y="3676873"/>
            <a:ext cx="3730752" cy="109728"/>
          </a:xfrm>
          <a:prstGeom prst="rect">
            <a:avLst/>
          </a:prstGeom>
          <a:noFill/>
          <a:ln/>
        </p:spPr>
        <p:txBody>
          <a:bodyPr wrap="square" lIns="0" tIns="0" rIns="0" bIns="0" rtlCol="0" anchor="ctr"/>
          <a:lstStyle/>
          <a:p>
            <a:r>
              <a:rPr lang="en-US" sz="700" noProof="0" dirty="0">
                <a:solidFill>
                  <a:srgbClr val="68788F"/>
                </a:solidFill>
                <a:ea typeface="Arial" pitchFamily="34" charset="-122"/>
                <a:cs typeface="Arial" pitchFamily="34" charset="-120"/>
              </a:rPr>
              <a:t>Download: </a:t>
            </a:r>
            <a:r>
              <a:rPr lang="en-US" sz="700"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Dryad wearable DOI</a:t>
            </a:r>
            <a:r>
              <a:rPr lang="en-US" sz="700" noProof="0" dirty="0">
                <a:solidFill>
                  <a:srgbClr val="68788F"/>
                </a:solidFill>
                <a:ea typeface="Arial" pitchFamily="34" charset="-122"/>
                <a:cs typeface="Arial" pitchFamily="34" charset="-120"/>
              </a:rPr>
              <a:t>  |  </a:t>
            </a:r>
            <a:r>
              <a:rPr lang="en-US" sz="700"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En-Gage DOI</a:t>
            </a:r>
            <a:r>
              <a:rPr lang="en-US" sz="700" noProof="0" dirty="0">
                <a:solidFill>
                  <a:srgbClr val="68788F"/>
                </a:solidFill>
                <a:ea typeface="Arial" pitchFamily="34" charset="-122"/>
                <a:cs typeface="Arial" pitchFamily="34" charset="-120"/>
              </a:rPr>
              <a:t>  |  </a:t>
            </a:r>
            <a:r>
              <a:rPr lang="en-US" sz="700" u="sng" noProof="0" dirty="0">
                <a:solidFill>
                  <a:srgbClr val="0563C1"/>
                </a:solidFill>
                <a:ea typeface="Arial" pitchFamily="34" charset="-122"/>
                <a:cs typeface="Arial" pitchFamily="34" charset="-120"/>
                <a:hlinkClick r:id="rId5">
                  <a:extLst>
                    <a:ext uri="{A12FA001-AC4F-418D-AE19-62706E023703}">
                      <ahyp:hlinkClr xmlns:ahyp="http://schemas.microsoft.com/office/drawing/2018/hyperlinkcolor" val="tx"/>
                    </a:ext>
                  </a:extLst>
                </a:hlinkClick>
              </a:rPr>
              <a:t>Urban comfort DOI</a:t>
            </a:r>
            <a:endParaRPr lang="en-US" sz="700"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50</a:t>
            </a:fld>
            <a:endParaRPr lang="en-US" noProof="0" dirty="0">
              <a:latin typeface="+mn-lt"/>
            </a:endParaRPr>
          </a:p>
        </p:txBody>
      </p:sp>
      <p:sp>
        <p:nvSpPr>
          <p:cNvPr id="21" name="Shape 10">
            <a:extLst>
              <a:ext uri="{FF2B5EF4-FFF2-40B4-BE49-F238E27FC236}">
                <a16:creationId xmlns:a16="http://schemas.microsoft.com/office/drawing/2014/main" id="{79784E12-5C1C-5E9B-6798-91CBBF0A3AF0}"/>
              </a:ext>
            </a:extLst>
          </p:cNvPr>
          <p:cNvSpPr/>
          <p:nvPr/>
        </p:nvSpPr>
        <p:spPr>
          <a:xfrm>
            <a:off x="483489" y="3934514"/>
            <a:ext cx="8209026"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03A18D7F-5629-E4B1-9D40-A9D890511EA8}"/>
              </a:ext>
            </a:extLst>
          </p:cNvPr>
          <p:cNvSpPr/>
          <p:nvPr/>
        </p:nvSpPr>
        <p:spPr>
          <a:xfrm>
            <a:off x="477561" y="400262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FB834796-4DF8-ECB9-DA22-7716FC4C2B3D}"/>
              </a:ext>
            </a:extLst>
          </p:cNvPr>
          <p:cNvSpPr/>
          <p:nvPr/>
        </p:nvSpPr>
        <p:spPr>
          <a:xfrm>
            <a:off x="648081" y="4064779"/>
            <a:ext cx="7825938"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6A703034-D4DB-F40B-2EEE-196729295720}"/>
              </a:ext>
            </a:extLst>
          </p:cNvPr>
          <p:cNvSpPr/>
          <p:nvPr/>
        </p:nvSpPr>
        <p:spPr>
          <a:xfrm>
            <a:off x="652653" y="4238037"/>
            <a:ext cx="7853302" cy="972783"/>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Align wearable signals such as HR, HRV, skin temperature, or EDA with indoor environmental measurements.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an environment-only baseline model for comfort or stress-related outcomes.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wearable-only model to isolate the physiological contribution.</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fused multimodal model combining indoor sensing and wearable data.</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whether physiological features improve prediction, especially for subject-specific responses and unseen occupants.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#7</a:t>
            </a:r>
            <a:endParaRPr lang="en-US" sz="1350" noProof="0" dirty="0"/>
          </a:p>
        </p:txBody>
      </p:sp>
      <p:sp>
        <p:nvSpPr>
          <p:cNvPr id="3" name="Text 1"/>
          <p:cNvSpPr/>
          <p:nvPr/>
        </p:nvSpPr>
        <p:spPr>
          <a:xfrm>
            <a:off x="425196" y="668474"/>
            <a:ext cx="8161020" cy="480060"/>
          </a:xfrm>
          <a:prstGeom prst="rect">
            <a:avLst/>
          </a:prstGeom>
          <a:noFill/>
          <a:ln/>
        </p:spPr>
        <p:txBody>
          <a:bodyPr wrap="square" lIns="0" tIns="0" rIns="0" bIns="0" rtlCol="0" anchor="ctr"/>
          <a:lstStyle/>
          <a:p>
            <a:r>
              <a:rPr lang="en-US" sz="1600" noProof="0" dirty="0"/>
              <a:t>Can overall IEQ or multi-domain comfort perception still be predicted when one entire sensing domain is unavailable at deployment?</a:t>
            </a:r>
            <a:endParaRPr lang="en-US" sz="1650" noProof="0" dirty="0"/>
          </a:p>
        </p:txBody>
      </p:sp>
      <p:sp>
        <p:nvSpPr>
          <p:cNvPr id="4" name="Shape 2"/>
          <p:cNvSpPr/>
          <p:nvPr/>
        </p:nvSpPr>
        <p:spPr>
          <a:xfrm>
            <a:off x="466344" y="1148534"/>
            <a:ext cx="4114800" cy="96313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203397"/>
            <a:ext cx="41148" cy="893091"/>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230829"/>
            <a:ext cx="3922776" cy="105069"/>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436569"/>
            <a:ext cx="3936492" cy="814289"/>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Can overall IEQ or multi-domain comfort perception still be predicted when one entire sensing domain is unavailable at deployment?</a:t>
            </a:r>
          </a:p>
          <a:p>
            <a:r>
              <a:rPr lang="en-US" sz="1000" noProof="0" dirty="0">
                <a:solidFill>
                  <a:srgbClr val="4F6177"/>
                </a:solidFill>
                <a:ea typeface="Arial" pitchFamily="34" charset="-122"/>
                <a:cs typeface="Arial" pitchFamily="34" charset="-120"/>
              </a:rPr>
              <a:t>• Which sensing combinations provide the best performance-to-cost ratio?</a:t>
            </a:r>
            <a:endParaRPr lang="en-US" sz="1000" noProof="0" dirty="0"/>
          </a:p>
        </p:txBody>
      </p:sp>
      <p:sp>
        <p:nvSpPr>
          <p:cNvPr id="8" name="Shape 6"/>
          <p:cNvSpPr/>
          <p:nvPr/>
        </p:nvSpPr>
        <p:spPr>
          <a:xfrm>
            <a:off x="4766310" y="1148534"/>
            <a:ext cx="3909060" cy="96313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203397"/>
            <a:ext cx="41148" cy="893091"/>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230829"/>
            <a:ext cx="3717036" cy="105069"/>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436569"/>
            <a:ext cx="3730752" cy="814289"/>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Most building ML models are still single-domain, usually focusing on thermal comfort, IAQ, or energy separately.</a:t>
            </a:r>
          </a:p>
          <a:p>
            <a:r>
              <a:rPr lang="en-US" sz="1000" noProof="0" dirty="0">
                <a:solidFill>
                  <a:srgbClr val="4F6177"/>
                </a:solidFill>
                <a:ea typeface="Arial" pitchFamily="34" charset="-122"/>
                <a:cs typeface="Arial" pitchFamily="34" charset="-120"/>
              </a:rPr>
              <a:t>• Practical multimodal IEQ deployment is limited by incomplete sensor stacks across buildings.</a:t>
            </a:r>
            <a:endParaRPr lang="en-US" sz="1000" noProof="0" dirty="0"/>
          </a:p>
        </p:txBody>
      </p:sp>
      <p:sp>
        <p:nvSpPr>
          <p:cNvPr id="12" name="Shape 10"/>
          <p:cNvSpPr/>
          <p:nvPr/>
        </p:nvSpPr>
        <p:spPr>
          <a:xfrm>
            <a:off x="472272" y="2245319"/>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92846" y="2300183"/>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95716" y="2327615"/>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EXPECTED CONTRIBUTION / USE</a:t>
            </a:r>
            <a:endParaRPr lang="en-US" sz="1000" noProof="0" dirty="0"/>
          </a:p>
        </p:txBody>
      </p:sp>
      <p:sp>
        <p:nvSpPr>
          <p:cNvPr id="15" name="Text 13"/>
          <p:cNvSpPr/>
          <p:nvPr/>
        </p:nvSpPr>
        <p:spPr>
          <a:xfrm>
            <a:off x="595716" y="2533355"/>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Systematic modality-dropout benchmark rather than simple feature-level missing-value imputation.</a:t>
            </a:r>
            <a:endParaRPr lang="en-US" sz="1000" noProof="0" dirty="0"/>
          </a:p>
          <a:p>
            <a:r>
              <a:rPr lang="en-US" sz="1000" noProof="0" dirty="0">
                <a:solidFill>
                  <a:srgbClr val="4F6177"/>
                </a:solidFill>
                <a:ea typeface="Arial" pitchFamily="34" charset="-122"/>
                <a:cs typeface="Arial" pitchFamily="34" charset="-120"/>
              </a:rPr>
              <a:t>• Output can become a sensor-priority map: which missing modality hurts most, and where cheaper sensing is sufficient.</a:t>
            </a:r>
            <a:endParaRPr lang="en-US" sz="1000" noProof="0" dirty="0"/>
          </a:p>
        </p:txBody>
      </p:sp>
      <p:sp>
        <p:nvSpPr>
          <p:cNvPr id="16" name="Shape 14"/>
          <p:cNvSpPr/>
          <p:nvPr/>
        </p:nvSpPr>
        <p:spPr>
          <a:xfrm>
            <a:off x="4772238" y="2245319"/>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92812" y="2300183"/>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95682" y="2327615"/>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95682" y="2533355"/>
            <a:ext cx="3730752" cy="1110996"/>
          </a:xfrm>
          <a:prstGeom prst="rect">
            <a:avLst/>
          </a:prstGeom>
          <a:noFill/>
          <a:ln/>
        </p:spPr>
        <p:txBody>
          <a:bodyPr wrap="square" lIns="0" tIns="0" rIns="0" bIns="0" rtlCol="0" anchor="t">
            <a:noAutofit/>
          </a:bodyPr>
          <a:lstStyle/>
          <a:p>
            <a:r>
              <a:rPr lang="en-US" sz="900" noProof="0" dirty="0">
                <a:solidFill>
                  <a:srgbClr val="4F6177"/>
                </a:solidFill>
                <a:ea typeface="Arial" pitchFamily="34" charset="-122"/>
                <a:cs typeface="Arial" pitchFamily="34" charset="-120"/>
              </a:rPr>
              <a:t>• Belgian classrooms is the strongest fit because it contains simultaneous thermal, IAQ, visual, acoustic, and overall satisfaction labels in the same records.</a:t>
            </a:r>
            <a:endParaRPr lang="en-US" sz="900" noProof="0" dirty="0"/>
          </a:p>
          <a:p>
            <a:r>
              <a:rPr lang="en-US" sz="900" noProof="0" dirty="0">
                <a:solidFill>
                  <a:srgbClr val="4F6177"/>
                </a:solidFill>
                <a:ea typeface="Arial" pitchFamily="34" charset="-122"/>
                <a:cs typeface="Arial" pitchFamily="34" charset="-120"/>
              </a:rPr>
              <a:t>• Modalities can be grouped naturally as: thermal = temperature + RH; IAQ = CO₂ (+ TVOC/PM in case 3); visual = light intensity; acoustic = sound level.</a:t>
            </a:r>
            <a:endParaRPr lang="en-US" sz="900" noProof="0" dirty="0"/>
          </a:p>
          <a:p>
            <a:r>
              <a:rPr lang="en-US" sz="900" noProof="0" dirty="0">
                <a:solidFill>
                  <a:srgbClr val="4F6177"/>
                </a:solidFill>
                <a:ea typeface="Arial" pitchFamily="34" charset="-122"/>
                <a:cs typeface="Arial" pitchFamily="34" charset="-120"/>
              </a:rPr>
              <a:t>• Repeated votes make it possible to test both population and occupant-aware models under modality dropout.</a:t>
            </a:r>
            <a:endParaRPr lang="en-US" sz="900" noProof="0" dirty="0"/>
          </a:p>
        </p:txBody>
      </p:sp>
      <p:sp>
        <p:nvSpPr>
          <p:cNvPr id="20" name="Text 18"/>
          <p:cNvSpPr/>
          <p:nvPr/>
        </p:nvSpPr>
        <p:spPr>
          <a:xfrm>
            <a:off x="4895682" y="3603203"/>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Belgian classrooms DOI</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51</a:t>
            </a:fld>
            <a:endParaRPr lang="en-US" noProof="0" dirty="0">
              <a:latin typeface="+mn-lt"/>
            </a:endParaRPr>
          </a:p>
        </p:txBody>
      </p:sp>
      <p:sp>
        <p:nvSpPr>
          <p:cNvPr id="21" name="Shape 10">
            <a:extLst>
              <a:ext uri="{FF2B5EF4-FFF2-40B4-BE49-F238E27FC236}">
                <a16:creationId xmlns:a16="http://schemas.microsoft.com/office/drawing/2014/main" id="{87408AAF-AF7A-EB22-B28E-15B05D653F65}"/>
              </a:ext>
            </a:extLst>
          </p:cNvPr>
          <p:cNvSpPr/>
          <p:nvPr/>
        </p:nvSpPr>
        <p:spPr>
          <a:xfrm>
            <a:off x="489417" y="3859084"/>
            <a:ext cx="8191881"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B64BFD5E-2FE0-9229-98E5-8D62860384EE}"/>
              </a:ext>
            </a:extLst>
          </p:cNvPr>
          <p:cNvSpPr/>
          <p:nvPr/>
        </p:nvSpPr>
        <p:spPr>
          <a:xfrm>
            <a:off x="483489" y="392719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A92CAB50-2F4D-DD7C-5311-BC2754FD4DCC}"/>
              </a:ext>
            </a:extLst>
          </p:cNvPr>
          <p:cNvSpPr/>
          <p:nvPr/>
        </p:nvSpPr>
        <p:spPr>
          <a:xfrm>
            <a:off x="654009" y="3989349"/>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603339E8-AE9D-BE44-D844-057859C97403}"/>
              </a:ext>
            </a:extLst>
          </p:cNvPr>
          <p:cNvSpPr/>
          <p:nvPr/>
        </p:nvSpPr>
        <p:spPr>
          <a:xfrm>
            <a:off x="658581" y="4162607"/>
            <a:ext cx="7836900" cy="972783"/>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Construct parallel input settings where some samples have full modalities and others miss one or more domains.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full-modality reference model on samples with complete data.</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modality-robust models using masking, late fusion, or mixture-of-experts strategies.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Evaluate performance under different missing-modality scenarios such as no CO2, no acoustics, or no wearables.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Identify which modalities are essential, which are redundant, and which model design handles missing domains best.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#8</a:t>
            </a:r>
            <a:endParaRPr lang="en-US" sz="1350" noProof="0" dirty="0"/>
          </a:p>
        </p:txBody>
      </p:sp>
      <p:sp>
        <p:nvSpPr>
          <p:cNvPr id="3" name="Text 1"/>
          <p:cNvSpPr/>
          <p:nvPr/>
        </p:nvSpPr>
        <p:spPr>
          <a:xfrm>
            <a:off x="425196" y="658368"/>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Explainable Models: Stable, physically sensible explanations rather than one SHAP plot</a:t>
            </a:r>
            <a:endParaRPr lang="en-US" sz="1650" noProof="0" dirty="0"/>
          </a:p>
        </p:txBody>
      </p:sp>
      <p:sp>
        <p:nvSpPr>
          <p:cNvPr id="4" name="Shape 2"/>
          <p:cNvSpPr/>
          <p:nvPr/>
        </p:nvSpPr>
        <p:spPr>
          <a:xfrm>
            <a:off x="466344" y="1097280"/>
            <a:ext cx="4114800" cy="994657"/>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152144"/>
            <a:ext cx="41148" cy="922318"/>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179576"/>
            <a:ext cx="3922776" cy="108508"/>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385316"/>
            <a:ext cx="3936492" cy="840937"/>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Are model explanations stable across splits, seasons, building types, and climate zones?</a:t>
            </a:r>
            <a:endParaRPr lang="en-US" sz="1000" noProof="0" dirty="0"/>
          </a:p>
          <a:p>
            <a:r>
              <a:rPr lang="en-US" sz="1000" noProof="0" dirty="0">
                <a:solidFill>
                  <a:srgbClr val="4F6177"/>
                </a:solidFill>
                <a:ea typeface="Arial" pitchFamily="34" charset="-122"/>
                <a:cs typeface="Arial" pitchFamily="34" charset="-120"/>
              </a:rPr>
              <a:t>• Which model gives the best trade-off between prediction quality and interpretability?</a:t>
            </a:r>
            <a:endParaRPr lang="en-US" sz="1000" noProof="0" dirty="0"/>
          </a:p>
        </p:txBody>
      </p:sp>
      <p:sp>
        <p:nvSpPr>
          <p:cNvPr id="8" name="Shape 6"/>
          <p:cNvSpPr/>
          <p:nvPr/>
        </p:nvSpPr>
        <p:spPr>
          <a:xfrm>
            <a:off x="4766310" y="1097280"/>
            <a:ext cx="3909060" cy="994657"/>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152144"/>
            <a:ext cx="41148" cy="922318"/>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179576"/>
            <a:ext cx="3717036" cy="108508"/>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385316"/>
            <a:ext cx="3730752" cy="840937"/>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Many papers stop at a single SHAP summary plot.</a:t>
            </a:r>
            <a:endParaRPr lang="en-US" sz="1000" noProof="0" dirty="0"/>
          </a:p>
          <a:p>
            <a:r>
              <a:rPr lang="en-US" sz="1000" noProof="0" dirty="0">
                <a:solidFill>
                  <a:srgbClr val="4F6177"/>
                </a:solidFill>
                <a:ea typeface="Arial" pitchFamily="34" charset="-122"/>
                <a:cs typeface="Arial" pitchFamily="34" charset="-120"/>
              </a:rPr>
              <a:t>• Far fewer test whether feature rankings are stable, whether local explanations stay coherent, or whether effect directions make physical sense.</a:t>
            </a:r>
            <a:endParaRPr lang="en-US" sz="1000" noProof="0" dirty="0"/>
          </a:p>
        </p:txBody>
      </p:sp>
      <p:sp>
        <p:nvSpPr>
          <p:cNvPr id="12" name="Shape 10"/>
          <p:cNvSpPr/>
          <p:nvPr/>
        </p:nvSpPr>
        <p:spPr>
          <a:xfrm>
            <a:off x="466344" y="2226253"/>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86918" y="2281117"/>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9788" y="2308549"/>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EXPECTED CONTRIBUTION / USE</a:t>
            </a:r>
            <a:endParaRPr lang="en-US" sz="1000" noProof="0" dirty="0"/>
          </a:p>
        </p:txBody>
      </p:sp>
      <p:sp>
        <p:nvSpPr>
          <p:cNvPr id="15" name="Text 13"/>
          <p:cNvSpPr/>
          <p:nvPr/>
        </p:nvSpPr>
        <p:spPr>
          <a:xfrm>
            <a:off x="589788" y="2514289"/>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Comparison of explanation stability, sparsity, and physical plausibility across linear, tree-based, and neural models.</a:t>
            </a:r>
            <a:endParaRPr lang="en-US" sz="1000" noProof="0" dirty="0"/>
          </a:p>
          <a:p>
            <a:r>
              <a:rPr lang="en-US" sz="1000" noProof="0" dirty="0">
                <a:solidFill>
                  <a:srgbClr val="4F6177"/>
                </a:solidFill>
                <a:ea typeface="Arial" pitchFamily="34" charset="-122"/>
                <a:cs typeface="Arial" pitchFamily="34" charset="-120"/>
              </a:rPr>
              <a:t>• Strong paper angle because the result is useful even when predictive gains are modest.</a:t>
            </a:r>
            <a:endParaRPr lang="en-US" sz="1000" noProof="0" dirty="0"/>
          </a:p>
        </p:txBody>
      </p:sp>
      <p:sp>
        <p:nvSpPr>
          <p:cNvPr id="16" name="Shape 14"/>
          <p:cNvSpPr/>
          <p:nvPr/>
        </p:nvSpPr>
        <p:spPr>
          <a:xfrm>
            <a:off x="4766310" y="2226253"/>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86884" y="2281117"/>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9754" y="2308549"/>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9754" y="2514289"/>
            <a:ext cx="3730752" cy="1110996"/>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Chinese thermal comfort dataset (primary) — 41,977 records from 49 cities, 5 climate zones, 4 building types, and 3 operation modes. Variables include indoor temperature, RH, air speed, mean radiant temperature, clothing, metabolic rate, and thermal votes.</a:t>
            </a:r>
            <a:endParaRPr lang="en-US" sz="1000" noProof="0" dirty="0"/>
          </a:p>
          <a:p>
            <a:r>
              <a:rPr lang="en-US" sz="1000" noProof="0" dirty="0">
                <a:solidFill>
                  <a:srgbClr val="4F6177"/>
                </a:solidFill>
                <a:ea typeface="Arial" pitchFamily="34" charset="-122"/>
                <a:cs typeface="Arial" pitchFamily="34" charset="-120"/>
              </a:rPr>
              <a:t>• ASHRAE global field-measurement database (secondary) — large international external-validation set for checking whether explanations transfer beyond one country or climate.</a:t>
            </a:r>
            <a:endParaRPr lang="en-US" sz="1000" noProof="0" dirty="0"/>
          </a:p>
        </p:txBody>
      </p:sp>
      <p:sp>
        <p:nvSpPr>
          <p:cNvPr id="20" name="Text 18"/>
          <p:cNvSpPr/>
          <p:nvPr/>
        </p:nvSpPr>
        <p:spPr>
          <a:xfrm>
            <a:off x="4889754" y="3584137"/>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Chinese dataset DOI</a:t>
            </a:r>
            <a:r>
              <a:rPr lang="en-US" sz="765" noProof="0" dirty="0">
                <a:solidFill>
                  <a:srgbClr val="68788F"/>
                </a:solidFill>
                <a:ea typeface="Arial" pitchFamily="34" charset="-122"/>
                <a:cs typeface="Arial" pitchFamily="34" charset="-120"/>
              </a:rPr>
              <a:t>  |  </a:t>
            </a:r>
            <a:r>
              <a:rPr lang="en-US" sz="765"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ASHRAE repository</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52</a:t>
            </a:fld>
            <a:endParaRPr lang="en-US" noProof="0" dirty="0">
              <a:latin typeface="+mn-lt"/>
            </a:endParaRPr>
          </a:p>
        </p:txBody>
      </p:sp>
      <p:sp>
        <p:nvSpPr>
          <p:cNvPr id="21" name="Shape 10">
            <a:extLst>
              <a:ext uri="{FF2B5EF4-FFF2-40B4-BE49-F238E27FC236}">
                <a16:creationId xmlns:a16="http://schemas.microsoft.com/office/drawing/2014/main" id="{B28250DF-36D8-AFAB-DF07-BC8E8288752E}"/>
              </a:ext>
            </a:extLst>
          </p:cNvPr>
          <p:cNvSpPr/>
          <p:nvPr/>
        </p:nvSpPr>
        <p:spPr>
          <a:xfrm>
            <a:off x="489417" y="3859084"/>
            <a:ext cx="8191881"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FB889148-48F9-41FD-9903-3EA4A6BB68A7}"/>
              </a:ext>
            </a:extLst>
          </p:cNvPr>
          <p:cNvSpPr/>
          <p:nvPr/>
        </p:nvSpPr>
        <p:spPr>
          <a:xfrm>
            <a:off x="483489" y="392719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5B675F67-A0DC-9E05-D7A7-70E987431463}"/>
              </a:ext>
            </a:extLst>
          </p:cNvPr>
          <p:cNvSpPr/>
          <p:nvPr/>
        </p:nvSpPr>
        <p:spPr>
          <a:xfrm>
            <a:off x="654009" y="3989349"/>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E8C05D0B-D209-318D-9E05-E2B95B1EF17C}"/>
              </a:ext>
            </a:extLst>
          </p:cNvPr>
          <p:cNvSpPr/>
          <p:nvPr/>
        </p:nvSpPr>
        <p:spPr>
          <a:xfrm>
            <a:off x="658581" y="4162608"/>
            <a:ext cx="7836900" cy="847080"/>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strong predictive model for one IEQ-related target such as comfort, IAQ dissatisfaction, or energy risk.</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Apply explainability methods such as SHAP, permutation importance, or attention-based analysis.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Examine whether the dominant features remain stable across buildings, seasons, and occupant groups.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explanations against building-physics expectations and known IEQ relationships.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Assess whether the most accurate model is also the most interpretable and trustworthy for deployment.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BONUS IDEA #9</a:t>
            </a:r>
            <a:endParaRPr lang="en-US" sz="1350" noProof="0" dirty="0"/>
          </a:p>
        </p:txBody>
      </p:sp>
      <p:sp>
        <p:nvSpPr>
          <p:cNvPr id="3" name="Text 1"/>
          <p:cNvSpPr/>
          <p:nvPr/>
        </p:nvSpPr>
        <p:spPr>
          <a:xfrm>
            <a:off x="445770" y="631035"/>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Multimodal De-confusion of Wearable Stress Signals for Indoor Control</a:t>
            </a:r>
            <a:endParaRPr lang="en-US" sz="1650" noProof="0" dirty="0"/>
          </a:p>
        </p:txBody>
      </p:sp>
      <p:sp>
        <p:nvSpPr>
          <p:cNvPr id="4" name="Shape 2"/>
          <p:cNvSpPr/>
          <p:nvPr/>
        </p:nvSpPr>
        <p:spPr>
          <a:xfrm>
            <a:off x="466344" y="1111095"/>
            <a:ext cx="4114800" cy="1000577"/>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165959"/>
            <a:ext cx="41148" cy="927808"/>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193391"/>
            <a:ext cx="3922776" cy="109154"/>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399131"/>
            <a:ext cx="3936492" cy="845942"/>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Can physiological spikes be attributed to thermal discomfort versus noise or cognitive stress using environmental context?</a:t>
            </a:r>
            <a:endParaRPr lang="en-US" sz="1000" noProof="0" dirty="0"/>
          </a:p>
          <a:p>
            <a:r>
              <a:rPr lang="en-US" sz="1000" noProof="0" dirty="0">
                <a:solidFill>
                  <a:srgbClr val="4F6177"/>
                </a:solidFill>
                <a:ea typeface="Arial" pitchFamily="34" charset="-122"/>
                <a:cs typeface="Arial" pitchFamily="34" charset="-120"/>
              </a:rPr>
              <a:t>• Does a cause-aware model reduce false HVAC triggers compared with raw wearable-driven control?</a:t>
            </a:r>
            <a:endParaRPr lang="en-US" sz="1000" noProof="0" dirty="0"/>
          </a:p>
        </p:txBody>
      </p:sp>
      <p:sp>
        <p:nvSpPr>
          <p:cNvPr id="8" name="Shape 6"/>
          <p:cNvSpPr/>
          <p:nvPr/>
        </p:nvSpPr>
        <p:spPr>
          <a:xfrm>
            <a:off x="4766310" y="1111095"/>
            <a:ext cx="3909060" cy="1000577"/>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165959"/>
            <a:ext cx="41148" cy="927808"/>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193391"/>
            <a:ext cx="3717036" cy="109154"/>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399131"/>
            <a:ext cx="3730752" cy="845942"/>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EDA, BVP/HRV, and skin temperature are informative but not cause-specific.</a:t>
            </a:r>
            <a:endParaRPr lang="en-US" sz="1000" noProof="0" dirty="0"/>
          </a:p>
          <a:p>
            <a:r>
              <a:rPr lang="en-US" sz="1000" noProof="0" dirty="0">
                <a:solidFill>
                  <a:srgbClr val="4F6177"/>
                </a:solidFill>
                <a:ea typeface="Arial" pitchFamily="34" charset="-122"/>
                <a:cs typeface="Arial" pitchFamily="34" charset="-120"/>
              </a:rPr>
              <a:t>• Open multimodal classroom datasets now combine physiology, IEQ, and self-reports, which makes this question testable.</a:t>
            </a:r>
            <a:endParaRPr lang="en-US" sz="1000" noProof="0" dirty="0"/>
          </a:p>
        </p:txBody>
      </p:sp>
      <p:sp>
        <p:nvSpPr>
          <p:cNvPr id="12" name="Shape 10"/>
          <p:cNvSpPr/>
          <p:nvPr/>
        </p:nvSpPr>
        <p:spPr>
          <a:xfrm>
            <a:off x="466344" y="2236628"/>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86918" y="2291492"/>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9788" y="2318924"/>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USEFULNESS / FEASIBILITY</a:t>
            </a:r>
            <a:endParaRPr lang="en-US" sz="1000" noProof="0" dirty="0"/>
          </a:p>
        </p:txBody>
      </p:sp>
      <p:sp>
        <p:nvSpPr>
          <p:cNvPr id="15" name="Text 13"/>
          <p:cNvSpPr/>
          <p:nvPr/>
        </p:nvSpPr>
        <p:spPr>
          <a:xfrm>
            <a:off x="589788" y="2524664"/>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Useful for turning wearables into actionable control signals rather than only passive monitoring.</a:t>
            </a:r>
            <a:endParaRPr lang="en-US" sz="1000" noProof="0" dirty="0"/>
          </a:p>
          <a:p>
            <a:r>
              <a:rPr lang="en-US" sz="1000" noProof="0" dirty="0">
                <a:solidFill>
                  <a:srgbClr val="4F6177"/>
                </a:solidFill>
                <a:ea typeface="Arial" pitchFamily="34" charset="-122"/>
                <a:cs typeface="Arial" pitchFamily="34" charset="-120"/>
              </a:rPr>
              <a:t>• Open-data fit is medium rather than high because true causal labels are rare and weak supervision is likely required.</a:t>
            </a:r>
            <a:endParaRPr lang="en-US" sz="1000" noProof="0" dirty="0"/>
          </a:p>
        </p:txBody>
      </p:sp>
      <p:sp>
        <p:nvSpPr>
          <p:cNvPr id="16" name="Shape 14"/>
          <p:cNvSpPr/>
          <p:nvPr/>
        </p:nvSpPr>
        <p:spPr>
          <a:xfrm>
            <a:off x="4766310" y="2236628"/>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86884" y="2291492"/>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9754" y="2318924"/>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9754" y="2524664"/>
            <a:ext cx="3730752" cy="1110996"/>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En-Gage — EDA, BVP, skin temperature, acceleration, indoor CO₂, noise, temperature, humidity, and self-reports on comfort, engagement, emotion, and confidence.</a:t>
            </a:r>
            <a:endParaRPr lang="en-US" sz="1000" noProof="0" dirty="0"/>
          </a:p>
          <a:p>
            <a:r>
              <a:rPr lang="en-US" sz="1000" noProof="0" dirty="0">
                <a:solidFill>
                  <a:srgbClr val="4F6177"/>
                </a:solidFill>
                <a:ea typeface="Arial" pitchFamily="34" charset="-122"/>
                <a:cs typeface="Arial" pitchFamily="34" charset="-120"/>
              </a:rPr>
              <a:t>• Urban comfort / </a:t>
            </a:r>
            <a:r>
              <a:rPr lang="en-US" sz="1000" noProof="0" dirty="0" err="1">
                <a:solidFill>
                  <a:srgbClr val="4F6177"/>
                </a:solidFill>
                <a:ea typeface="Arial" pitchFamily="34" charset="-122"/>
                <a:cs typeface="Arial" pitchFamily="34" charset="-120"/>
              </a:rPr>
              <a:t>AirSpec</a:t>
            </a:r>
            <a:r>
              <a:rPr lang="en-US" sz="1000" noProof="0" dirty="0">
                <a:solidFill>
                  <a:srgbClr val="4F6177"/>
                </a:solidFill>
                <a:ea typeface="Arial" pitchFamily="34" charset="-122"/>
                <a:cs typeface="Arial" pitchFamily="34" charset="-120"/>
              </a:rPr>
              <a:t> — physiological signals, indoor environmental variables, and subjective perceptions across three cities.</a:t>
            </a:r>
            <a:endParaRPr lang="en-US" sz="1000" noProof="0" dirty="0"/>
          </a:p>
          <a:p>
            <a:r>
              <a:rPr lang="en-US" sz="1000" noProof="0" dirty="0">
                <a:solidFill>
                  <a:srgbClr val="4F6177"/>
                </a:solidFill>
                <a:ea typeface="Arial" pitchFamily="34" charset="-122"/>
                <a:cs typeface="Arial" pitchFamily="34" charset="-120"/>
              </a:rPr>
              <a:t>• Strongest as a high-value bonus concept rather than a first-choice paper topic.</a:t>
            </a:r>
            <a:endParaRPr lang="en-US" sz="1000" noProof="0" dirty="0"/>
          </a:p>
        </p:txBody>
      </p:sp>
      <p:sp>
        <p:nvSpPr>
          <p:cNvPr id="20" name="Text 18"/>
          <p:cNvSpPr/>
          <p:nvPr/>
        </p:nvSpPr>
        <p:spPr>
          <a:xfrm>
            <a:off x="4889754" y="3594512"/>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En-Gage DOI</a:t>
            </a:r>
            <a:r>
              <a:rPr lang="en-US" sz="765" noProof="0" dirty="0">
                <a:solidFill>
                  <a:srgbClr val="68788F"/>
                </a:solidFill>
                <a:ea typeface="Arial" pitchFamily="34" charset="-122"/>
                <a:cs typeface="Arial" pitchFamily="34" charset="-120"/>
              </a:rPr>
              <a:t>  |  </a:t>
            </a:r>
            <a:r>
              <a:rPr lang="en-US" sz="765"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Urban comfort DOI</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53</a:t>
            </a:fld>
            <a:endParaRPr lang="en-US" noProof="0" dirty="0">
              <a:latin typeface="+mn-lt"/>
            </a:endParaRPr>
          </a:p>
        </p:txBody>
      </p:sp>
      <p:sp>
        <p:nvSpPr>
          <p:cNvPr id="21" name="Shape 10">
            <a:extLst>
              <a:ext uri="{FF2B5EF4-FFF2-40B4-BE49-F238E27FC236}">
                <a16:creationId xmlns:a16="http://schemas.microsoft.com/office/drawing/2014/main" id="{3ABD9FF3-1345-1FC8-A68E-D8BD4050283F}"/>
              </a:ext>
            </a:extLst>
          </p:cNvPr>
          <p:cNvSpPr/>
          <p:nvPr/>
        </p:nvSpPr>
        <p:spPr>
          <a:xfrm>
            <a:off x="489417" y="3859084"/>
            <a:ext cx="8191881"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409B275C-D6E1-A30B-8590-0539CE4CEC3E}"/>
              </a:ext>
            </a:extLst>
          </p:cNvPr>
          <p:cNvSpPr/>
          <p:nvPr/>
        </p:nvSpPr>
        <p:spPr>
          <a:xfrm>
            <a:off x="483489" y="392719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71067D78-DF3C-0C01-C620-457D55A77038}"/>
              </a:ext>
            </a:extLst>
          </p:cNvPr>
          <p:cNvSpPr/>
          <p:nvPr/>
        </p:nvSpPr>
        <p:spPr>
          <a:xfrm>
            <a:off x="654009" y="3989349"/>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C0A25C29-A36C-FBFF-C1B7-5C754792F005}"/>
              </a:ext>
            </a:extLst>
          </p:cNvPr>
          <p:cNvSpPr/>
          <p:nvPr/>
        </p:nvSpPr>
        <p:spPr>
          <a:xfrm>
            <a:off x="658581" y="4162608"/>
            <a:ext cx="7836900" cy="847080"/>
          </a:xfrm>
          <a:prstGeom prst="rect">
            <a:avLst/>
          </a:prstGeom>
          <a:noFill/>
          <a:ln/>
        </p:spPr>
        <p:txBody>
          <a:bodyPr wrap="square" lIns="0" tIns="0" rIns="0" bIns="0" rtlCol="0" anchor="t">
            <a:normAutofit lnSpcReduction="10000"/>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Align wearable streams such as EDA, BVP/HRV, and skin temperature with environmental context including CO₂, noise, temperature, and humidity.</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baseline model that predicts discomfort or stress-related events from wearable signals alone.</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Add contextual indoor variables to build a cause-aware model that separates likely thermal discomfort from noise-driven or cognitive-stress responses.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Use weak supervision from self-reports, classroom context, and environmental triggers to assign probable cause labels.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whether the context-aware model reduces false HVAC-trigger interpretations relative to the wearable-only baseline.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BONUS IDEA #10</a:t>
            </a:r>
            <a:endParaRPr lang="en-US" sz="1350" noProof="0" dirty="0"/>
          </a:p>
        </p:txBody>
      </p:sp>
      <p:sp>
        <p:nvSpPr>
          <p:cNvPr id="3" name="Text 1"/>
          <p:cNvSpPr/>
          <p:nvPr/>
        </p:nvSpPr>
        <p:spPr>
          <a:xfrm>
            <a:off x="425196" y="651510"/>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Sensor Calibration Drift and Domain Adaptation for Long-Term IEQ Modeling</a:t>
            </a:r>
            <a:endParaRPr lang="en-US" sz="1650" noProof="0" dirty="0"/>
          </a:p>
        </p:txBody>
      </p:sp>
      <p:sp>
        <p:nvSpPr>
          <p:cNvPr id="4" name="Shape 2"/>
          <p:cNvSpPr/>
          <p:nvPr/>
        </p:nvSpPr>
        <p:spPr>
          <a:xfrm>
            <a:off x="466344" y="1172718"/>
            <a:ext cx="4114800" cy="98067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227582"/>
            <a:ext cx="41148" cy="909356"/>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255014"/>
            <a:ext cx="3922776" cy="106983"/>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460754"/>
            <a:ext cx="3936492" cy="829119"/>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Can a drift-aware preprocessing model recover downstream IEQ-model performance under biased or aging sensors?</a:t>
            </a:r>
            <a:endParaRPr lang="en-US" sz="1000" noProof="0" dirty="0"/>
          </a:p>
          <a:p>
            <a:r>
              <a:rPr lang="en-US" sz="1000" noProof="0" dirty="0">
                <a:solidFill>
                  <a:srgbClr val="4F6177"/>
                </a:solidFill>
                <a:ea typeface="Arial" pitchFamily="34" charset="-122"/>
                <a:cs typeface="Arial" pitchFamily="34" charset="-120"/>
              </a:rPr>
              <a:t>• Does domain adaptation from co-location calibration data outperform static correction or naïve retraining?</a:t>
            </a:r>
            <a:endParaRPr lang="en-US" sz="1000" noProof="0" dirty="0"/>
          </a:p>
        </p:txBody>
      </p:sp>
      <p:sp>
        <p:nvSpPr>
          <p:cNvPr id="8" name="Shape 6"/>
          <p:cNvSpPr/>
          <p:nvPr/>
        </p:nvSpPr>
        <p:spPr>
          <a:xfrm>
            <a:off x="4766310" y="1172718"/>
            <a:ext cx="3909060" cy="980678"/>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227582"/>
            <a:ext cx="41148" cy="909356"/>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255014"/>
            <a:ext cx="3717036" cy="106983"/>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460754"/>
            <a:ext cx="3730752" cy="829119"/>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Low-cost sensing suffers from bias drift, stuck values, and device-to-device offsets.</a:t>
            </a:r>
            <a:endParaRPr lang="en-US" sz="1000" noProof="0" dirty="0"/>
          </a:p>
          <a:p>
            <a:r>
              <a:rPr lang="en-US" sz="1000" noProof="0" dirty="0">
                <a:solidFill>
                  <a:srgbClr val="4F6177"/>
                </a:solidFill>
                <a:ea typeface="Arial" pitchFamily="34" charset="-122"/>
                <a:cs typeface="Arial" pitchFamily="34" charset="-120"/>
              </a:rPr>
              <a:t>• Open indoor datasets with true reference co-location are rare; the strongest public calibration corpus is still outdoor/ambient.</a:t>
            </a:r>
            <a:endParaRPr lang="en-US" sz="1000" noProof="0" dirty="0"/>
          </a:p>
        </p:txBody>
      </p:sp>
      <p:sp>
        <p:nvSpPr>
          <p:cNvPr id="12" name="Shape 10"/>
          <p:cNvSpPr/>
          <p:nvPr/>
        </p:nvSpPr>
        <p:spPr>
          <a:xfrm>
            <a:off x="466344" y="2235725"/>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86918" y="2290589"/>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9788" y="2318021"/>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USEFULNESS / FEASIBILITY</a:t>
            </a:r>
            <a:endParaRPr lang="en-US" sz="1000" noProof="0" dirty="0"/>
          </a:p>
        </p:txBody>
      </p:sp>
      <p:sp>
        <p:nvSpPr>
          <p:cNvPr id="15" name="Text 13"/>
          <p:cNvSpPr/>
          <p:nvPr/>
        </p:nvSpPr>
        <p:spPr>
          <a:xfrm>
            <a:off x="589788" y="2523761"/>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Methodologically interesting, but the indoor-domain fit is weaker than for the core eight ideas.</a:t>
            </a:r>
            <a:endParaRPr lang="en-US" sz="1000" noProof="0" dirty="0"/>
          </a:p>
          <a:p>
            <a:r>
              <a:rPr lang="en-US" sz="1000" noProof="0" dirty="0">
                <a:solidFill>
                  <a:srgbClr val="4F6177"/>
                </a:solidFill>
                <a:ea typeface="Arial" pitchFamily="34" charset="-122"/>
                <a:cs typeface="Arial" pitchFamily="34" charset="-120"/>
              </a:rPr>
              <a:t>• Best framed as a transfer-learning or robustness paper, not as a purely indoor calibration benchmark.</a:t>
            </a:r>
            <a:endParaRPr lang="en-US" sz="1000" noProof="0" dirty="0"/>
          </a:p>
        </p:txBody>
      </p:sp>
      <p:sp>
        <p:nvSpPr>
          <p:cNvPr id="16" name="Shape 14"/>
          <p:cNvSpPr/>
          <p:nvPr/>
        </p:nvSpPr>
        <p:spPr>
          <a:xfrm>
            <a:off x="4766310" y="2235725"/>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86884" y="2290589"/>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9754" y="2318021"/>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9754" y="2523761"/>
            <a:ext cx="3730752" cy="1110996"/>
          </a:xfrm>
          <a:prstGeom prst="rect">
            <a:avLst/>
          </a:prstGeom>
          <a:noFill/>
          <a:ln/>
        </p:spPr>
        <p:txBody>
          <a:bodyPr wrap="square" lIns="0" tIns="0" rIns="0" bIns="0" rtlCol="0" anchor="t">
            <a:noAutofit/>
          </a:bodyPr>
          <a:lstStyle/>
          <a:p>
            <a:r>
              <a:rPr lang="en-US" sz="1000" noProof="0" dirty="0">
                <a:solidFill>
                  <a:srgbClr val="4F6177"/>
                </a:solidFill>
                <a:ea typeface="Arial" pitchFamily="34" charset="-122"/>
                <a:cs typeface="Arial" pitchFamily="34" charset="-120"/>
              </a:rPr>
              <a:t>• </a:t>
            </a:r>
            <a:r>
              <a:rPr lang="en-US" sz="1000" noProof="0" dirty="0" err="1">
                <a:solidFill>
                  <a:srgbClr val="4F6177"/>
                </a:solidFill>
                <a:ea typeface="Arial" pitchFamily="34" charset="-122"/>
                <a:cs typeface="Arial" pitchFamily="34" charset="-120"/>
              </a:rPr>
              <a:t>SensEURCity</a:t>
            </a:r>
            <a:r>
              <a:rPr lang="en-US" sz="1000" noProof="0" dirty="0">
                <a:solidFill>
                  <a:srgbClr val="4F6177"/>
                </a:solidFill>
                <a:ea typeface="Arial" pitchFamily="34" charset="-122"/>
                <a:cs typeface="Arial" pitchFamily="34" charset="-120"/>
              </a:rPr>
              <a:t> — 85 low-cost/reference co-location systems across 3 cities; CO₂, PM, gases, and meteorology; useful for learning generic calibration and drift patterns.</a:t>
            </a:r>
            <a:endParaRPr lang="en-US" sz="1000" noProof="0" dirty="0"/>
          </a:p>
          <a:p>
            <a:r>
              <a:rPr lang="en-US" sz="1000" noProof="0" dirty="0">
                <a:solidFill>
                  <a:srgbClr val="4F6177"/>
                </a:solidFill>
                <a:ea typeface="Arial" pitchFamily="34" charset="-122"/>
                <a:cs typeface="Arial" pitchFamily="34" charset="-120"/>
              </a:rPr>
              <a:t>• WFH IEQ — 95 indoor sites with hourly low-cost </a:t>
            </a:r>
            <a:r>
              <a:rPr lang="en-US" sz="1000" noProof="0" dirty="0" err="1">
                <a:solidFill>
                  <a:srgbClr val="4F6177"/>
                </a:solidFill>
                <a:ea typeface="Arial" pitchFamily="34" charset="-122"/>
                <a:cs typeface="Arial" pitchFamily="34" charset="-120"/>
              </a:rPr>
              <a:t>Awair</a:t>
            </a:r>
            <a:r>
              <a:rPr lang="en-US" sz="1000" noProof="0" dirty="0">
                <a:solidFill>
                  <a:srgbClr val="4F6177"/>
                </a:solidFill>
                <a:ea typeface="Arial" pitchFamily="34" charset="-122"/>
                <a:cs typeface="Arial" pitchFamily="34" charset="-120"/>
              </a:rPr>
              <a:t> Omni measurements: CO₂, TVOC, PM₂.₅, temperature, RH, and SPL; useful for testing downstream indoor transfer.</a:t>
            </a:r>
            <a:endParaRPr lang="en-US" sz="1000" noProof="0" dirty="0"/>
          </a:p>
        </p:txBody>
      </p:sp>
      <p:sp>
        <p:nvSpPr>
          <p:cNvPr id="20" name="Text 18"/>
          <p:cNvSpPr/>
          <p:nvPr/>
        </p:nvSpPr>
        <p:spPr>
          <a:xfrm>
            <a:off x="4889754" y="3593609"/>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err="1">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SensEURCity</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 DOI</a:t>
            </a:r>
            <a:r>
              <a:rPr lang="en-US" sz="765" noProof="0" dirty="0">
                <a:solidFill>
                  <a:srgbClr val="68788F"/>
                </a:solidFill>
                <a:ea typeface="Arial" pitchFamily="34" charset="-122"/>
                <a:cs typeface="Arial" pitchFamily="34" charset="-120"/>
              </a:rPr>
              <a:t>  |  </a:t>
            </a:r>
            <a:r>
              <a:rPr lang="en-US" sz="765"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WFH IEQ DOI</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54</a:t>
            </a:fld>
            <a:endParaRPr lang="en-US" noProof="0" dirty="0">
              <a:latin typeface="+mn-lt"/>
            </a:endParaRPr>
          </a:p>
        </p:txBody>
      </p:sp>
      <p:sp>
        <p:nvSpPr>
          <p:cNvPr id="21" name="Shape 10">
            <a:extLst>
              <a:ext uri="{FF2B5EF4-FFF2-40B4-BE49-F238E27FC236}">
                <a16:creationId xmlns:a16="http://schemas.microsoft.com/office/drawing/2014/main" id="{3C2D84B4-6911-AD5B-9CA4-4578969F4BD5}"/>
              </a:ext>
            </a:extLst>
          </p:cNvPr>
          <p:cNvSpPr/>
          <p:nvPr/>
        </p:nvSpPr>
        <p:spPr>
          <a:xfrm>
            <a:off x="489417" y="3859084"/>
            <a:ext cx="8191881"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09B84DCF-2A62-8D80-C842-4DBB2698D506}"/>
              </a:ext>
            </a:extLst>
          </p:cNvPr>
          <p:cNvSpPr/>
          <p:nvPr/>
        </p:nvSpPr>
        <p:spPr>
          <a:xfrm>
            <a:off x="483489" y="392719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0FAB3E8E-B609-855B-F2CC-6666544E0B8C}"/>
              </a:ext>
            </a:extLst>
          </p:cNvPr>
          <p:cNvSpPr/>
          <p:nvPr/>
        </p:nvSpPr>
        <p:spPr>
          <a:xfrm>
            <a:off x="654009" y="3989349"/>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B9239B6A-5138-B267-D0EA-66BF4001E789}"/>
              </a:ext>
            </a:extLst>
          </p:cNvPr>
          <p:cNvSpPr/>
          <p:nvPr/>
        </p:nvSpPr>
        <p:spPr>
          <a:xfrm>
            <a:off x="658581" y="4162608"/>
            <a:ext cx="7836900" cy="847080"/>
          </a:xfrm>
          <a:prstGeom prst="rect">
            <a:avLst/>
          </a:prstGeom>
          <a:noFill/>
          <a:ln/>
        </p:spPr>
        <p:txBody>
          <a:bodyPr wrap="square" lIns="0" tIns="0" rIns="0" bIns="0" rtlCol="0" anchor="t">
            <a:normAutofit lnSpcReduction="10000"/>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calibration or drift-correction model on co-location data containing both low-cost and reference measurements.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Apply the learned correction to long-term indoor IEQ data collected by low-cost sensors.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downstream IEQ prediction model on raw indoor data to obtain the uncorrected baseline.</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Re-train or re-evaluate the same downstream model on corrected data using static correction, domain adaptation, and naïve retraining as competing strategies.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which correction strategy recovers the most downstream performance under bias drift, device offsets, and aging effects.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#11</a:t>
            </a:r>
            <a:endParaRPr lang="en-US" sz="1350" noProof="0" dirty="0"/>
          </a:p>
        </p:txBody>
      </p:sp>
      <p:sp>
        <p:nvSpPr>
          <p:cNvPr id="3" name="Text 1"/>
          <p:cNvSpPr/>
          <p:nvPr/>
        </p:nvSpPr>
        <p:spPr>
          <a:xfrm>
            <a:off x="432054" y="663927"/>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Beyond Neutral CO₂: Is the productivity optimum lower than the comfort optimum?</a:t>
            </a:r>
            <a:endParaRPr lang="en-US" sz="1650" noProof="0" dirty="0"/>
          </a:p>
        </p:txBody>
      </p:sp>
      <p:sp>
        <p:nvSpPr>
          <p:cNvPr id="4" name="Shape 2"/>
          <p:cNvSpPr/>
          <p:nvPr/>
        </p:nvSpPr>
        <p:spPr>
          <a:xfrm>
            <a:off x="466344" y="1162431"/>
            <a:ext cx="4114800" cy="113157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217295"/>
            <a:ext cx="41148" cy="1049274"/>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244727"/>
            <a:ext cx="3922776" cy="123444"/>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450467"/>
            <a:ext cx="3936492" cy="956691"/>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Do engagement or performance proxies continue improving toward the lowest observed CO₂ and thermal-load conditions rather than plateauing at standard comfort targets?</a:t>
            </a:r>
            <a:endParaRPr lang="en-US" sz="1000" noProof="0" dirty="0"/>
          </a:p>
          <a:p>
            <a:r>
              <a:rPr lang="en-US" sz="1000" noProof="0" dirty="0">
                <a:solidFill>
                  <a:srgbClr val="4F6177"/>
                </a:solidFill>
                <a:ea typeface="Arial" pitchFamily="34" charset="-122"/>
                <a:cs typeface="Arial" pitchFamily="34" charset="-120"/>
              </a:rPr>
              <a:t>• Can a learned response surface estimate a “high-performance zone” distinct from a “comfortable zone”?</a:t>
            </a:r>
            <a:endParaRPr lang="en-US" sz="1000" noProof="0" dirty="0"/>
          </a:p>
        </p:txBody>
      </p:sp>
      <p:sp>
        <p:nvSpPr>
          <p:cNvPr id="8" name="Shape 6"/>
          <p:cNvSpPr/>
          <p:nvPr/>
        </p:nvSpPr>
        <p:spPr>
          <a:xfrm>
            <a:off x="4766310" y="1162431"/>
            <a:ext cx="3909060" cy="113157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217295"/>
            <a:ext cx="41148" cy="1049274"/>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244727"/>
            <a:ext cx="3717036" cy="123444"/>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450467"/>
            <a:ext cx="3730752" cy="956691"/>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Building standards target acceptability, not maximal cognitive throughput.</a:t>
            </a:r>
            <a:endParaRPr lang="en-US" sz="1000" noProof="0" dirty="0"/>
          </a:p>
          <a:p>
            <a:r>
              <a:rPr lang="en-US" sz="1000" noProof="0" dirty="0">
                <a:solidFill>
                  <a:srgbClr val="4F6177"/>
                </a:solidFill>
                <a:ea typeface="Arial" pitchFamily="34" charset="-122"/>
                <a:cs typeface="Arial" pitchFamily="34" charset="-120"/>
              </a:rPr>
              <a:t>• Open datasets linking IEQ to engagement or work performance are still rare, but they now exist in fragmented form.</a:t>
            </a:r>
            <a:endParaRPr lang="en-US" sz="1000" noProof="0" dirty="0"/>
          </a:p>
        </p:txBody>
      </p:sp>
      <p:sp>
        <p:nvSpPr>
          <p:cNvPr id="12" name="Shape 10"/>
          <p:cNvSpPr/>
          <p:nvPr/>
        </p:nvSpPr>
        <p:spPr>
          <a:xfrm>
            <a:off x="477774" y="2396833"/>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98348" y="2451697"/>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601218" y="2479129"/>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USEFULNESS / FEASIBILITY</a:t>
            </a:r>
            <a:endParaRPr lang="en-US" sz="1000" noProof="0" dirty="0"/>
          </a:p>
        </p:txBody>
      </p:sp>
      <p:sp>
        <p:nvSpPr>
          <p:cNvPr id="15" name="Text 13"/>
          <p:cNvSpPr/>
          <p:nvPr/>
        </p:nvSpPr>
        <p:spPr>
          <a:xfrm>
            <a:off x="601218" y="2684869"/>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Reframes IEQ from “good enough” to performance-oriented microenvironments.</a:t>
            </a:r>
            <a:endParaRPr lang="en-US" sz="1000" noProof="0" dirty="0"/>
          </a:p>
          <a:p>
            <a:r>
              <a:rPr lang="en-US" sz="1000" noProof="0" dirty="0">
                <a:solidFill>
                  <a:srgbClr val="4F6177"/>
                </a:solidFill>
                <a:ea typeface="Arial" pitchFamily="34" charset="-122"/>
                <a:cs typeface="Arial" pitchFamily="34" charset="-120"/>
              </a:rPr>
              <a:t>• Strategic value is high for premium offices, laboratories, and mission-critical workspaces, but open-data evidence would remain exploratory rather than definitive.</a:t>
            </a:r>
            <a:endParaRPr lang="en-US" sz="1000" noProof="0" dirty="0"/>
          </a:p>
        </p:txBody>
      </p:sp>
      <p:sp>
        <p:nvSpPr>
          <p:cNvPr id="16" name="Shape 14"/>
          <p:cNvSpPr/>
          <p:nvPr/>
        </p:nvSpPr>
        <p:spPr>
          <a:xfrm>
            <a:off x="4777740" y="2396833"/>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98314" y="2451697"/>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901184" y="2479129"/>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901184" y="2684869"/>
            <a:ext cx="3730752" cy="1110996"/>
          </a:xfrm>
          <a:prstGeom prst="rect">
            <a:avLst/>
          </a:prstGeom>
          <a:noFill/>
          <a:ln/>
        </p:spPr>
        <p:txBody>
          <a:bodyPr wrap="square" lIns="0" tIns="0" rIns="0" bIns="0" rtlCol="0" anchor="t">
            <a:noAutofit/>
          </a:bodyPr>
          <a:lstStyle/>
          <a:p>
            <a:r>
              <a:rPr lang="en-US" sz="950" noProof="0" dirty="0">
                <a:solidFill>
                  <a:srgbClr val="4F6177"/>
                </a:solidFill>
                <a:ea typeface="Arial" pitchFamily="34" charset="-122"/>
                <a:cs typeface="Arial" pitchFamily="34" charset="-120"/>
              </a:rPr>
              <a:t>• En-Gage — engagement, confidence, emotion, temperature, humidity, CO₂, noise, and wearable physiology.</a:t>
            </a:r>
            <a:endParaRPr lang="en-US" sz="950" noProof="0" dirty="0"/>
          </a:p>
          <a:p>
            <a:r>
              <a:rPr lang="en-US" sz="950" noProof="0" dirty="0">
                <a:solidFill>
                  <a:srgbClr val="4F6177"/>
                </a:solidFill>
                <a:ea typeface="Arial" pitchFamily="34" charset="-122"/>
                <a:cs typeface="Arial" pitchFamily="34" charset="-120"/>
              </a:rPr>
              <a:t>• Indoor temperature–office work performance database — aggregated performance outcomes from published office studies across 20–30 °C; useful for calibrating the thermal-performance side of the response surface.</a:t>
            </a:r>
            <a:endParaRPr lang="en-US" sz="950" noProof="0" dirty="0"/>
          </a:p>
          <a:p>
            <a:r>
              <a:rPr lang="en-US" sz="950" noProof="0" dirty="0">
                <a:solidFill>
                  <a:srgbClr val="4F6177"/>
                </a:solidFill>
                <a:ea typeface="Arial" pitchFamily="34" charset="-122"/>
                <a:cs typeface="Arial" pitchFamily="34" charset="-120"/>
              </a:rPr>
              <a:t>• Strong as a hypothesis-generating paper on whether performance and comfort optima diverge.</a:t>
            </a:r>
            <a:endParaRPr lang="en-US" sz="950" noProof="0" dirty="0"/>
          </a:p>
        </p:txBody>
      </p:sp>
      <p:sp>
        <p:nvSpPr>
          <p:cNvPr id="20" name="Text 18"/>
          <p:cNvSpPr/>
          <p:nvPr/>
        </p:nvSpPr>
        <p:spPr>
          <a:xfrm>
            <a:off x="4901184" y="3754717"/>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En-Gage DOI</a:t>
            </a:r>
            <a:r>
              <a:rPr lang="en-US" sz="765" noProof="0" dirty="0">
                <a:solidFill>
                  <a:srgbClr val="68788F"/>
                </a:solidFill>
                <a:ea typeface="Arial" pitchFamily="34" charset="-122"/>
                <a:cs typeface="Arial" pitchFamily="34" charset="-120"/>
              </a:rPr>
              <a:t>  |  </a:t>
            </a:r>
            <a:r>
              <a:rPr lang="en-US" sz="765"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Office performance DOI</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55</a:t>
            </a:fld>
            <a:endParaRPr lang="en-US" noProof="0" dirty="0">
              <a:latin typeface="+mn-lt"/>
            </a:endParaRPr>
          </a:p>
        </p:txBody>
      </p:sp>
      <p:sp>
        <p:nvSpPr>
          <p:cNvPr id="21" name="Shape 10">
            <a:extLst>
              <a:ext uri="{FF2B5EF4-FFF2-40B4-BE49-F238E27FC236}">
                <a16:creationId xmlns:a16="http://schemas.microsoft.com/office/drawing/2014/main" id="{FF8E973B-3A83-FCE2-63B4-E3CB9BCAFC6D}"/>
              </a:ext>
            </a:extLst>
          </p:cNvPr>
          <p:cNvSpPr/>
          <p:nvPr/>
        </p:nvSpPr>
        <p:spPr>
          <a:xfrm>
            <a:off x="489417" y="3985099"/>
            <a:ext cx="8185953"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EF7F305E-0296-E02B-2E86-97B146F7D883}"/>
              </a:ext>
            </a:extLst>
          </p:cNvPr>
          <p:cNvSpPr/>
          <p:nvPr/>
        </p:nvSpPr>
        <p:spPr>
          <a:xfrm>
            <a:off x="483489" y="4053210"/>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316762D2-1049-912A-05DB-2564C17A251D}"/>
              </a:ext>
            </a:extLst>
          </p:cNvPr>
          <p:cNvSpPr/>
          <p:nvPr/>
        </p:nvSpPr>
        <p:spPr>
          <a:xfrm>
            <a:off x="654009" y="4115364"/>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25C9603E-E7F5-738D-8182-E4DB4E6F6E76}"/>
              </a:ext>
            </a:extLst>
          </p:cNvPr>
          <p:cNvSpPr/>
          <p:nvPr/>
        </p:nvSpPr>
        <p:spPr>
          <a:xfrm>
            <a:off x="658581" y="4288623"/>
            <a:ext cx="7836900" cy="847080"/>
          </a:xfrm>
          <a:prstGeom prst="rect">
            <a:avLst/>
          </a:prstGeom>
          <a:noFill/>
          <a:ln/>
        </p:spPr>
        <p:txBody>
          <a:bodyPr wrap="square" lIns="0" tIns="0" rIns="0" bIns="0" rtlCol="0" anchor="t">
            <a:normAutofit lnSpcReduction="10000"/>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Combine one dataset containing IEQ plus engagement or physiological performance proxies with a second dataset containing task-performance outcomes under varying thermal conditions.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Fit a response-surface model linking CO₂, temperature, humidity, noise, and related covariates to engagement or performance-related targets.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Estimate whether the predicted optimum for performance lies below or outside the standard comfort-neutral region.</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the inferred “comfortable zone” against the inferred “high-performance zone.”</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Report whether the two zones overlap, partially diverge, or suggest a trade-off between comfort-oriented and performance-oriented operation.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MOONSHOT IDEA #12</a:t>
            </a:r>
            <a:endParaRPr lang="en-US" sz="1350" noProof="0" dirty="0"/>
          </a:p>
        </p:txBody>
      </p:sp>
      <p:sp>
        <p:nvSpPr>
          <p:cNvPr id="3" name="Text 1"/>
          <p:cNvSpPr/>
          <p:nvPr/>
        </p:nvSpPr>
        <p:spPr>
          <a:xfrm>
            <a:off x="432054" y="601333"/>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Sensory Performance Tuning: Light and sound regimes above comfort-neutral baselines</a:t>
            </a:r>
            <a:endParaRPr lang="en-US" sz="1650" noProof="0" dirty="0"/>
          </a:p>
        </p:txBody>
      </p:sp>
      <p:sp>
        <p:nvSpPr>
          <p:cNvPr id="4" name="Shape 2"/>
          <p:cNvSpPr/>
          <p:nvPr/>
        </p:nvSpPr>
        <p:spPr>
          <a:xfrm>
            <a:off x="466344" y="1055951"/>
            <a:ext cx="4114800" cy="1006991"/>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110815"/>
            <a:ext cx="41148" cy="933755"/>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138247"/>
            <a:ext cx="3922776" cy="109854"/>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343987"/>
            <a:ext cx="3936492" cy="851365"/>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Can combinations of illuminance and acoustic conditions predict higher engagement or focus than merely “acceptable” IEQ?</a:t>
            </a:r>
            <a:endParaRPr lang="en-US" sz="1000" noProof="0" dirty="0"/>
          </a:p>
          <a:p>
            <a:r>
              <a:rPr lang="en-US" sz="1000" noProof="0" dirty="0">
                <a:solidFill>
                  <a:srgbClr val="4F6177"/>
                </a:solidFill>
                <a:ea typeface="Arial" pitchFamily="34" charset="-122"/>
                <a:cs typeface="Arial" pitchFamily="34" charset="-120"/>
              </a:rPr>
              <a:t>• Is there a measurable “focus zone” distinct from the standard comfort zone?</a:t>
            </a:r>
            <a:endParaRPr lang="en-US" sz="1000" noProof="0" dirty="0"/>
          </a:p>
        </p:txBody>
      </p:sp>
      <p:sp>
        <p:nvSpPr>
          <p:cNvPr id="8" name="Shape 6"/>
          <p:cNvSpPr/>
          <p:nvPr/>
        </p:nvSpPr>
        <p:spPr>
          <a:xfrm>
            <a:off x="4766310" y="1055951"/>
            <a:ext cx="3909060" cy="1006991"/>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110815"/>
            <a:ext cx="41148" cy="933755"/>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138247"/>
            <a:ext cx="3717036" cy="109854"/>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343987"/>
            <a:ext cx="3730752" cy="851365"/>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IEQ practice usually minimizes complaints rather than maximizing cognitive throughput.</a:t>
            </a:r>
            <a:endParaRPr lang="en-US" sz="1000" noProof="0" dirty="0"/>
          </a:p>
          <a:p>
            <a:r>
              <a:rPr lang="en-US" sz="1000" noProof="0" dirty="0">
                <a:solidFill>
                  <a:srgbClr val="4F6177"/>
                </a:solidFill>
                <a:ea typeface="Arial" pitchFamily="34" charset="-122"/>
                <a:cs typeface="Arial" pitchFamily="34" charset="-120"/>
              </a:rPr>
              <a:t>• Light and sound are often treated as constraints, not as tunable performance inputs.</a:t>
            </a:r>
            <a:endParaRPr lang="en-US" sz="1000" noProof="0" dirty="0"/>
          </a:p>
        </p:txBody>
      </p:sp>
      <p:sp>
        <p:nvSpPr>
          <p:cNvPr id="12" name="Shape 10"/>
          <p:cNvSpPr/>
          <p:nvPr/>
        </p:nvSpPr>
        <p:spPr>
          <a:xfrm>
            <a:off x="457200" y="2187362"/>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77774" y="2242226"/>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0644" y="2269658"/>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USEFULNESS / FEASIBILITY</a:t>
            </a:r>
            <a:endParaRPr lang="en-US" sz="1000" noProof="0" dirty="0"/>
          </a:p>
        </p:txBody>
      </p:sp>
      <p:sp>
        <p:nvSpPr>
          <p:cNvPr id="15" name="Text 13"/>
          <p:cNvSpPr/>
          <p:nvPr/>
        </p:nvSpPr>
        <p:spPr>
          <a:xfrm>
            <a:off x="580644" y="2475398"/>
            <a:ext cx="3936492" cy="1275588"/>
          </a:xfrm>
          <a:prstGeom prst="rect">
            <a:avLst/>
          </a:prstGeom>
          <a:noFill/>
          <a:ln/>
        </p:spPr>
        <p:txBody>
          <a:bodyPr wrap="square" lIns="0" tIns="0" rIns="0" bIns="0" rtlCol="0" anchor="t">
            <a:normAutofit/>
          </a:bodyPr>
          <a:lstStyle/>
          <a:p>
            <a:r>
              <a:rPr lang="en-US" sz="1065" noProof="0" dirty="0">
                <a:solidFill>
                  <a:srgbClr val="4F6177"/>
                </a:solidFill>
                <a:ea typeface="Arial" pitchFamily="34" charset="-122"/>
                <a:cs typeface="Arial" pitchFamily="34" charset="-120"/>
              </a:rPr>
              <a:t>• High conceptual value for premium offices, labs, and learning spaces; the framing is novel and commercially relevant.</a:t>
            </a:r>
            <a:endParaRPr lang="en-US" sz="1065" noProof="0" dirty="0"/>
          </a:p>
          <a:p>
            <a:r>
              <a:rPr lang="en-US" sz="1065" noProof="0" dirty="0">
                <a:solidFill>
                  <a:srgbClr val="4F6177"/>
                </a:solidFill>
                <a:ea typeface="Arial" pitchFamily="34" charset="-122"/>
                <a:cs typeface="Arial" pitchFamily="34" charset="-120"/>
              </a:rPr>
              <a:t>• Open-data feasibility is medium: the result would identify promising operating regions, not prove causality.</a:t>
            </a:r>
            <a:endParaRPr lang="en-US" sz="1065" noProof="0" dirty="0"/>
          </a:p>
        </p:txBody>
      </p:sp>
      <p:sp>
        <p:nvSpPr>
          <p:cNvPr id="16" name="Shape 14"/>
          <p:cNvSpPr/>
          <p:nvPr/>
        </p:nvSpPr>
        <p:spPr>
          <a:xfrm>
            <a:off x="4757166" y="2187362"/>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77740" y="2242226"/>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0610" y="2269658"/>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0610" y="2475398"/>
            <a:ext cx="3730752" cy="1110996"/>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Belgian classrooms — illuminance, sound level, and repeated visual, acoustic, and overall IEQ satisfaction votes.</a:t>
            </a:r>
            <a:endParaRPr lang="en-US" sz="1000" noProof="0" dirty="0"/>
          </a:p>
          <a:p>
            <a:r>
              <a:rPr lang="en-US" sz="1000" noProof="0" dirty="0">
                <a:solidFill>
                  <a:srgbClr val="4F6177"/>
                </a:solidFill>
                <a:ea typeface="Arial" pitchFamily="34" charset="-122"/>
                <a:cs typeface="Arial" pitchFamily="34" charset="-120"/>
              </a:rPr>
              <a:t>• En-Gage — engagement, emotion, confidence, noise, physiology, and classroom context; useful for linking comfort-oriented sensory variables to performance-oriented targets.</a:t>
            </a:r>
            <a:endParaRPr lang="en-US" sz="1000" noProof="0" dirty="0"/>
          </a:p>
        </p:txBody>
      </p:sp>
      <p:sp>
        <p:nvSpPr>
          <p:cNvPr id="20" name="Text 18"/>
          <p:cNvSpPr/>
          <p:nvPr/>
        </p:nvSpPr>
        <p:spPr>
          <a:xfrm>
            <a:off x="4880610" y="3545246"/>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Belgian classrooms DOI</a:t>
            </a:r>
            <a:r>
              <a:rPr lang="en-US" sz="765" noProof="0" dirty="0">
                <a:solidFill>
                  <a:srgbClr val="68788F"/>
                </a:solidFill>
                <a:ea typeface="Arial" pitchFamily="34" charset="-122"/>
                <a:cs typeface="Arial" pitchFamily="34" charset="-120"/>
              </a:rPr>
              <a:t>  |  </a:t>
            </a:r>
            <a:r>
              <a:rPr lang="en-US" sz="765"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En-Gage DOI</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56</a:t>
            </a:fld>
            <a:endParaRPr lang="en-US" noProof="0" dirty="0">
              <a:latin typeface="+mn-lt"/>
            </a:endParaRPr>
          </a:p>
        </p:txBody>
      </p:sp>
      <p:sp>
        <p:nvSpPr>
          <p:cNvPr id="21" name="Shape 10">
            <a:extLst>
              <a:ext uri="{FF2B5EF4-FFF2-40B4-BE49-F238E27FC236}">
                <a16:creationId xmlns:a16="http://schemas.microsoft.com/office/drawing/2014/main" id="{F40B622D-86C2-C4E2-ED93-4CB903AAD92F}"/>
              </a:ext>
            </a:extLst>
          </p:cNvPr>
          <p:cNvSpPr/>
          <p:nvPr/>
        </p:nvSpPr>
        <p:spPr>
          <a:xfrm>
            <a:off x="472272" y="3825764"/>
            <a:ext cx="8185953"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531835D9-FFD4-D045-4931-02327CC48B2F}"/>
              </a:ext>
            </a:extLst>
          </p:cNvPr>
          <p:cNvSpPr/>
          <p:nvPr/>
        </p:nvSpPr>
        <p:spPr>
          <a:xfrm>
            <a:off x="466344" y="389387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DF4A7181-225B-41C4-A106-BDFD86862129}"/>
              </a:ext>
            </a:extLst>
          </p:cNvPr>
          <p:cNvSpPr/>
          <p:nvPr/>
        </p:nvSpPr>
        <p:spPr>
          <a:xfrm>
            <a:off x="636864" y="3956029"/>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1E9E40F8-3E8F-C269-E69E-8C5CA664F908}"/>
              </a:ext>
            </a:extLst>
          </p:cNvPr>
          <p:cNvSpPr/>
          <p:nvPr/>
        </p:nvSpPr>
        <p:spPr>
          <a:xfrm>
            <a:off x="641436" y="4129288"/>
            <a:ext cx="7836900" cy="847080"/>
          </a:xfrm>
          <a:prstGeom prst="rect">
            <a:avLst/>
          </a:prstGeom>
          <a:noFill/>
          <a:ln/>
        </p:spPr>
        <p:txBody>
          <a:bodyPr wrap="square" lIns="0" tIns="0" rIns="0" bIns="0" rtlCol="0" anchor="t">
            <a:normAutofit fontScale="92500"/>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Assemble a dataset linking illuminance, acoustic conditions, and contextual variables to engagement, confidence, focus-related proxies, or repeated IEQ perceptions.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baseline models using standard comfort-oriented sensory ranges as the reference condition.</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Fit interaction models that test whether specific light-plus-sound combinations predict better performance-related outcomes than merely acceptable IEQ conditions.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Map the joint response surface for visual and acoustic variables to identify candidate “focus zones.”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the focus-oriented operating region against the standard comfort-neutral region and quantify where they converge or diverge.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7764" y="192024"/>
            <a:ext cx="3291840" cy="171450"/>
          </a:xfrm>
          <a:prstGeom prst="rect">
            <a:avLst/>
          </a:prstGeom>
          <a:noFill/>
          <a:ln/>
        </p:spPr>
        <p:txBody>
          <a:bodyPr wrap="square" lIns="0" tIns="0" rIns="0" bIns="0" rtlCol="0" anchor="ctr"/>
          <a:lstStyle/>
          <a:p>
            <a:r>
              <a:rPr lang="en-US" sz="1350" b="1" noProof="0" dirty="0">
                <a:solidFill>
                  <a:srgbClr val="FFFFFF"/>
                </a:solidFill>
                <a:ea typeface="Arial" pitchFamily="34" charset="-122"/>
                <a:cs typeface="Arial" pitchFamily="34" charset="-120"/>
              </a:rPr>
              <a:t>RESEARCH IDEA #12</a:t>
            </a:r>
            <a:endParaRPr lang="en-US" sz="1350" noProof="0" dirty="0"/>
          </a:p>
        </p:txBody>
      </p:sp>
      <p:sp>
        <p:nvSpPr>
          <p:cNvPr id="3" name="Text 1"/>
          <p:cNvSpPr/>
          <p:nvPr/>
        </p:nvSpPr>
        <p:spPr>
          <a:xfrm>
            <a:off x="492247" y="661797"/>
            <a:ext cx="8161020" cy="480060"/>
          </a:xfrm>
          <a:prstGeom prst="rect">
            <a:avLst/>
          </a:prstGeom>
          <a:noFill/>
          <a:ln/>
        </p:spPr>
        <p:txBody>
          <a:bodyPr wrap="square" lIns="0" tIns="0" rIns="0" bIns="0" rtlCol="0" anchor="ctr"/>
          <a:lstStyle/>
          <a:p>
            <a:r>
              <a:rPr lang="en-US" sz="1650" noProof="0" dirty="0">
                <a:solidFill>
                  <a:srgbClr val="101010"/>
                </a:solidFill>
                <a:ea typeface="Arial" pitchFamily="34" charset="-122"/>
                <a:cs typeface="Arial" pitchFamily="34" charset="-120"/>
              </a:rPr>
              <a:t>Robustness to Missing or Low-Quality Sensor Data: A deployment-focused benchmark</a:t>
            </a:r>
            <a:endParaRPr lang="en-US" sz="1650" noProof="0" dirty="0"/>
          </a:p>
        </p:txBody>
      </p:sp>
      <p:sp>
        <p:nvSpPr>
          <p:cNvPr id="4" name="Shape 2"/>
          <p:cNvSpPr/>
          <p:nvPr/>
        </p:nvSpPr>
        <p:spPr>
          <a:xfrm>
            <a:off x="466344" y="1183005"/>
            <a:ext cx="4114800" cy="960942"/>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5" name="Shape 3"/>
          <p:cNvSpPr/>
          <p:nvPr/>
        </p:nvSpPr>
        <p:spPr>
          <a:xfrm>
            <a:off x="486918" y="1237869"/>
            <a:ext cx="41148" cy="891055"/>
          </a:xfrm>
          <a:prstGeom prst="rect">
            <a:avLst/>
          </a:prstGeom>
          <a:solidFill>
            <a:srgbClr val="D88800"/>
          </a:solidFill>
          <a:ln w="12700">
            <a:solidFill>
              <a:srgbClr val="D88800"/>
            </a:solidFill>
            <a:prstDash val="solid"/>
          </a:ln>
        </p:spPr>
        <p:txBody>
          <a:bodyPr/>
          <a:lstStyle/>
          <a:p>
            <a:endParaRPr lang="en-US" sz="1000" noProof="0" dirty="0"/>
          </a:p>
        </p:txBody>
      </p:sp>
      <p:sp>
        <p:nvSpPr>
          <p:cNvPr id="6" name="Text 4"/>
          <p:cNvSpPr/>
          <p:nvPr/>
        </p:nvSpPr>
        <p:spPr>
          <a:xfrm>
            <a:off x="589788" y="1265301"/>
            <a:ext cx="3922776" cy="104830"/>
          </a:xfrm>
          <a:prstGeom prst="rect">
            <a:avLst/>
          </a:prstGeom>
          <a:noFill/>
          <a:ln/>
        </p:spPr>
        <p:txBody>
          <a:bodyPr wrap="square" lIns="0" tIns="0" rIns="0" bIns="0" rtlCol="0" anchor="ctr"/>
          <a:lstStyle/>
          <a:p>
            <a:r>
              <a:rPr lang="en-US" sz="1000" b="1" noProof="0" dirty="0">
                <a:solidFill>
                  <a:srgbClr val="D88800"/>
                </a:solidFill>
                <a:ea typeface="Arial" pitchFamily="34" charset="-122"/>
                <a:cs typeface="Arial" pitchFamily="34" charset="-120"/>
              </a:rPr>
              <a:t>RESEARCH QUESTION</a:t>
            </a:r>
            <a:endParaRPr lang="en-US" sz="1000" noProof="0" dirty="0"/>
          </a:p>
        </p:txBody>
      </p:sp>
      <p:sp>
        <p:nvSpPr>
          <p:cNvPr id="7" name="Text 5"/>
          <p:cNvSpPr/>
          <p:nvPr/>
        </p:nvSpPr>
        <p:spPr>
          <a:xfrm>
            <a:off x="589788" y="1471041"/>
            <a:ext cx="3936492" cy="812433"/>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Which models remain reliable under realistic missing blocks, bias drift, burst outliers, and stuck sensors?</a:t>
            </a:r>
            <a:endParaRPr lang="en-US" sz="1000" noProof="0" dirty="0"/>
          </a:p>
          <a:p>
            <a:r>
              <a:rPr lang="en-US" sz="1000" noProof="0" dirty="0">
                <a:solidFill>
                  <a:srgbClr val="4F6177"/>
                </a:solidFill>
                <a:ea typeface="Arial" pitchFamily="34" charset="-122"/>
                <a:cs typeface="Arial" pitchFamily="34" charset="-120"/>
              </a:rPr>
              <a:t>• When is simple imputation enough, and when is a mask-aware or uncertainty-aware model required?</a:t>
            </a:r>
            <a:endParaRPr lang="en-US" sz="1000" noProof="0" dirty="0"/>
          </a:p>
        </p:txBody>
      </p:sp>
      <p:sp>
        <p:nvSpPr>
          <p:cNvPr id="8" name="Shape 6"/>
          <p:cNvSpPr/>
          <p:nvPr/>
        </p:nvSpPr>
        <p:spPr>
          <a:xfrm>
            <a:off x="4766310" y="1183005"/>
            <a:ext cx="3909060" cy="960942"/>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9" name="Shape 7"/>
          <p:cNvSpPr/>
          <p:nvPr/>
        </p:nvSpPr>
        <p:spPr>
          <a:xfrm>
            <a:off x="4786884" y="1237869"/>
            <a:ext cx="41148" cy="891055"/>
          </a:xfrm>
          <a:prstGeom prst="rect">
            <a:avLst/>
          </a:prstGeom>
          <a:solidFill>
            <a:srgbClr val="10A07D"/>
          </a:solidFill>
          <a:ln w="12700">
            <a:solidFill>
              <a:srgbClr val="10A07D"/>
            </a:solidFill>
            <a:prstDash val="solid"/>
          </a:ln>
        </p:spPr>
        <p:txBody>
          <a:bodyPr/>
          <a:lstStyle/>
          <a:p>
            <a:endParaRPr lang="en-US" sz="1000" noProof="0" dirty="0"/>
          </a:p>
        </p:txBody>
      </p:sp>
      <p:sp>
        <p:nvSpPr>
          <p:cNvPr id="10" name="Text 8"/>
          <p:cNvSpPr/>
          <p:nvPr/>
        </p:nvSpPr>
        <p:spPr>
          <a:xfrm>
            <a:off x="4889754" y="1265301"/>
            <a:ext cx="3717036" cy="104830"/>
          </a:xfrm>
          <a:prstGeom prst="rect">
            <a:avLst/>
          </a:prstGeom>
          <a:noFill/>
          <a:ln/>
        </p:spPr>
        <p:txBody>
          <a:bodyPr wrap="square" lIns="0" tIns="0" rIns="0" bIns="0" rtlCol="0" anchor="ctr"/>
          <a:lstStyle/>
          <a:p>
            <a:r>
              <a:rPr lang="en-US" sz="1000" b="1" noProof="0" dirty="0">
                <a:solidFill>
                  <a:srgbClr val="10A07D"/>
                </a:solidFill>
                <a:ea typeface="Arial" pitchFamily="34" charset="-122"/>
                <a:cs typeface="Arial" pitchFamily="34" charset="-120"/>
              </a:rPr>
              <a:t>WHAT IS ALREADY KNOWN</a:t>
            </a:r>
            <a:endParaRPr lang="en-US" sz="1000" noProof="0" dirty="0"/>
          </a:p>
        </p:txBody>
      </p:sp>
      <p:sp>
        <p:nvSpPr>
          <p:cNvPr id="11" name="Text 9"/>
          <p:cNvSpPr/>
          <p:nvPr/>
        </p:nvSpPr>
        <p:spPr>
          <a:xfrm>
            <a:off x="4889754" y="1471041"/>
            <a:ext cx="3730752" cy="812433"/>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Many papers train on a clean merged table and do not test post-deployment sensor degradation.</a:t>
            </a:r>
            <a:endParaRPr lang="en-US" sz="1000" noProof="0" dirty="0"/>
          </a:p>
          <a:p>
            <a:r>
              <a:rPr lang="en-US" sz="1000" noProof="0" dirty="0">
                <a:solidFill>
                  <a:srgbClr val="4F6177"/>
                </a:solidFill>
                <a:ea typeface="Arial" pitchFamily="34" charset="-122"/>
                <a:cs typeface="Arial" pitchFamily="34" charset="-120"/>
              </a:rPr>
              <a:t>• Long-term building datasets already contain real missingness, and low-cost IEQ datasets expose likely quality limitations.</a:t>
            </a:r>
            <a:endParaRPr lang="en-US" sz="1000" noProof="0" dirty="0"/>
          </a:p>
        </p:txBody>
      </p:sp>
      <p:sp>
        <p:nvSpPr>
          <p:cNvPr id="12" name="Shape 10"/>
          <p:cNvSpPr/>
          <p:nvPr/>
        </p:nvSpPr>
        <p:spPr>
          <a:xfrm>
            <a:off x="466344" y="2245174"/>
            <a:ext cx="411480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3" name="Shape 11"/>
          <p:cNvSpPr/>
          <p:nvPr/>
        </p:nvSpPr>
        <p:spPr>
          <a:xfrm>
            <a:off x="486918" y="2300038"/>
            <a:ext cx="41148" cy="1399032"/>
          </a:xfrm>
          <a:prstGeom prst="rect">
            <a:avLst/>
          </a:prstGeom>
          <a:solidFill>
            <a:srgbClr val="0A6E8F"/>
          </a:solidFill>
          <a:ln w="12700">
            <a:solidFill>
              <a:srgbClr val="0A6E8F"/>
            </a:solidFill>
            <a:prstDash val="solid"/>
          </a:ln>
        </p:spPr>
        <p:txBody>
          <a:bodyPr/>
          <a:lstStyle/>
          <a:p>
            <a:endParaRPr lang="en-US" sz="1000" noProof="0" dirty="0"/>
          </a:p>
        </p:txBody>
      </p:sp>
      <p:sp>
        <p:nvSpPr>
          <p:cNvPr id="14" name="Text 12"/>
          <p:cNvSpPr/>
          <p:nvPr/>
        </p:nvSpPr>
        <p:spPr>
          <a:xfrm>
            <a:off x="589788" y="2327470"/>
            <a:ext cx="3922776" cy="164592"/>
          </a:xfrm>
          <a:prstGeom prst="rect">
            <a:avLst/>
          </a:prstGeom>
          <a:noFill/>
          <a:ln/>
        </p:spPr>
        <p:txBody>
          <a:bodyPr wrap="square" lIns="0" tIns="0" rIns="0" bIns="0" rtlCol="0" anchor="ctr"/>
          <a:lstStyle/>
          <a:p>
            <a:r>
              <a:rPr lang="en-US" sz="1000" b="1" noProof="0" dirty="0">
                <a:solidFill>
                  <a:srgbClr val="0A6E8F"/>
                </a:solidFill>
                <a:ea typeface="Arial" pitchFamily="34" charset="-122"/>
                <a:cs typeface="Arial" pitchFamily="34" charset="-120"/>
              </a:rPr>
              <a:t>EXPECTED CONTRIBUTION / USE</a:t>
            </a:r>
            <a:endParaRPr lang="en-US" sz="1000" noProof="0" dirty="0"/>
          </a:p>
        </p:txBody>
      </p:sp>
      <p:sp>
        <p:nvSpPr>
          <p:cNvPr id="15" name="Text 13"/>
          <p:cNvSpPr/>
          <p:nvPr/>
        </p:nvSpPr>
        <p:spPr>
          <a:xfrm>
            <a:off x="589788" y="2533210"/>
            <a:ext cx="3936492" cy="1275588"/>
          </a:xfrm>
          <a:prstGeom prst="rect">
            <a:avLst/>
          </a:prstGeom>
          <a:noFill/>
          <a:ln/>
        </p:spPr>
        <p:txBody>
          <a:bodyPr wrap="square" lIns="0" tIns="0" rIns="0" bIns="0" rtlCol="0" anchor="t">
            <a:normAutofit/>
          </a:bodyPr>
          <a:lstStyle/>
          <a:p>
            <a:r>
              <a:rPr lang="en-US" sz="1000" noProof="0" dirty="0">
                <a:solidFill>
                  <a:srgbClr val="4F6177"/>
                </a:solidFill>
                <a:ea typeface="Arial" pitchFamily="34" charset="-122"/>
                <a:cs typeface="Arial" pitchFamily="34" charset="-120"/>
              </a:rPr>
              <a:t>• Benchmark of classical imputation, mask-aware learning, and robustness-aware training under both real and synthetic faults.</a:t>
            </a:r>
            <a:endParaRPr lang="en-US" sz="1000" noProof="0" dirty="0"/>
          </a:p>
          <a:p>
            <a:r>
              <a:rPr lang="en-US" sz="1000" noProof="0" dirty="0">
                <a:solidFill>
                  <a:srgbClr val="4F6177"/>
                </a:solidFill>
                <a:ea typeface="Arial" pitchFamily="34" charset="-122"/>
                <a:cs typeface="Arial" pitchFamily="34" charset="-120"/>
              </a:rPr>
              <a:t>• Strong practical value because it addresses the main failure mode of operational ML in buildings.</a:t>
            </a:r>
            <a:endParaRPr lang="en-US" sz="1000" noProof="0" dirty="0"/>
          </a:p>
        </p:txBody>
      </p:sp>
      <p:sp>
        <p:nvSpPr>
          <p:cNvPr id="16" name="Shape 14"/>
          <p:cNvSpPr/>
          <p:nvPr/>
        </p:nvSpPr>
        <p:spPr>
          <a:xfrm>
            <a:off x="4766310" y="2245174"/>
            <a:ext cx="3909060" cy="1508760"/>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000" noProof="0" dirty="0"/>
          </a:p>
        </p:txBody>
      </p:sp>
      <p:sp>
        <p:nvSpPr>
          <p:cNvPr id="17" name="Shape 15"/>
          <p:cNvSpPr/>
          <p:nvPr/>
        </p:nvSpPr>
        <p:spPr>
          <a:xfrm>
            <a:off x="4786884" y="2300038"/>
            <a:ext cx="41148" cy="1399032"/>
          </a:xfrm>
          <a:prstGeom prst="rect">
            <a:avLst/>
          </a:prstGeom>
          <a:solidFill>
            <a:srgbClr val="374C8A"/>
          </a:solidFill>
          <a:ln w="12700">
            <a:solidFill>
              <a:srgbClr val="374C8A"/>
            </a:solidFill>
            <a:prstDash val="solid"/>
          </a:ln>
        </p:spPr>
        <p:txBody>
          <a:bodyPr/>
          <a:lstStyle/>
          <a:p>
            <a:endParaRPr lang="en-US" sz="1000" noProof="0" dirty="0"/>
          </a:p>
        </p:txBody>
      </p:sp>
      <p:sp>
        <p:nvSpPr>
          <p:cNvPr id="18" name="Text 16"/>
          <p:cNvSpPr/>
          <p:nvPr/>
        </p:nvSpPr>
        <p:spPr>
          <a:xfrm>
            <a:off x="4889754" y="2327470"/>
            <a:ext cx="3717036" cy="164592"/>
          </a:xfrm>
          <a:prstGeom prst="rect">
            <a:avLst/>
          </a:prstGeom>
          <a:noFill/>
          <a:ln/>
        </p:spPr>
        <p:txBody>
          <a:bodyPr wrap="square" lIns="0" tIns="0" rIns="0" bIns="0" rtlCol="0" anchor="ctr"/>
          <a:lstStyle/>
          <a:p>
            <a:r>
              <a:rPr lang="en-US" sz="1000" b="1" noProof="0" dirty="0">
                <a:solidFill>
                  <a:srgbClr val="374C8A"/>
                </a:solidFill>
                <a:ea typeface="Arial" pitchFamily="34" charset="-122"/>
                <a:cs typeface="Arial" pitchFamily="34" charset="-120"/>
              </a:rPr>
              <a:t>DATASET(S) AND KEY VARIABLES</a:t>
            </a:r>
            <a:endParaRPr lang="en-US" sz="1000" noProof="0" dirty="0"/>
          </a:p>
        </p:txBody>
      </p:sp>
      <p:sp>
        <p:nvSpPr>
          <p:cNvPr id="19" name="Text 17"/>
          <p:cNvSpPr/>
          <p:nvPr/>
        </p:nvSpPr>
        <p:spPr>
          <a:xfrm>
            <a:off x="4889754" y="2533210"/>
            <a:ext cx="3730752" cy="1110996"/>
          </a:xfrm>
          <a:prstGeom prst="rect">
            <a:avLst/>
          </a:prstGeom>
          <a:noFill/>
          <a:ln/>
        </p:spPr>
        <p:txBody>
          <a:bodyPr wrap="square" lIns="0" tIns="0" rIns="0" bIns="0" rtlCol="0" anchor="t">
            <a:noAutofit/>
          </a:bodyPr>
          <a:lstStyle/>
          <a:p>
            <a:r>
              <a:rPr lang="en-US" sz="900" noProof="0" dirty="0">
                <a:solidFill>
                  <a:srgbClr val="4F6177"/>
                </a:solidFill>
                <a:ea typeface="Arial" pitchFamily="34" charset="-122"/>
                <a:cs typeface="Arial" pitchFamily="34" charset="-120"/>
              </a:rPr>
              <a:t>• </a:t>
            </a:r>
            <a:r>
              <a:rPr lang="en-US" sz="900" noProof="0" dirty="0" err="1">
                <a:solidFill>
                  <a:srgbClr val="4F6177"/>
                </a:solidFill>
                <a:ea typeface="Arial" pitchFamily="34" charset="-122"/>
                <a:cs typeface="Arial" pitchFamily="34" charset="-120"/>
              </a:rPr>
              <a:t>HouseZero</a:t>
            </a:r>
            <a:r>
              <a:rPr lang="en-US" sz="900" noProof="0" dirty="0">
                <a:solidFill>
                  <a:srgbClr val="4F6177"/>
                </a:solidFill>
                <a:ea typeface="Arial" pitchFamily="34" charset="-122"/>
                <a:cs typeface="Arial" pitchFamily="34" charset="-120"/>
              </a:rPr>
              <a:t> (primary) — 2 years of hourly operation data with documented missing-data percentages; variables include zone temperature, CO₂, RH, energy, and system states.</a:t>
            </a:r>
            <a:endParaRPr lang="en-US" sz="900" noProof="0" dirty="0"/>
          </a:p>
          <a:p>
            <a:r>
              <a:rPr lang="en-US" sz="900" noProof="0" dirty="0">
                <a:solidFill>
                  <a:srgbClr val="4F6177"/>
                </a:solidFill>
                <a:ea typeface="Arial" pitchFamily="34" charset="-122"/>
                <a:cs typeface="Arial" pitchFamily="34" charset="-120"/>
              </a:rPr>
              <a:t>• WFH IEQ (secondary) — 95 work-from-home sites with hourly </a:t>
            </a:r>
            <a:r>
              <a:rPr lang="en-US" sz="900" noProof="0" dirty="0" err="1">
                <a:solidFill>
                  <a:srgbClr val="4F6177"/>
                </a:solidFill>
                <a:ea typeface="Arial" pitchFamily="34" charset="-122"/>
                <a:cs typeface="Arial" pitchFamily="34" charset="-120"/>
              </a:rPr>
              <a:t>Awair</a:t>
            </a:r>
            <a:r>
              <a:rPr lang="en-US" sz="900" noProof="0" dirty="0">
                <a:solidFill>
                  <a:srgbClr val="4F6177"/>
                </a:solidFill>
                <a:ea typeface="Arial" pitchFamily="34" charset="-122"/>
                <a:cs typeface="Arial" pitchFamily="34" charset="-120"/>
              </a:rPr>
              <a:t> Omni measurements: CO₂, TVOC, PM₂.₅, temperature, RH, and sound pressure level.</a:t>
            </a:r>
            <a:endParaRPr lang="en-US" sz="900" noProof="0" dirty="0"/>
          </a:p>
          <a:p>
            <a:r>
              <a:rPr lang="en-US" sz="900" noProof="0" dirty="0">
                <a:solidFill>
                  <a:srgbClr val="4F6177"/>
                </a:solidFill>
                <a:ea typeface="Arial" pitchFamily="34" charset="-122"/>
                <a:cs typeface="Arial" pitchFamily="34" charset="-120"/>
              </a:rPr>
              <a:t>• Combination enables evaluation on both a high-instrumentation building and low-cost indoor sensing data.</a:t>
            </a:r>
            <a:endParaRPr lang="en-US" sz="900" noProof="0" dirty="0"/>
          </a:p>
        </p:txBody>
      </p:sp>
      <p:sp>
        <p:nvSpPr>
          <p:cNvPr id="20" name="Text 18"/>
          <p:cNvSpPr/>
          <p:nvPr/>
        </p:nvSpPr>
        <p:spPr>
          <a:xfrm>
            <a:off x="4889754" y="3603058"/>
            <a:ext cx="3730752" cy="109728"/>
          </a:xfrm>
          <a:prstGeom prst="rect">
            <a:avLst/>
          </a:prstGeom>
          <a:noFill/>
          <a:ln/>
        </p:spPr>
        <p:txBody>
          <a:bodyPr wrap="square" lIns="0" tIns="0" rIns="0" bIns="0" rtlCol="0" anchor="ctr"/>
          <a:lstStyle/>
          <a:p>
            <a:r>
              <a:rPr lang="en-US" sz="765" noProof="0" dirty="0">
                <a:solidFill>
                  <a:srgbClr val="68788F"/>
                </a:solidFill>
                <a:ea typeface="Arial" pitchFamily="34" charset="-122"/>
                <a:cs typeface="Arial" pitchFamily="34" charset="-120"/>
              </a:rPr>
              <a:t>Download: </a:t>
            </a:r>
            <a:r>
              <a:rPr lang="en-US" sz="765" u="sng" noProof="0" dirty="0" err="1">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HouseZero</a:t>
            </a:r>
            <a:r>
              <a:rPr lang="en-US" sz="765" u="sng" noProof="0" dirty="0">
                <a:solidFill>
                  <a:srgbClr val="0563C1"/>
                </a:solidFill>
                <a:ea typeface="Arial" pitchFamily="34" charset="-122"/>
                <a:cs typeface="Arial" pitchFamily="34" charset="-120"/>
                <a:hlinkClick r:id="rId3">
                  <a:extLst>
                    <a:ext uri="{A12FA001-AC4F-418D-AE19-62706E023703}">
                      <ahyp:hlinkClr xmlns:ahyp="http://schemas.microsoft.com/office/drawing/2018/hyperlinkcolor" val="tx"/>
                    </a:ext>
                  </a:extLst>
                </a:hlinkClick>
              </a:rPr>
              <a:t> DOI</a:t>
            </a:r>
            <a:r>
              <a:rPr lang="en-US" sz="765" noProof="0" dirty="0">
                <a:solidFill>
                  <a:srgbClr val="68788F"/>
                </a:solidFill>
                <a:ea typeface="Arial" pitchFamily="34" charset="-122"/>
                <a:cs typeface="Arial" pitchFamily="34" charset="-120"/>
              </a:rPr>
              <a:t>  |  </a:t>
            </a:r>
            <a:r>
              <a:rPr lang="en-US" sz="765" u="sng" noProof="0" dirty="0">
                <a:solidFill>
                  <a:srgbClr val="0563C1"/>
                </a:solidFill>
                <a:ea typeface="Arial" pitchFamily="34" charset="-122"/>
                <a:cs typeface="Arial" pitchFamily="34" charset="-120"/>
                <a:hlinkClick r:id="rId4">
                  <a:extLst>
                    <a:ext uri="{A12FA001-AC4F-418D-AE19-62706E023703}">
                      <ahyp:hlinkClr xmlns:ahyp="http://schemas.microsoft.com/office/drawing/2018/hyperlinkcolor" val="tx"/>
                    </a:ext>
                  </a:extLst>
                </a:hlinkClick>
              </a:rPr>
              <a:t>WFH IEQ DOI</a:t>
            </a:r>
            <a:endParaRPr lang="en-US" sz="765" noProof="0" dirty="0"/>
          </a:p>
        </p:txBody>
      </p:sp>
      <p:sp>
        <p:nvSpPr>
          <p:cNvPr id="25" name="Slide Number Placeholder 0"/>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57</a:t>
            </a:fld>
            <a:endParaRPr lang="en-US" noProof="0" dirty="0">
              <a:latin typeface="+mn-lt"/>
            </a:endParaRPr>
          </a:p>
        </p:txBody>
      </p:sp>
      <p:sp>
        <p:nvSpPr>
          <p:cNvPr id="21" name="Shape 10">
            <a:extLst>
              <a:ext uri="{FF2B5EF4-FFF2-40B4-BE49-F238E27FC236}">
                <a16:creationId xmlns:a16="http://schemas.microsoft.com/office/drawing/2014/main" id="{C328B4D5-3C47-F22B-A99D-46C46FA60075}"/>
              </a:ext>
            </a:extLst>
          </p:cNvPr>
          <p:cNvSpPr/>
          <p:nvPr/>
        </p:nvSpPr>
        <p:spPr>
          <a:xfrm>
            <a:off x="489417" y="3859084"/>
            <a:ext cx="8191881" cy="1150603"/>
          </a:xfrm>
          <a:prstGeom prst="roundRect">
            <a:avLst>
              <a:gd name="adj" fmla="val 2727"/>
            </a:avLst>
          </a:prstGeom>
          <a:solidFill>
            <a:srgbClr val="FFFFFF"/>
          </a:solidFill>
          <a:ln w="12700">
            <a:solidFill>
              <a:srgbClr val="E3E8ED"/>
            </a:solidFill>
            <a:prstDash val="solid"/>
          </a:ln>
          <a:effectLst>
            <a:outerShdw blurRad="19050" dist="12700" dir="2700000" algn="bl" rotWithShape="0">
              <a:srgbClr val="000000">
                <a:alpha val="16000"/>
              </a:srgbClr>
            </a:outerShdw>
          </a:effectLst>
        </p:spPr>
        <p:txBody>
          <a:bodyPr/>
          <a:lstStyle/>
          <a:p>
            <a:endParaRPr lang="en-US" sz="1600" noProof="0" dirty="0"/>
          </a:p>
        </p:txBody>
      </p:sp>
      <p:sp>
        <p:nvSpPr>
          <p:cNvPr id="22" name="Shape 11">
            <a:extLst>
              <a:ext uri="{FF2B5EF4-FFF2-40B4-BE49-F238E27FC236}">
                <a16:creationId xmlns:a16="http://schemas.microsoft.com/office/drawing/2014/main" id="{067EE699-9BE9-CFD2-0E42-B870F20AC10C}"/>
              </a:ext>
            </a:extLst>
          </p:cNvPr>
          <p:cNvSpPr/>
          <p:nvPr/>
        </p:nvSpPr>
        <p:spPr>
          <a:xfrm>
            <a:off x="483489" y="3927195"/>
            <a:ext cx="45719" cy="1066922"/>
          </a:xfrm>
          <a:prstGeom prst="rect">
            <a:avLst/>
          </a:prstGeom>
          <a:solidFill>
            <a:srgbClr val="FF0000"/>
          </a:solidFill>
          <a:ln>
            <a:noFill/>
          </a:ln>
        </p:spPr>
        <p:txBody>
          <a:bodyPr/>
          <a:lstStyle/>
          <a:p>
            <a:endParaRPr lang="en-US" sz="1000" noProof="0" dirty="0">
              <a:solidFill>
                <a:srgbClr val="FF0000"/>
              </a:solidFill>
            </a:endParaRPr>
          </a:p>
        </p:txBody>
      </p:sp>
      <p:sp>
        <p:nvSpPr>
          <p:cNvPr id="23" name="Text 12">
            <a:extLst>
              <a:ext uri="{FF2B5EF4-FFF2-40B4-BE49-F238E27FC236}">
                <a16:creationId xmlns:a16="http://schemas.microsoft.com/office/drawing/2014/main" id="{1EC84781-9CA4-A0B5-B593-AE161E08AAD4}"/>
              </a:ext>
            </a:extLst>
          </p:cNvPr>
          <p:cNvSpPr/>
          <p:nvPr/>
        </p:nvSpPr>
        <p:spPr>
          <a:xfrm>
            <a:off x="654009" y="3989349"/>
            <a:ext cx="7809593" cy="95634"/>
          </a:xfrm>
          <a:prstGeom prst="rect">
            <a:avLst/>
          </a:prstGeom>
          <a:noFill/>
          <a:ln/>
        </p:spPr>
        <p:txBody>
          <a:bodyPr wrap="square" lIns="0" tIns="0" rIns="0" bIns="0" rtlCol="0" anchor="ctr"/>
          <a:lstStyle/>
          <a:p>
            <a:r>
              <a:rPr lang="en-US" sz="1000"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RESEARCH SCHEME</a:t>
            </a:r>
          </a:p>
        </p:txBody>
      </p:sp>
      <p:sp>
        <p:nvSpPr>
          <p:cNvPr id="24" name="Text 13">
            <a:extLst>
              <a:ext uri="{FF2B5EF4-FFF2-40B4-BE49-F238E27FC236}">
                <a16:creationId xmlns:a16="http://schemas.microsoft.com/office/drawing/2014/main" id="{69DBE5DF-9716-BA5B-ACEA-A1F4E352F516}"/>
              </a:ext>
            </a:extLst>
          </p:cNvPr>
          <p:cNvSpPr/>
          <p:nvPr/>
        </p:nvSpPr>
        <p:spPr>
          <a:xfrm>
            <a:off x="658581" y="4162607"/>
            <a:ext cx="7836900" cy="972783"/>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a baseline model on the cleanest available version of the dataset.</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Simulate realistic sensor faults such as missing intervals, random noise, drift, spikes, or biased calibration.</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Re-run the baseline model on progressively degraded inputs to measure performance loss.</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Train robustness-aware variants using augmentation, denoising, imputation, or uncertainty-aware learning.</a:t>
            </a:r>
          </a:p>
          <a:p>
            <a:pPr marL="171450" indent="-171450">
              <a:buFont typeface="Arial" panose="020B0604020202020204" pitchFamily="34" charset="0"/>
              <a:buChar char="•"/>
            </a:pPr>
            <a:r>
              <a:rPr lang="en-US" sz="1000" noProof="0" dirty="0">
                <a:solidFill>
                  <a:srgbClr val="4F6177"/>
                </a:solidFill>
                <a:latin typeface="Calibri" panose="020F0502020204030204" pitchFamily="34" charset="0"/>
                <a:ea typeface="Calibri" panose="020F0502020204030204" pitchFamily="34" charset="0"/>
                <a:cs typeface="Calibri" panose="020F0502020204030204" pitchFamily="34" charset="0"/>
              </a:rPr>
              <a:t>Compare how quickly performance degrades and which strategy best preserves prediction accuracy under poor sensor quality.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24">
            <a:extLst>
              <a:ext uri="{FF2B5EF4-FFF2-40B4-BE49-F238E27FC236}">
                <a16:creationId xmlns:a16="http://schemas.microsoft.com/office/drawing/2014/main" id="{DBD55E9A-97A4-8B86-5119-91DD4F780AAB}"/>
              </a:ext>
            </a:extLst>
          </p:cNvPr>
          <p:cNvSpPr/>
          <p:nvPr/>
        </p:nvSpPr>
        <p:spPr>
          <a:xfrm>
            <a:off x="442661" y="365445"/>
            <a:ext cx="7589520" cy="4502584"/>
          </a:xfrm>
          <a:prstGeom prst="rect">
            <a:avLst/>
          </a:prstGeom>
          <a:noFill/>
          <a:ln/>
        </p:spPr>
        <p:txBody>
          <a:bodyPr wrap="square" lIns="91440" tIns="45720" rIns="91440" bIns="45720" rtlCol="0" anchor="t"/>
          <a:lstStyle/>
          <a:p>
            <a:r>
              <a:rPr lang="en-US" sz="1000" b="1" kern="0" spc="200" noProof="0" dirty="0">
                <a:solidFill>
                  <a:schemeClr val="accent2"/>
                </a:solidFill>
              </a:rPr>
              <a:t>MY IDEAS</a:t>
            </a:r>
            <a:r>
              <a:rPr lang="en-US" sz="1000" b="1" kern="0" spc="200" noProof="0" dirty="0">
                <a:solidFill>
                  <a:srgbClr val="DC2626"/>
                </a:solidFill>
              </a:rPr>
              <a:t>  </a:t>
            </a:r>
          </a:p>
          <a:p>
            <a:r>
              <a:rPr lang="en-US" sz="1000" noProof="0" dirty="0" err="1">
                <a:solidFill>
                  <a:srgbClr val="64748B"/>
                </a:solidFill>
              </a:rPr>
              <a:t>Nahrazení</a:t>
            </a:r>
            <a:r>
              <a:rPr lang="en-US" sz="1000" noProof="0" dirty="0">
                <a:solidFill>
                  <a:srgbClr val="64748B"/>
                </a:solidFill>
              </a:rPr>
              <a:t> </a:t>
            </a:r>
            <a:r>
              <a:rPr lang="en-US" sz="1000" noProof="0" dirty="0" err="1">
                <a:solidFill>
                  <a:srgbClr val="64748B"/>
                </a:solidFill>
              </a:rPr>
              <a:t>vnitřních</a:t>
            </a:r>
            <a:r>
              <a:rPr lang="en-US" sz="1000" noProof="0" dirty="0">
                <a:solidFill>
                  <a:srgbClr val="64748B"/>
                </a:solidFill>
              </a:rPr>
              <a:t> </a:t>
            </a:r>
            <a:r>
              <a:rPr lang="en-US" sz="1000" noProof="0" dirty="0" err="1">
                <a:solidFill>
                  <a:srgbClr val="64748B"/>
                </a:solidFill>
              </a:rPr>
              <a:t>senzorů</a:t>
            </a:r>
            <a:r>
              <a:rPr lang="en-US" sz="1000" noProof="0" dirty="0">
                <a:solidFill>
                  <a:srgbClr val="64748B"/>
                </a:solidFill>
              </a:rPr>
              <a:t> </a:t>
            </a:r>
            <a:r>
              <a:rPr lang="en-US" sz="1000" noProof="0" dirty="0" err="1">
                <a:solidFill>
                  <a:srgbClr val="64748B"/>
                </a:solidFill>
              </a:rPr>
              <a:t>biometrickými</a:t>
            </a:r>
            <a:r>
              <a:rPr lang="en-US" sz="1000" noProof="0" dirty="0">
                <a:solidFill>
                  <a:srgbClr val="64748B"/>
                </a:solidFill>
              </a:rPr>
              <a:t> </a:t>
            </a:r>
            <a:r>
              <a:rPr lang="en-US" sz="1000" noProof="0" dirty="0" err="1">
                <a:solidFill>
                  <a:srgbClr val="64748B"/>
                </a:solidFill>
              </a:rPr>
              <a:t>daty</a:t>
            </a:r>
            <a:r>
              <a:rPr lang="en-US" sz="1000" noProof="0" dirty="0">
                <a:solidFill>
                  <a:srgbClr val="64748B"/>
                </a:solidFill>
              </a:rPr>
              <a:t> z </a:t>
            </a:r>
            <a:r>
              <a:rPr lang="en-US" sz="1000" noProof="0" dirty="0" err="1">
                <a:solidFill>
                  <a:srgbClr val="64748B"/>
                </a:solidFill>
              </a:rPr>
              <a:t>chytrých</a:t>
            </a:r>
            <a:r>
              <a:rPr lang="en-US" sz="1000" noProof="0" dirty="0">
                <a:solidFill>
                  <a:srgbClr val="64748B"/>
                </a:solidFill>
              </a:rPr>
              <a:t> </a:t>
            </a:r>
            <a:r>
              <a:rPr lang="en-US" sz="1000" noProof="0" dirty="0" err="1">
                <a:solidFill>
                  <a:srgbClr val="64748B"/>
                </a:solidFill>
              </a:rPr>
              <a:t>hodinek</a:t>
            </a:r>
            <a:r>
              <a:rPr lang="en-US" sz="1000" noProof="0" dirty="0">
                <a:solidFill>
                  <a:srgbClr val="64748B"/>
                </a:solidFill>
              </a:rPr>
              <a:t> (Idea za </a:t>
            </a:r>
            <a:r>
              <a:rPr lang="en-US" sz="1000" noProof="0" dirty="0" err="1">
                <a:solidFill>
                  <a:srgbClr val="64748B"/>
                </a:solidFill>
              </a:rPr>
              <a:t>tím</a:t>
            </a:r>
            <a:r>
              <a:rPr lang="en-US" sz="1000" noProof="0" dirty="0">
                <a:solidFill>
                  <a:srgbClr val="64748B"/>
                </a:solidFill>
              </a:rPr>
              <a:t> je, </a:t>
            </a:r>
            <a:r>
              <a:rPr lang="en-US" sz="1000" noProof="0" dirty="0" err="1">
                <a:solidFill>
                  <a:srgbClr val="64748B"/>
                </a:solidFill>
              </a:rPr>
              <a:t>že</a:t>
            </a:r>
            <a:r>
              <a:rPr lang="en-US" sz="1000" noProof="0" dirty="0">
                <a:solidFill>
                  <a:srgbClr val="64748B"/>
                </a:solidFill>
              </a:rPr>
              <a:t> se </a:t>
            </a:r>
            <a:r>
              <a:rPr lang="en-US" sz="1000" noProof="0" dirty="0" err="1">
                <a:solidFill>
                  <a:srgbClr val="64748B"/>
                </a:solidFill>
              </a:rPr>
              <a:t>snažíme</a:t>
            </a:r>
            <a:r>
              <a:rPr lang="en-US" sz="1000" noProof="0" dirty="0">
                <a:solidFill>
                  <a:srgbClr val="64748B"/>
                </a:solidFill>
              </a:rPr>
              <a:t> do </a:t>
            </a:r>
            <a:r>
              <a:rPr lang="en-US" sz="1000" noProof="0" dirty="0" err="1">
                <a:solidFill>
                  <a:srgbClr val="64748B"/>
                </a:solidFill>
              </a:rPr>
              <a:t>kanceláří</a:t>
            </a:r>
            <a:r>
              <a:rPr lang="en-US" sz="1000" noProof="0" dirty="0">
                <a:solidFill>
                  <a:srgbClr val="64748B"/>
                </a:solidFill>
              </a:rPr>
              <a:t> </a:t>
            </a:r>
            <a:r>
              <a:rPr lang="en-US" sz="1000" noProof="0" dirty="0" err="1">
                <a:solidFill>
                  <a:srgbClr val="64748B"/>
                </a:solidFill>
              </a:rPr>
              <a:t>dávat</a:t>
            </a:r>
            <a:r>
              <a:rPr lang="en-US" sz="1000" noProof="0" dirty="0">
                <a:solidFill>
                  <a:srgbClr val="64748B"/>
                </a:solidFill>
              </a:rPr>
              <a:t> </a:t>
            </a:r>
            <a:r>
              <a:rPr lang="en-US" sz="1000" noProof="0" dirty="0" err="1">
                <a:solidFill>
                  <a:srgbClr val="64748B"/>
                </a:solidFill>
              </a:rPr>
              <a:t>víc</a:t>
            </a:r>
            <a:r>
              <a:rPr lang="en-US" sz="1000" noProof="0" dirty="0">
                <a:solidFill>
                  <a:srgbClr val="64748B"/>
                </a:solidFill>
              </a:rPr>
              <a:t> a </a:t>
            </a:r>
            <a:r>
              <a:rPr lang="en-US" sz="1000" noProof="0" dirty="0" err="1">
                <a:solidFill>
                  <a:srgbClr val="64748B"/>
                </a:solidFill>
              </a:rPr>
              <a:t>víc</a:t>
            </a:r>
            <a:r>
              <a:rPr lang="en-US" sz="1000" noProof="0" dirty="0">
                <a:solidFill>
                  <a:srgbClr val="64748B"/>
                </a:solidFill>
              </a:rPr>
              <a:t> </a:t>
            </a:r>
            <a:r>
              <a:rPr lang="en-US" sz="1000" noProof="0" dirty="0" err="1">
                <a:solidFill>
                  <a:srgbClr val="64748B"/>
                </a:solidFill>
              </a:rPr>
              <a:t>senzorů</a:t>
            </a:r>
            <a:r>
              <a:rPr lang="en-US" sz="1000" noProof="0" dirty="0">
                <a:solidFill>
                  <a:srgbClr val="64748B"/>
                </a:solidFill>
              </a:rPr>
              <a:t> – </a:t>
            </a:r>
            <a:r>
              <a:rPr lang="en-US" sz="1000" noProof="0" dirty="0" err="1">
                <a:solidFill>
                  <a:srgbClr val="64748B"/>
                </a:solidFill>
              </a:rPr>
              <a:t>teplota</a:t>
            </a:r>
            <a:r>
              <a:rPr lang="en-US" sz="1000" noProof="0" dirty="0">
                <a:solidFill>
                  <a:srgbClr val="64748B"/>
                </a:solidFill>
              </a:rPr>
              <a:t>, HR, VOC, PM2,5, </a:t>
            </a:r>
            <a:r>
              <a:rPr lang="en-US" sz="1000" noProof="0" dirty="0" err="1">
                <a:solidFill>
                  <a:srgbClr val="64748B"/>
                </a:solidFill>
              </a:rPr>
              <a:t>světlo</a:t>
            </a:r>
            <a:r>
              <a:rPr lang="en-US" sz="1000" noProof="0" dirty="0">
                <a:solidFill>
                  <a:srgbClr val="64748B"/>
                </a:solidFill>
              </a:rPr>
              <a:t>, </a:t>
            </a:r>
            <a:r>
              <a:rPr lang="en-US" sz="1000" noProof="0" dirty="0" err="1">
                <a:solidFill>
                  <a:srgbClr val="64748B"/>
                </a:solidFill>
              </a:rPr>
              <a:t>rychlost</a:t>
            </a:r>
            <a:r>
              <a:rPr lang="en-US" sz="1000" noProof="0" dirty="0">
                <a:solidFill>
                  <a:srgbClr val="64748B"/>
                </a:solidFill>
              </a:rPr>
              <a:t> </a:t>
            </a:r>
            <a:r>
              <a:rPr lang="en-US" sz="1000" noProof="0" dirty="0" err="1">
                <a:solidFill>
                  <a:srgbClr val="64748B"/>
                </a:solidFill>
              </a:rPr>
              <a:t>proudění</a:t>
            </a:r>
            <a:r>
              <a:rPr lang="en-US" sz="1000" noProof="0" dirty="0">
                <a:solidFill>
                  <a:srgbClr val="64748B"/>
                </a:solidFill>
              </a:rPr>
              <a:t>,… </a:t>
            </a:r>
            <a:r>
              <a:rPr lang="en-US" sz="1000" noProof="0" dirty="0" err="1">
                <a:solidFill>
                  <a:srgbClr val="64748B"/>
                </a:solidFill>
              </a:rPr>
              <a:t>Všechno</a:t>
            </a:r>
            <a:r>
              <a:rPr lang="en-US" sz="1000" noProof="0" dirty="0">
                <a:solidFill>
                  <a:srgbClr val="64748B"/>
                </a:solidFill>
              </a:rPr>
              <a:t> s </a:t>
            </a:r>
            <a:r>
              <a:rPr lang="en-US" sz="1000" noProof="0" dirty="0" err="1">
                <a:solidFill>
                  <a:srgbClr val="64748B"/>
                </a:solidFill>
              </a:rPr>
              <a:t>jedním</a:t>
            </a:r>
            <a:r>
              <a:rPr lang="en-US" sz="1000" noProof="0" dirty="0">
                <a:solidFill>
                  <a:srgbClr val="64748B"/>
                </a:solidFill>
              </a:rPr>
              <a:t> </a:t>
            </a:r>
            <a:r>
              <a:rPr lang="en-US" sz="1000" noProof="0" dirty="0" err="1">
                <a:solidFill>
                  <a:srgbClr val="64748B"/>
                </a:solidFill>
              </a:rPr>
              <a:t>cílem</a:t>
            </a:r>
            <a:r>
              <a:rPr lang="en-US" sz="1000" noProof="0" dirty="0">
                <a:solidFill>
                  <a:srgbClr val="64748B"/>
                </a:solidFill>
              </a:rPr>
              <a:t> </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udělat</a:t>
            </a:r>
            <a:r>
              <a:rPr lang="en-US" sz="1000" noProof="0" dirty="0">
                <a:solidFill>
                  <a:srgbClr val="64748B"/>
                </a:solidFill>
                <a:sym typeface="Wingdings" panose="05000000000000000000" pitchFamily="2" charset="2"/>
              </a:rPr>
              <a:t> co </a:t>
            </a:r>
            <a:r>
              <a:rPr lang="en-US" sz="1000" noProof="0" dirty="0" err="1">
                <a:solidFill>
                  <a:srgbClr val="64748B"/>
                </a:solidFill>
                <a:sym typeface="Wingdings" panose="05000000000000000000" pitchFamily="2" charset="2"/>
              </a:rPr>
              <a:t>nejlepší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prostředí</a:t>
            </a:r>
            <a:r>
              <a:rPr lang="en-US" sz="1000" noProof="0" dirty="0">
                <a:solidFill>
                  <a:srgbClr val="64748B"/>
                </a:solidFill>
                <a:sym typeface="Wingdings" panose="05000000000000000000" pitchFamily="2" charset="2"/>
              </a:rPr>
              <a:t> pro </a:t>
            </a:r>
            <a:r>
              <a:rPr lang="en-US" sz="1000" noProof="0" dirty="0" err="1">
                <a:solidFill>
                  <a:srgbClr val="64748B"/>
                </a:solidFill>
                <a:sym typeface="Wingdings" panose="05000000000000000000" pitchFamily="2" charset="2"/>
              </a:rPr>
              <a:t>kognitivní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výkon</a:t>
            </a:r>
            <a:r>
              <a:rPr lang="en-US" sz="1000" noProof="0" dirty="0">
                <a:solidFill>
                  <a:srgbClr val="64748B"/>
                </a:solidFill>
                <a:sym typeface="Wingdings" panose="05000000000000000000" pitchFamily="2" charset="2"/>
              </a:rPr>
              <a:t> a </a:t>
            </a:r>
            <a:r>
              <a:rPr lang="en-US" sz="1000" noProof="0" dirty="0" err="1">
                <a:solidFill>
                  <a:srgbClr val="64748B"/>
                </a:solidFill>
                <a:sym typeface="Wingdings" panose="05000000000000000000" pitchFamily="2" charset="2"/>
              </a:rPr>
              <a:t>zdarví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Nešlo</a:t>
            </a:r>
            <a:r>
              <a:rPr lang="en-US" sz="1000" noProof="0" dirty="0">
                <a:solidFill>
                  <a:srgbClr val="64748B"/>
                </a:solidFill>
                <a:sym typeface="Wingdings" panose="05000000000000000000" pitchFamily="2" charset="2"/>
              </a:rPr>
              <a:t> by </a:t>
            </a:r>
            <a:r>
              <a:rPr lang="en-US" sz="1000" noProof="0" dirty="0" err="1">
                <a:solidFill>
                  <a:srgbClr val="64748B"/>
                </a:solidFill>
                <a:sym typeface="Wingdings" panose="05000000000000000000" pitchFamily="2" charset="2"/>
              </a:rPr>
              <a:t>tyhle</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senzory</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nahradit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senzory</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přímo</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na</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lidech</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které</a:t>
            </a:r>
            <a:r>
              <a:rPr lang="en-US" sz="1000" noProof="0" dirty="0">
                <a:solidFill>
                  <a:srgbClr val="64748B"/>
                </a:solidFill>
                <a:sym typeface="Wingdings" panose="05000000000000000000" pitchFamily="2" charset="2"/>
              </a:rPr>
              <a:t> by </a:t>
            </a:r>
            <a:r>
              <a:rPr lang="en-US" sz="1000" noProof="0" dirty="0" err="1">
                <a:solidFill>
                  <a:srgbClr val="64748B"/>
                </a:solidFill>
                <a:sym typeface="Wingdings" panose="05000000000000000000" pitchFamily="2" charset="2"/>
              </a:rPr>
              <a:t>dokázali</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odhadnout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ideální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klima</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podobně</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přesně</a:t>
            </a:r>
            <a:r>
              <a:rPr lang="en-US" sz="1000" noProof="0" dirty="0">
                <a:solidFill>
                  <a:srgbClr val="64748B"/>
                </a:solidFill>
                <a:sym typeface="Wingdings" panose="05000000000000000000" pitchFamily="2" charset="2"/>
              </a:rPr>
              <a:t>, ale </a:t>
            </a:r>
            <a:r>
              <a:rPr lang="en-US" sz="1000" noProof="0" dirty="0" err="1">
                <a:solidFill>
                  <a:srgbClr val="64748B"/>
                </a:solidFill>
                <a:sym typeface="Wingdings" panose="05000000000000000000" pitchFamily="2" charset="2"/>
              </a:rPr>
              <a:t>nebylo</a:t>
            </a:r>
            <a:r>
              <a:rPr lang="en-US" sz="1000" noProof="0" dirty="0">
                <a:solidFill>
                  <a:srgbClr val="64748B"/>
                </a:solidFill>
                <a:sym typeface="Wingdings" panose="05000000000000000000" pitchFamily="2" charset="2"/>
              </a:rPr>
              <a:t> by </a:t>
            </a:r>
            <a:r>
              <a:rPr lang="en-US" sz="1000" noProof="0" dirty="0" err="1">
                <a:solidFill>
                  <a:srgbClr val="64748B"/>
                </a:solidFill>
                <a:sym typeface="Wingdings" panose="05000000000000000000" pitchFamily="2" charset="2"/>
              </a:rPr>
              <a:t>potřeba</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instalovat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všechny</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tyto</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senzory</a:t>
            </a:r>
            <a:r>
              <a:rPr lang="en-US" sz="1000" noProof="0" dirty="0">
                <a:solidFill>
                  <a:srgbClr val="64748B"/>
                </a:solidFill>
                <a:sym typeface="Wingdings" panose="05000000000000000000" pitchFamily="2" charset="2"/>
              </a:rPr>
              <a:t>? V </a:t>
            </a:r>
            <a:r>
              <a:rPr lang="en-US" sz="1000" noProof="0" dirty="0" err="1">
                <a:solidFill>
                  <a:srgbClr val="64748B"/>
                </a:solidFill>
                <a:sym typeface="Wingdings" panose="05000000000000000000" pitchFamily="2" charset="2"/>
              </a:rPr>
              <a:t>budoucnu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stejně</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všichni</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budou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mít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nějaký</a:t>
            </a:r>
            <a:r>
              <a:rPr lang="en-US" sz="1000" noProof="0" dirty="0">
                <a:solidFill>
                  <a:srgbClr val="64748B"/>
                </a:solidFill>
                <a:sym typeface="Wingdings" panose="05000000000000000000" pitchFamily="2" charset="2"/>
              </a:rPr>
              <a:t> wearables.</a:t>
            </a:r>
          </a:p>
          <a:p>
            <a:endParaRPr lang="en-US" sz="1000" noProof="0" dirty="0">
              <a:solidFill>
                <a:srgbClr val="64748B"/>
              </a:solidFill>
              <a:sym typeface="Wingdings" panose="05000000000000000000" pitchFamily="2" charset="2"/>
            </a:endParaRPr>
          </a:p>
          <a:p>
            <a:r>
              <a:rPr lang="en-US" sz="1000" noProof="0" dirty="0" err="1">
                <a:solidFill>
                  <a:srgbClr val="64748B"/>
                </a:solidFill>
                <a:sym typeface="Wingdings" panose="05000000000000000000" pitchFamily="2" charset="2"/>
              </a:rPr>
              <a:t>Často</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nemusí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být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dořešený</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poměr</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mezi</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větráním</a:t>
            </a:r>
            <a:r>
              <a:rPr lang="en-US" sz="1000" noProof="0" dirty="0">
                <a:solidFill>
                  <a:srgbClr val="64748B"/>
                </a:solidFill>
                <a:sym typeface="Wingdings" panose="05000000000000000000" pitchFamily="2" charset="2"/>
              </a:rPr>
              <a:t> pro </a:t>
            </a:r>
            <a:r>
              <a:rPr lang="en-US" sz="1000" noProof="0" dirty="0" err="1">
                <a:solidFill>
                  <a:srgbClr val="64748B"/>
                </a:solidFill>
                <a:sym typeface="Wingdings" panose="05000000000000000000" pitchFamily="2" charset="2"/>
              </a:rPr>
              <a:t>nejvyšší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zdravý</a:t>
            </a:r>
            <a:r>
              <a:rPr lang="en-US" sz="1000" noProof="0" dirty="0">
                <a:solidFill>
                  <a:srgbClr val="64748B"/>
                </a:solidFill>
                <a:sym typeface="Wingdings" panose="05000000000000000000" pitchFamily="2" charset="2"/>
              </a:rPr>
              <a:t> a </a:t>
            </a:r>
            <a:r>
              <a:rPr lang="en-US" sz="1000" noProof="0" dirty="0" err="1">
                <a:solidFill>
                  <a:srgbClr val="64748B"/>
                </a:solidFill>
                <a:sym typeface="Wingdings" panose="05000000000000000000" pitchFamily="2" charset="2"/>
              </a:rPr>
              <a:t>výkon</a:t>
            </a:r>
            <a:r>
              <a:rPr lang="en-US" sz="1000" noProof="0" dirty="0">
                <a:solidFill>
                  <a:srgbClr val="64748B"/>
                </a:solidFill>
                <a:sym typeface="Wingdings" panose="05000000000000000000" pitchFamily="2" charset="2"/>
              </a:rPr>
              <a:t> a </a:t>
            </a:r>
            <a:r>
              <a:rPr lang="en-US" sz="1000" noProof="0" dirty="0" err="1">
                <a:solidFill>
                  <a:srgbClr val="64748B"/>
                </a:solidFill>
                <a:sym typeface="Wingdings" panose="05000000000000000000" pitchFamily="2" charset="2"/>
              </a:rPr>
              <a:t>spotřebou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energie</a:t>
            </a:r>
            <a:endParaRPr lang="en-US" sz="1000" noProof="0" dirty="0">
              <a:solidFill>
                <a:srgbClr val="64748B"/>
              </a:solidFill>
              <a:sym typeface="Wingdings" panose="05000000000000000000" pitchFamily="2" charset="2"/>
            </a:endParaRPr>
          </a:p>
          <a:p>
            <a:endParaRPr lang="en-US" sz="1000" noProof="0" dirty="0">
              <a:solidFill>
                <a:srgbClr val="64748B"/>
              </a:solidFill>
              <a:sym typeface="Wingdings" panose="05000000000000000000" pitchFamily="2" charset="2"/>
            </a:endParaRPr>
          </a:p>
          <a:p>
            <a:r>
              <a:rPr lang="en-US" sz="1000" noProof="0" dirty="0" err="1">
                <a:solidFill>
                  <a:srgbClr val="64748B"/>
                </a:solidFill>
                <a:sym typeface="Wingdings" panose="05000000000000000000" pitchFamily="2" charset="2"/>
              </a:rPr>
              <a:t>Doplňování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syntetických</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dat</a:t>
            </a:r>
            <a:r>
              <a:rPr lang="en-US" sz="1000" noProof="0" dirty="0">
                <a:solidFill>
                  <a:srgbClr val="64748B"/>
                </a:solidFill>
                <a:sym typeface="Wingdings" panose="05000000000000000000" pitchFamily="2" charset="2"/>
              </a:rPr>
              <a:t> pro </a:t>
            </a:r>
            <a:r>
              <a:rPr lang="en-US" sz="1000" noProof="0" dirty="0" err="1">
                <a:solidFill>
                  <a:srgbClr val="64748B"/>
                </a:solidFill>
                <a:sym typeface="Wingdings" panose="05000000000000000000" pitchFamily="2" charset="2"/>
              </a:rPr>
              <a:t>málo</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časté</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případy</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například</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velký</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diskomfort</a:t>
            </a:r>
            <a:r>
              <a:rPr lang="en-US" sz="1000" noProof="0" dirty="0">
                <a:solidFill>
                  <a:srgbClr val="64748B"/>
                </a:solidFill>
                <a:sym typeface="Wingdings" panose="05000000000000000000" pitchFamily="2" charset="2"/>
              </a:rPr>
              <a:t>)</a:t>
            </a:r>
          </a:p>
          <a:p>
            <a:endParaRPr lang="en-US" sz="1000" noProof="0" dirty="0">
              <a:solidFill>
                <a:srgbClr val="64748B"/>
              </a:solidFill>
              <a:sym typeface="Wingdings" panose="05000000000000000000" pitchFamily="2" charset="2"/>
            </a:endParaRPr>
          </a:p>
          <a:p>
            <a:r>
              <a:rPr lang="en-US" sz="1000" noProof="0" dirty="0">
                <a:solidFill>
                  <a:srgbClr val="64748B"/>
                </a:solidFill>
                <a:sym typeface="Wingdings" panose="05000000000000000000" pitchFamily="2" charset="2"/>
              </a:rPr>
              <a:t>While massive computational efforts have successfully mapped the fluid dynamics of COVID-19 transmission via CFD, there remains a distinct lack of actionable, intelligent control systems capable of utilizing this data dynamically. A highly novel, publishable research endeavor would involve the development of a multi-agent Deep Reinforcement Learning (DRL) framework trained to continuously adjust HVAC dampers, fan speeds, and fresh-air intake. The novelty would lie in engineering a complex reward function that simultaneously optimizes against three conflicting variables: real-time grid energy pricing, dynamic individual thermal comfort (driven by a Personal Comfort Model), and transient airborne infection risk (utilizing high-resolution decay tracking as a real-time proxy for viral load dilution).</a:t>
            </a:r>
          </a:p>
          <a:p>
            <a:endParaRPr lang="en-US" sz="1000" noProof="0" dirty="0">
              <a:solidFill>
                <a:srgbClr val="64748B"/>
              </a:solidFill>
              <a:sym typeface="Wingdings" panose="05000000000000000000" pitchFamily="2" charset="2"/>
            </a:endParaRPr>
          </a:p>
          <a:p>
            <a:r>
              <a:rPr lang="en-US" sz="1000" noProof="0" dirty="0">
                <a:solidFill>
                  <a:srgbClr val="64748B"/>
                </a:solidFill>
                <a:sym typeface="Wingdings" panose="05000000000000000000" pitchFamily="2" charset="2"/>
              </a:rPr>
              <a:t>Jak </a:t>
            </a:r>
            <a:r>
              <a:rPr lang="en-US" sz="1000" noProof="0" dirty="0" err="1">
                <a:solidFill>
                  <a:srgbClr val="64748B"/>
                </a:solidFill>
                <a:sym typeface="Wingdings" panose="05000000000000000000" pitchFamily="2" charset="2"/>
              </a:rPr>
              <a:t>můžou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být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biometrická</a:t>
            </a:r>
            <a:r>
              <a:rPr lang="en-US" sz="1000" noProof="0" dirty="0">
                <a:solidFill>
                  <a:srgbClr val="64748B"/>
                </a:solidFill>
                <a:sym typeface="Wingdings" panose="05000000000000000000" pitchFamily="2" charset="2"/>
              </a:rPr>
              <a:t> data </a:t>
            </a:r>
            <a:r>
              <a:rPr lang="en-US" sz="1000" noProof="0" dirty="0" err="1">
                <a:solidFill>
                  <a:srgbClr val="64748B"/>
                </a:solidFill>
                <a:sym typeface="Wingdings" panose="05000000000000000000" pitchFamily="2" charset="2"/>
              </a:rPr>
              <a:t>přínosná</a:t>
            </a:r>
            <a:r>
              <a:rPr lang="en-US" sz="1000" noProof="0" dirty="0">
                <a:solidFill>
                  <a:srgbClr val="64748B"/>
                </a:solidFill>
                <a:sym typeface="Wingdings" panose="05000000000000000000" pitchFamily="2" charset="2"/>
              </a:rPr>
              <a:t> pro </a:t>
            </a:r>
            <a:r>
              <a:rPr lang="en-US" sz="1000" noProof="0" dirty="0" err="1">
                <a:solidFill>
                  <a:srgbClr val="64748B"/>
                </a:solidFill>
                <a:sym typeface="Wingdings" panose="05000000000000000000" pitchFamily="2" charset="2"/>
              </a:rPr>
              <a:t>budovy</a:t>
            </a:r>
            <a:r>
              <a:rPr lang="en-US" sz="1000" noProof="0" dirty="0">
                <a:solidFill>
                  <a:srgbClr val="64748B"/>
                </a:solidFill>
                <a:sym typeface="Wingdings" panose="05000000000000000000" pitchFamily="2" charset="2"/>
              </a:rPr>
              <a:t> a </a:t>
            </a:r>
            <a:r>
              <a:rPr lang="en-US" sz="1000" noProof="0" dirty="0" err="1">
                <a:solidFill>
                  <a:srgbClr val="64748B"/>
                </a:solidFill>
                <a:sym typeface="Wingdings" panose="05000000000000000000" pitchFamily="2" charset="2"/>
              </a:rPr>
              <a:t>vnitřní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prostředí</a:t>
            </a:r>
            <a:r>
              <a:rPr lang="en-US" sz="1000" noProof="0" dirty="0">
                <a:solidFill>
                  <a:srgbClr val="64748B"/>
                </a:solidFill>
                <a:sym typeface="Wingdings" panose="05000000000000000000" pitchFamily="2" charset="2"/>
              </a:rPr>
              <a:t> – co se z </a:t>
            </a:r>
            <a:r>
              <a:rPr lang="en-US" sz="1000" noProof="0" dirty="0" err="1">
                <a:solidFill>
                  <a:srgbClr val="64748B"/>
                </a:solidFill>
                <a:sym typeface="Wingdings" panose="05000000000000000000" pitchFamily="2" charset="2"/>
              </a:rPr>
              <a:t>nich</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dá</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zjistit</a:t>
            </a:r>
            <a:r>
              <a:rPr lang="en-US" sz="1000" noProof="0" dirty="0">
                <a:solidFill>
                  <a:srgbClr val="64748B"/>
                </a:solidFill>
                <a:sym typeface="Wingdings" panose="05000000000000000000" pitchFamily="2" charset="2"/>
              </a:rPr>
              <a:t> a co se </a:t>
            </a:r>
            <a:r>
              <a:rPr lang="en-US" sz="1000" noProof="0" dirty="0" err="1">
                <a:solidFill>
                  <a:srgbClr val="64748B"/>
                </a:solidFill>
                <a:sym typeface="Wingdings" panose="05000000000000000000" pitchFamily="2" charset="2"/>
              </a:rPr>
              <a:t>ještě</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nezjistilo</a:t>
            </a:r>
            <a:r>
              <a:rPr lang="en-US" sz="1000" noProof="0" dirty="0">
                <a:solidFill>
                  <a:srgbClr val="64748B"/>
                </a:solidFill>
                <a:sym typeface="Wingdings" panose="05000000000000000000" pitchFamily="2" charset="2"/>
              </a:rPr>
              <a:t>, ale </a:t>
            </a:r>
            <a:r>
              <a:rPr lang="en-US" sz="1000" noProof="0" dirty="0" err="1">
                <a:solidFill>
                  <a:srgbClr val="64748B"/>
                </a:solidFill>
                <a:sym typeface="Wingdings" panose="05000000000000000000" pitchFamily="2" charset="2"/>
              </a:rPr>
              <a:t>bylo</a:t>
            </a:r>
            <a:r>
              <a:rPr lang="en-US" sz="1000" noProof="0" dirty="0">
                <a:solidFill>
                  <a:srgbClr val="64748B"/>
                </a:solidFill>
                <a:sym typeface="Wingdings" panose="05000000000000000000" pitchFamily="2" charset="2"/>
              </a:rPr>
              <a:t> by </a:t>
            </a:r>
            <a:r>
              <a:rPr lang="en-US" sz="1000" noProof="0" dirty="0" err="1">
                <a:solidFill>
                  <a:srgbClr val="64748B"/>
                </a:solidFill>
                <a:sym typeface="Wingdings" panose="05000000000000000000" pitchFamily="2" charset="2"/>
              </a:rPr>
              <a:t>možné</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zjistit</a:t>
            </a:r>
            <a:r>
              <a:rPr lang="en-US" sz="1000" noProof="0" dirty="0">
                <a:solidFill>
                  <a:srgbClr val="64748B"/>
                </a:solidFill>
                <a:sym typeface="Wingdings" panose="05000000000000000000" pitchFamily="2" charset="2"/>
              </a:rPr>
              <a:t>?</a:t>
            </a:r>
          </a:p>
          <a:p>
            <a:endParaRPr lang="en-US" sz="1000" noProof="0" dirty="0">
              <a:solidFill>
                <a:srgbClr val="64748B"/>
              </a:solidFill>
              <a:sym typeface="Wingdings" panose="05000000000000000000" pitchFamily="2" charset="2"/>
            </a:endParaRPr>
          </a:p>
          <a:p>
            <a:r>
              <a:rPr lang="en-US" sz="1000" noProof="0" dirty="0">
                <a:solidFill>
                  <a:srgbClr val="64748B"/>
                </a:solidFill>
                <a:sym typeface="Wingdings" panose="05000000000000000000" pitchFamily="2" charset="2"/>
              </a:rPr>
              <a:t>Jak </a:t>
            </a:r>
            <a:r>
              <a:rPr lang="en-US" sz="1000" noProof="0" dirty="0" err="1">
                <a:solidFill>
                  <a:srgbClr val="64748B"/>
                </a:solidFill>
                <a:sym typeface="Wingdings" panose="05000000000000000000" pitchFamily="2" charset="2"/>
              </a:rPr>
              <a:t>zlepšit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prostředí</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nad</a:t>
            </a:r>
            <a:r>
              <a:rPr lang="en-US" sz="1000" noProof="0" dirty="0">
                <a:solidFill>
                  <a:srgbClr val="64748B"/>
                </a:solidFill>
                <a:sym typeface="Wingdings" panose="05000000000000000000" pitchFamily="2" charset="2"/>
              </a:rPr>
              <a:t> 100%?</a:t>
            </a:r>
          </a:p>
          <a:p>
            <a:endParaRPr lang="en-US" sz="1000" noProof="0" dirty="0">
              <a:solidFill>
                <a:srgbClr val="64748B"/>
              </a:solidFill>
              <a:sym typeface="Wingdings" panose="05000000000000000000" pitchFamily="2" charset="2"/>
            </a:endParaRPr>
          </a:p>
          <a:p>
            <a:r>
              <a:rPr lang="en-US" sz="1000" noProof="0" dirty="0" err="1">
                <a:solidFill>
                  <a:srgbClr val="64748B"/>
                </a:solidFill>
                <a:sym typeface="Wingdings" panose="05000000000000000000" pitchFamily="2" charset="2"/>
              </a:rPr>
              <a:t>Jestli</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budu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umět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identifikovat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stresový</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telefonát</a:t>
            </a:r>
            <a:r>
              <a:rPr lang="en-US" sz="1000" noProof="0" dirty="0">
                <a:solidFill>
                  <a:srgbClr val="64748B"/>
                </a:solidFill>
                <a:sym typeface="Wingdings" panose="05000000000000000000" pitchFamily="2" charset="2"/>
              </a:rPr>
              <a:t> od </a:t>
            </a:r>
            <a:r>
              <a:rPr lang="en-US" sz="1000" noProof="0" dirty="0" err="1">
                <a:solidFill>
                  <a:srgbClr val="64748B"/>
                </a:solidFill>
                <a:sym typeface="Wingdings" panose="05000000000000000000" pitchFamily="2" charset="2"/>
              </a:rPr>
              <a:t>vysoké</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teploty</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tak</a:t>
            </a:r>
            <a:r>
              <a:rPr lang="en-US" sz="1000" noProof="0" dirty="0">
                <a:solidFill>
                  <a:srgbClr val="64748B"/>
                </a:solidFill>
                <a:sym typeface="Wingdings" panose="05000000000000000000" pitchFamily="2" charset="2"/>
              </a:rPr>
              <a:t> se </a:t>
            </a:r>
            <a:r>
              <a:rPr lang="en-US" sz="1000" noProof="0" dirty="0" err="1">
                <a:solidFill>
                  <a:srgbClr val="64748B"/>
                </a:solidFill>
                <a:sym typeface="Wingdings" panose="05000000000000000000" pitchFamily="2" charset="2"/>
              </a:rPr>
              <a:t>můžu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podívat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na</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moderaci</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tohoto</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stresu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například</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změnou</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teploty</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osvětlení</a:t>
            </a:r>
            <a:r>
              <a:rPr lang="en-US" sz="1000" noProof="0" dirty="0">
                <a:solidFill>
                  <a:srgbClr val="64748B"/>
                </a:solidFill>
                <a:sym typeface="Wingdings" panose="05000000000000000000" pitchFamily="2" charset="2"/>
              </a:rPr>
              <a:t> a </a:t>
            </a:r>
            <a:r>
              <a:rPr lang="en-US" sz="1000" noProof="0" dirty="0" err="1">
                <a:solidFill>
                  <a:srgbClr val="64748B"/>
                </a:solidFill>
                <a:sym typeface="Wingdings" panose="05000000000000000000" pitchFamily="2" charset="2"/>
              </a:rPr>
              <a:t>zmírnit</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tak</a:t>
            </a:r>
            <a:r>
              <a:rPr lang="en-US" sz="1000" noProof="0" dirty="0">
                <a:solidFill>
                  <a:srgbClr val="64748B"/>
                </a:solidFill>
                <a:sym typeface="Wingdings" panose="05000000000000000000" pitchFamily="2" charset="2"/>
              </a:rPr>
              <a:t> </a:t>
            </a:r>
            <a:r>
              <a:rPr lang="en-US" sz="1000" noProof="0" dirty="0" err="1">
                <a:solidFill>
                  <a:srgbClr val="64748B"/>
                </a:solidFill>
                <a:sym typeface="Wingdings" panose="05000000000000000000" pitchFamily="2" charset="2"/>
              </a:rPr>
              <a:t>stres</a:t>
            </a:r>
            <a:r>
              <a:rPr lang="en-US" sz="1000" noProof="0" dirty="0">
                <a:solidFill>
                  <a:srgbClr val="64748B"/>
                </a:solidFill>
                <a:sym typeface="Wingdings" panose="05000000000000000000" pitchFamily="2" charset="2"/>
              </a:rPr>
              <a:t>.</a:t>
            </a:r>
          </a:p>
          <a:p>
            <a:endParaRPr lang="en-US" sz="1000" noProof="0" dirty="0"/>
          </a:p>
        </p:txBody>
      </p:sp>
    </p:spTree>
    <p:extLst>
      <p:ext uri="{BB962C8B-B14F-4D97-AF65-F5344CB8AC3E}">
        <p14:creationId xmlns:p14="http://schemas.microsoft.com/office/powerpoint/2010/main" val="8846756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A0FE2-091A-4688-2F67-FE84CAEEFCD0}"/>
              </a:ext>
            </a:extLst>
          </p:cNvPr>
          <p:cNvSpPr txBox="1"/>
          <p:nvPr/>
        </p:nvSpPr>
        <p:spPr>
          <a:xfrm>
            <a:off x="424308" y="561977"/>
            <a:ext cx="7114558" cy="4493538"/>
          </a:xfrm>
          <a:prstGeom prst="rect">
            <a:avLst/>
          </a:prstGeom>
          <a:noFill/>
        </p:spPr>
        <p:txBody>
          <a:bodyPr wrap="square">
            <a:spAutoFit/>
          </a:bodyPr>
          <a:lstStyle/>
          <a:p>
            <a:pPr>
              <a:buNone/>
            </a:pPr>
            <a:r>
              <a:rPr lang="en-US" sz="1100" b="1" noProof="0" dirty="0"/>
              <a:t>1. Překonání </a:t>
            </a:r>
            <a:r>
              <a:rPr lang="en-US" sz="1100" b="1" noProof="0" dirty="0" err="1"/>
              <a:t>lidské</a:t>
            </a:r>
            <a:r>
              <a:rPr lang="en-US" sz="1100" b="1" noProof="0" dirty="0"/>
              <a:t> interference u </a:t>
            </a:r>
            <a:r>
              <a:rPr lang="en-US" sz="1100" b="1" noProof="0" dirty="0" err="1"/>
              <a:t>měření</a:t>
            </a:r>
            <a:r>
              <a:rPr lang="en-US" sz="1100" b="1" noProof="0" dirty="0"/>
              <a:t> </a:t>
            </a:r>
            <a:r>
              <a:rPr lang="en-US" sz="1100" b="1" noProof="0" dirty="0" err="1"/>
              <a:t>kvality</a:t>
            </a:r>
            <a:r>
              <a:rPr lang="en-US" sz="1100" b="1" noProof="0" dirty="0"/>
              <a:t> </a:t>
            </a:r>
            <a:r>
              <a:rPr lang="en-US" sz="1100" b="1" noProof="0" dirty="0" err="1"/>
              <a:t>vzduchu</a:t>
            </a:r>
            <a:r>
              <a:rPr lang="en-US" sz="1100" b="1" noProof="0" dirty="0"/>
              <a:t> (IAQ)</a:t>
            </a:r>
            <a:endParaRPr lang="en-US" sz="1100" noProof="0" dirty="0"/>
          </a:p>
          <a:p>
            <a:pPr>
              <a:buFont typeface="Arial" panose="020B0604020202020204" pitchFamily="34" charset="0"/>
              <a:buChar char="•"/>
            </a:pPr>
            <a:r>
              <a:rPr lang="en-US" sz="1100" b="1" noProof="0" dirty="0" err="1"/>
              <a:t>Problém</a:t>
            </a:r>
            <a:r>
              <a:rPr lang="en-US" sz="1100" b="1" noProof="0" dirty="0"/>
              <a:t>:</a:t>
            </a:r>
            <a:r>
              <a:rPr lang="en-US" sz="1100" noProof="0" dirty="0"/>
              <a:t> </a:t>
            </a:r>
            <a:r>
              <a:rPr lang="en-US" sz="1100" noProof="0" dirty="0" err="1"/>
              <a:t>Zápěstní</a:t>
            </a:r>
            <a:r>
              <a:rPr lang="en-US" sz="1100" noProof="0" dirty="0"/>
              <a:t> wearables s </a:t>
            </a:r>
            <a:r>
              <a:rPr lang="en-US" sz="1100" noProof="0" dirty="0" err="1"/>
              <a:t>experimentálními</a:t>
            </a:r>
            <a:r>
              <a:rPr lang="en-US" sz="1100" noProof="0" dirty="0"/>
              <a:t> </a:t>
            </a:r>
            <a:r>
              <a:rPr lang="en-US" sz="1100" noProof="0" dirty="0" err="1"/>
              <a:t>senzory</a:t>
            </a:r>
            <a:r>
              <a:rPr lang="en-US" sz="1100" noProof="0" dirty="0"/>
              <a:t> </a:t>
            </a:r>
            <a:r>
              <a:rPr lang="en-US" sz="1100" noProof="0" dirty="0" err="1"/>
              <a:t>nedokážou</a:t>
            </a:r>
            <a:r>
              <a:rPr lang="en-US" sz="1100" noProof="0" dirty="0"/>
              <a:t> </a:t>
            </a:r>
            <a:r>
              <a:rPr lang="en-US" sz="1100" noProof="0" dirty="0" err="1"/>
              <a:t>přesně</a:t>
            </a:r>
            <a:r>
              <a:rPr lang="en-US" sz="1100" noProof="0" dirty="0"/>
              <a:t> </a:t>
            </a:r>
            <a:r>
              <a:rPr lang="en-US" sz="1100" noProof="0" dirty="0" err="1"/>
              <a:t>měřit</a:t>
            </a:r>
            <a:r>
              <a:rPr lang="en-US" sz="1100" noProof="0" dirty="0"/>
              <a:t> CO2 a VOC. </a:t>
            </a:r>
            <a:r>
              <a:rPr lang="en-US" sz="1100" noProof="0" dirty="0" err="1"/>
              <a:t>Měření</a:t>
            </a:r>
            <a:r>
              <a:rPr lang="en-US" sz="1100" noProof="0" dirty="0"/>
              <a:t> je </a:t>
            </a:r>
            <a:r>
              <a:rPr lang="en-US" sz="1100" noProof="0" dirty="0" err="1"/>
              <a:t>kriticky</a:t>
            </a:r>
            <a:r>
              <a:rPr lang="en-US" sz="1100" noProof="0" dirty="0"/>
              <a:t> </a:t>
            </a:r>
            <a:r>
              <a:rPr lang="en-US" sz="1100" noProof="0" dirty="0" err="1"/>
              <a:t>zkresleno</a:t>
            </a:r>
            <a:r>
              <a:rPr lang="en-US" sz="1100" noProof="0" dirty="0"/>
              <a:t> </a:t>
            </a:r>
            <a:r>
              <a:rPr lang="en-US" sz="1100" noProof="0" dirty="0" err="1"/>
              <a:t>fyziologickou</a:t>
            </a:r>
            <a:r>
              <a:rPr lang="en-US" sz="1100" noProof="0" dirty="0"/>
              <a:t> </a:t>
            </a:r>
            <a:r>
              <a:rPr lang="en-US" sz="1100" noProof="0" dirty="0" err="1"/>
              <a:t>interferencí</a:t>
            </a:r>
            <a:r>
              <a:rPr lang="en-US" sz="1100" noProof="0" dirty="0"/>
              <a:t> (pot, </a:t>
            </a:r>
            <a:r>
              <a:rPr lang="en-US" sz="1100" noProof="0" dirty="0" err="1"/>
              <a:t>tělesné</a:t>
            </a:r>
            <a:r>
              <a:rPr lang="en-US" sz="1100" noProof="0" dirty="0"/>
              <a:t> </a:t>
            </a:r>
            <a:r>
              <a:rPr lang="en-US" sz="1100" noProof="0" dirty="0" err="1"/>
              <a:t>teplo</a:t>
            </a:r>
            <a:r>
              <a:rPr lang="en-US" sz="1100" noProof="0" dirty="0"/>
              <a:t> a </a:t>
            </a:r>
            <a:r>
              <a:rPr lang="en-US" sz="1100" noProof="0" dirty="0" err="1"/>
              <a:t>kožní</a:t>
            </a:r>
            <a:r>
              <a:rPr lang="en-US" sz="1100" noProof="0" dirty="0"/>
              <a:t> </a:t>
            </a:r>
            <a:r>
              <a:rPr lang="en-US" sz="1100" noProof="0" dirty="0" err="1"/>
              <a:t>emise</a:t>
            </a:r>
            <a:r>
              <a:rPr lang="en-US" sz="1100" noProof="0" dirty="0"/>
              <a:t> </a:t>
            </a:r>
            <a:r>
              <a:rPr lang="en-US" sz="1100" noProof="0" dirty="0" err="1"/>
              <a:t>degradují</a:t>
            </a:r>
            <a:r>
              <a:rPr lang="en-US" sz="1100" noProof="0" dirty="0"/>
              <a:t> </a:t>
            </a:r>
            <a:r>
              <a:rPr lang="en-US" sz="1100" noProof="0" dirty="0" err="1"/>
              <a:t>přesnost</a:t>
            </a:r>
            <a:r>
              <a:rPr lang="en-US" sz="1100" noProof="0" dirty="0"/>
              <a:t> </a:t>
            </a:r>
            <a:r>
              <a:rPr lang="en-US" sz="1100" noProof="0" dirty="0" err="1"/>
              <a:t>lokálního</a:t>
            </a:r>
            <a:r>
              <a:rPr lang="en-US" sz="1100" noProof="0" dirty="0"/>
              <a:t> </a:t>
            </a:r>
            <a:r>
              <a:rPr lang="en-US" sz="1100" noProof="0" dirty="0" err="1"/>
              <a:t>senzoru</a:t>
            </a:r>
            <a:r>
              <a:rPr lang="en-US" sz="1100" noProof="0" dirty="0"/>
              <a:t>).</a:t>
            </a:r>
          </a:p>
          <a:p>
            <a:pPr>
              <a:buFont typeface="Arial" panose="020B0604020202020204" pitchFamily="34" charset="0"/>
              <a:buChar char="•"/>
            </a:pPr>
            <a:r>
              <a:rPr lang="en-US" sz="1100" b="1" noProof="0" dirty="0" err="1"/>
              <a:t>Cíl</a:t>
            </a:r>
            <a:r>
              <a:rPr lang="en-US" sz="1100" b="1" noProof="0" dirty="0"/>
              <a:t> </a:t>
            </a:r>
            <a:r>
              <a:rPr lang="en-US" sz="1100" b="1" noProof="0" dirty="0" err="1"/>
              <a:t>výzkumu</a:t>
            </a:r>
            <a:r>
              <a:rPr lang="en-US" sz="1100" b="1" noProof="0" dirty="0"/>
              <a:t>:</a:t>
            </a:r>
            <a:r>
              <a:rPr lang="en-US" sz="1100" noProof="0" dirty="0"/>
              <a:t> </a:t>
            </a:r>
            <a:r>
              <a:rPr lang="en-US" sz="1100" noProof="0" dirty="0" err="1"/>
              <a:t>Vývoj</a:t>
            </a:r>
            <a:r>
              <a:rPr lang="en-US" sz="1100" noProof="0" dirty="0"/>
              <a:t> </a:t>
            </a:r>
            <a:r>
              <a:rPr lang="en-US" sz="1100" noProof="0" dirty="0" err="1"/>
              <a:t>fúzního</a:t>
            </a:r>
            <a:r>
              <a:rPr lang="en-US" sz="1100" noProof="0" dirty="0"/>
              <a:t> </a:t>
            </a:r>
            <a:r>
              <a:rPr lang="en-US" sz="1100" noProof="0" dirty="0" err="1"/>
              <a:t>algoritmu</a:t>
            </a:r>
            <a:r>
              <a:rPr lang="en-US" sz="1100" noProof="0" dirty="0"/>
              <a:t>. </a:t>
            </a:r>
            <a:r>
              <a:rPr lang="en-US" sz="1100" noProof="0" dirty="0" err="1"/>
              <a:t>Spojení</a:t>
            </a:r>
            <a:r>
              <a:rPr lang="en-US" sz="1100" noProof="0" dirty="0"/>
              <a:t> </a:t>
            </a:r>
            <a:r>
              <a:rPr lang="en-US" sz="1100" noProof="0" dirty="0" err="1"/>
              <a:t>dat</a:t>
            </a:r>
            <a:r>
              <a:rPr lang="en-US" sz="1100" noProof="0" dirty="0"/>
              <a:t> z 1 </a:t>
            </a:r>
            <a:r>
              <a:rPr lang="en-US" sz="1100" noProof="0" dirty="0" err="1"/>
              <a:t>stacionárního</a:t>
            </a:r>
            <a:r>
              <a:rPr lang="en-US" sz="1100" noProof="0" dirty="0"/>
              <a:t> </a:t>
            </a:r>
            <a:r>
              <a:rPr lang="en-US" sz="1100" noProof="0" dirty="0" err="1"/>
              <a:t>prostorového</a:t>
            </a:r>
            <a:r>
              <a:rPr lang="en-US" sz="1100" noProof="0" dirty="0"/>
              <a:t> </a:t>
            </a:r>
            <a:r>
              <a:rPr lang="en-US" sz="1100" noProof="0" dirty="0" err="1"/>
              <a:t>senzoru</a:t>
            </a:r>
            <a:r>
              <a:rPr lang="en-US" sz="1100" noProof="0" dirty="0"/>
              <a:t> s </a:t>
            </a:r>
            <a:r>
              <a:rPr lang="en-US" sz="1100" noProof="0" dirty="0" err="1"/>
              <a:t>biometrikou</a:t>
            </a:r>
            <a:r>
              <a:rPr lang="en-US" sz="1100" noProof="0" dirty="0"/>
              <a:t> (HRV, SpO2, </a:t>
            </a:r>
            <a:r>
              <a:rPr lang="en-US" sz="1100" noProof="0" dirty="0" err="1"/>
              <a:t>teplota</a:t>
            </a:r>
            <a:r>
              <a:rPr lang="en-US" sz="1100" noProof="0" dirty="0"/>
              <a:t> </a:t>
            </a:r>
            <a:r>
              <a:rPr lang="en-US" sz="1100" noProof="0" dirty="0" err="1"/>
              <a:t>kůže</a:t>
            </a:r>
            <a:r>
              <a:rPr lang="en-US" sz="1100" noProof="0" dirty="0"/>
              <a:t>) z </a:t>
            </a:r>
            <a:r>
              <a:rPr lang="en-US" sz="1100" noProof="0" dirty="0" err="1"/>
              <a:t>hodinek</a:t>
            </a:r>
            <a:r>
              <a:rPr lang="en-US" sz="1100" noProof="0" dirty="0"/>
              <a:t> N </a:t>
            </a:r>
            <a:r>
              <a:rPr lang="en-US" sz="1100" noProof="0" dirty="0" err="1"/>
              <a:t>uživatelů</a:t>
            </a:r>
            <a:r>
              <a:rPr lang="en-US" sz="1100" noProof="0" dirty="0"/>
              <a:t>. </a:t>
            </a:r>
            <a:r>
              <a:rPr lang="en-US" sz="1100" noProof="0" dirty="0" err="1"/>
              <a:t>Cílem</a:t>
            </a:r>
            <a:r>
              <a:rPr lang="en-US" sz="1100" noProof="0" dirty="0"/>
              <a:t> je </a:t>
            </a:r>
            <a:r>
              <a:rPr lang="en-US" sz="1100" noProof="0" dirty="0" err="1"/>
              <a:t>dopočítat</a:t>
            </a:r>
            <a:r>
              <a:rPr lang="en-US" sz="1100" noProof="0" dirty="0"/>
              <a:t> </a:t>
            </a:r>
            <a:r>
              <a:rPr lang="en-US" sz="1100" noProof="0" dirty="0" err="1"/>
              <a:t>distribuci</a:t>
            </a:r>
            <a:r>
              <a:rPr lang="en-US" sz="1100" noProof="0" dirty="0"/>
              <a:t> </a:t>
            </a:r>
            <a:r>
              <a:rPr lang="en-US" sz="1100" noProof="0" dirty="0" err="1"/>
              <a:t>vydýchaného</a:t>
            </a:r>
            <a:r>
              <a:rPr lang="en-US" sz="1100" noProof="0" dirty="0"/>
              <a:t> </a:t>
            </a:r>
            <a:r>
              <a:rPr lang="en-US" sz="1100" noProof="0" dirty="0" err="1"/>
              <a:t>vzduchu</a:t>
            </a:r>
            <a:r>
              <a:rPr lang="en-US" sz="1100" noProof="0" dirty="0"/>
              <a:t> v </a:t>
            </a:r>
            <a:r>
              <a:rPr lang="en-US" sz="1100" noProof="0" dirty="0" err="1"/>
              <a:t>prostoru</a:t>
            </a:r>
            <a:r>
              <a:rPr lang="en-US" sz="1100" noProof="0" dirty="0"/>
              <a:t> bez </a:t>
            </a:r>
            <a:r>
              <a:rPr lang="en-US" sz="1100" noProof="0" dirty="0" err="1"/>
              <a:t>nutnosti</a:t>
            </a:r>
            <a:r>
              <a:rPr lang="en-US" sz="1100" noProof="0" dirty="0"/>
              <a:t> </a:t>
            </a:r>
            <a:r>
              <a:rPr lang="en-US" sz="1100" noProof="0" dirty="0" err="1"/>
              <a:t>instalace</a:t>
            </a:r>
            <a:r>
              <a:rPr lang="en-US" sz="1100" noProof="0" dirty="0"/>
              <a:t> </a:t>
            </a:r>
            <a:r>
              <a:rPr lang="en-US" sz="1100" noProof="0" dirty="0" err="1"/>
              <a:t>husté</a:t>
            </a:r>
            <a:r>
              <a:rPr lang="en-US" sz="1100" noProof="0" dirty="0"/>
              <a:t> </a:t>
            </a:r>
            <a:r>
              <a:rPr lang="en-US" sz="1100" noProof="0" dirty="0" err="1"/>
              <a:t>senzorické</a:t>
            </a:r>
            <a:r>
              <a:rPr lang="en-US" sz="1100" noProof="0" dirty="0"/>
              <a:t> </a:t>
            </a:r>
            <a:r>
              <a:rPr lang="en-US" sz="1100" noProof="0" dirty="0" err="1"/>
              <a:t>sítě</a:t>
            </a:r>
            <a:r>
              <a:rPr lang="en-US" sz="1100" noProof="0" dirty="0"/>
              <a:t>.</a:t>
            </a:r>
          </a:p>
          <a:p>
            <a:pPr>
              <a:buFont typeface="Arial" panose="020B0604020202020204" pitchFamily="34" charset="0"/>
              <a:buChar char="•"/>
            </a:pPr>
            <a:r>
              <a:rPr lang="en-US" sz="1100" i="1" noProof="0" dirty="0" err="1"/>
              <a:t>Zdroj</a:t>
            </a:r>
            <a:r>
              <a:rPr lang="en-US" sz="1100" i="1" noProof="0" dirty="0"/>
              <a:t>: Zhou et al., W-Air: Enabling Personal Air Pollution Monitoring on Wearables.</a:t>
            </a:r>
          </a:p>
          <a:p>
            <a:pPr>
              <a:buFont typeface="Arial" panose="020B0604020202020204" pitchFamily="34" charset="0"/>
              <a:buChar char="•"/>
            </a:pPr>
            <a:endParaRPr lang="en-US" sz="1100" noProof="0" dirty="0"/>
          </a:p>
          <a:p>
            <a:r>
              <a:rPr lang="en-US" sz="1100" b="1" noProof="0" dirty="0"/>
              <a:t>2. </a:t>
            </a:r>
            <a:r>
              <a:rPr lang="en-US" sz="1100" b="1" noProof="0" dirty="0" err="1"/>
              <a:t>Skupinová</a:t>
            </a:r>
            <a:r>
              <a:rPr lang="en-US" sz="1100" b="1" noProof="0" dirty="0"/>
              <a:t> </a:t>
            </a:r>
            <a:r>
              <a:rPr lang="en-US" sz="1100" b="1" noProof="0" dirty="0" err="1"/>
              <a:t>optimalizace</a:t>
            </a:r>
            <a:r>
              <a:rPr lang="en-US" sz="1100" b="1" noProof="0" dirty="0"/>
              <a:t> (Multi-occupant conflict resolution)</a:t>
            </a:r>
            <a:endParaRPr lang="en-US" sz="1100" noProof="0" dirty="0"/>
          </a:p>
          <a:p>
            <a:r>
              <a:rPr lang="en-US" sz="1100" b="1" noProof="0" dirty="0" err="1"/>
              <a:t>Problém</a:t>
            </a:r>
            <a:r>
              <a:rPr lang="en-US" sz="1100" b="1" noProof="0" dirty="0"/>
              <a:t>:</a:t>
            </a:r>
            <a:r>
              <a:rPr lang="en-US" sz="1100" noProof="0" dirty="0"/>
              <a:t> V open-space </a:t>
            </a:r>
            <a:r>
              <a:rPr lang="en-US" sz="1100" noProof="0" dirty="0" err="1"/>
              <a:t>kancelářích</a:t>
            </a:r>
            <a:r>
              <a:rPr lang="en-US" sz="1100" noProof="0" dirty="0"/>
              <a:t> </a:t>
            </a:r>
            <a:r>
              <a:rPr lang="en-US" sz="1100" noProof="0" dirty="0" err="1"/>
              <a:t>generuje</a:t>
            </a:r>
            <a:r>
              <a:rPr lang="en-US" sz="1100" noProof="0" dirty="0"/>
              <a:t> 10–50 </a:t>
            </a:r>
            <a:r>
              <a:rPr lang="en-US" sz="1100" noProof="0" dirty="0" err="1"/>
              <a:t>lidí</a:t>
            </a:r>
            <a:r>
              <a:rPr lang="en-US" sz="1100" noProof="0" dirty="0"/>
              <a:t> </a:t>
            </a:r>
            <a:r>
              <a:rPr lang="en-US" sz="1100" noProof="0" dirty="0" err="1"/>
              <a:t>odlišné</a:t>
            </a:r>
            <a:r>
              <a:rPr lang="en-US" sz="1100" noProof="0" dirty="0"/>
              <a:t> </a:t>
            </a:r>
            <a:r>
              <a:rPr lang="en-US" sz="1100" noProof="0" dirty="0" err="1"/>
              <a:t>biometrické</a:t>
            </a:r>
            <a:r>
              <a:rPr lang="en-US" sz="1100" noProof="0" dirty="0"/>
              <a:t> </a:t>
            </a:r>
            <a:r>
              <a:rPr lang="en-US" sz="1100" noProof="0" dirty="0" err="1"/>
              <a:t>požadavky</a:t>
            </a:r>
            <a:r>
              <a:rPr lang="en-US" sz="1100" noProof="0" dirty="0"/>
              <a:t>. HVAC </a:t>
            </a:r>
            <a:r>
              <a:rPr lang="en-US" sz="1100" noProof="0" dirty="0" err="1"/>
              <a:t>systém</a:t>
            </a:r>
            <a:r>
              <a:rPr lang="en-US" sz="1100" noProof="0" dirty="0"/>
              <a:t> </a:t>
            </a:r>
            <a:r>
              <a:rPr lang="en-US" sz="1100" noProof="0" dirty="0" err="1"/>
              <a:t>neumí</a:t>
            </a:r>
            <a:r>
              <a:rPr lang="en-US" sz="1100" noProof="0" dirty="0"/>
              <a:t> </a:t>
            </a:r>
            <a:r>
              <a:rPr lang="en-US" sz="1100" noProof="0" dirty="0" err="1"/>
              <a:t>efektivně</a:t>
            </a:r>
            <a:r>
              <a:rPr lang="en-US" sz="1100" noProof="0" dirty="0"/>
              <a:t> </a:t>
            </a:r>
            <a:r>
              <a:rPr lang="en-US" sz="1100" noProof="0" dirty="0" err="1"/>
              <a:t>vážit</a:t>
            </a:r>
            <a:r>
              <a:rPr lang="en-US" sz="1100" noProof="0" dirty="0"/>
              <a:t> </a:t>
            </a:r>
            <a:r>
              <a:rPr lang="en-US" sz="1100" noProof="0" dirty="0" err="1"/>
              <a:t>protichůdná</a:t>
            </a:r>
            <a:r>
              <a:rPr lang="en-US" sz="1100" noProof="0" dirty="0"/>
              <a:t> data (</a:t>
            </a:r>
            <a:r>
              <a:rPr lang="en-US" sz="1100" noProof="0" dirty="0" err="1"/>
              <a:t>např</a:t>
            </a:r>
            <a:r>
              <a:rPr lang="en-US" sz="1100" noProof="0" dirty="0"/>
              <a:t>. </a:t>
            </a:r>
            <a:r>
              <a:rPr lang="en-US" sz="1100" noProof="0" dirty="0" err="1"/>
              <a:t>polovina</a:t>
            </a:r>
            <a:r>
              <a:rPr lang="en-US" sz="1100" noProof="0" dirty="0"/>
              <a:t> </a:t>
            </a:r>
            <a:r>
              <a:rPr lang="en-US" sz="1100" noProof="0" dirty="0" err="1"/>
              <a:t>skupiny</a:t>
            </a:r>
            <a:r>
              <a:rPr lang="en-US" sz="1100" noProof="0" dirty="0"/>
              <a:t> </a:t>
            </a:r>
            <a:r>
              <a:rPr lang="en-US" sz="1100" noProof="0" dirty="0" err="1"/>
              <a:t>vykazuje</a:t>
            </a:r>
            <a:r>
              <a:rPr lang="en-US" sz="1100" noProof="0" dirty="0"/>
              <a:t> </a:t>
            </a:r>
            <a:r>
              <a:rPr lang="en-US" sz="1100" noProof="0" dirty="0" err="1"/>
              <a:t>známky</a:t>
            </a:r>
            <a:r>
              <a:rPr lang="en-US" sz="1100" noProof="0" dirty="0"/>
              <a:t> </a:t>
            </a:r>
            <a:r>
              <a:rPr lang="en-US" sz="1100" noProof="0" dirty="0" err="1"/>
              <a:t>tepelného</a:t>
            </a:r>
            <a:r>
              <a:rPr lang="en-US" sz="1100" noProof="0" dirty="0"/>
              <a:t> </a:t>
            </a:r>
            <a:r>
              <a:rPr lang="en-US" sz="1100" noProof="0" dirty="0" err="1"/>
              <a:t>stresu</a:t>
            </a:r>
            <a:r>
              <a:rPr lang="en-US" sz="1100" noProof="0" dirty="0"/>
              <a:t>, </a:t>
            </a:r>
            <a:r>
              <a:rPr lang="en-US" sz="1100" noProof="0" dirty="0" err="1"/>
              <a:t>druhá</a:t>
            </a:r>
            <a:r>
              <a:rPr lang="en-US" sz="1100" noProof="0" dirty="0"/>
              <a:t> </a:t>
            </a:r>
            <a:r>
              <a:rPr lang="en-US" sz="1100" noProof="0" dirty="0" err="1"/>
              <a:t>polovina</a:t>
            </a:r>
            <a:r>
              <a:rPr lang="en-US" sz="1100" noProof="0" dirty="0"/>
              <a:t> je v </a:t>
            </a:r>
            <a:r>
              <a:rPr lang="en-US" sz="1100" noProof="0" dirty="0" err="1"/>
              <a:t>normě</a:t>
            </a:r>
            <a:r>
              <a:rPr lang="en-US" sz="1100" noProof="0" dirty="0"/>
              <a:t>).</a:t>
            </a:r>
          </a:p>
          <a:p>
            <a:r>
              <a:rPr lang="en-US" sz="1100" b="1" noProof="0" dirty="0" err="1"/>
              <a:t>Výzkumný</a:t>
            </a:r>
            <a:r>
              <a:rPr lang="en-US" sz="1100" b="1" noProof="0" dirty="0"/>
              <a:t> </a:t>
            </a:r>
            <a:r>
              <a:rPr lang="en-US" sz="1100" b="1" noProof="0" dirty="0" err="1"/>
              <a:t>prostor</a:t>
            </a:r>
            <a:r>
              <a:rPr lang="en-US" sz="1100" b="1" noProof="0" dirty="0"/>
              <a:t>:</a:t>
            </a:r>
            <a:r>
              <a:rPr lang="en-US" sz="1100" noProof="0" dirty="0"/>
              <a:t> </a:t>
            </a:r>
            <a:r>
              <a:rPr lang="en-US" sz="1100" noProof="0" dirty="0" err="1"/>
              <a:t>Vývoj</a:t>
            </a:r>
            <a:r>
              <a:rPr lang="en-US" sz="1100" noProof="0" dirty="0"/>
              <a:t> </a:t>
            </a:r>
            <a:r>
              <a:rPr lang="en-US" sz="1100" noProof="0" dirty="0" err="1"/>
              <a:t>agregačních</a:t>
            </a:r>
            <a:r>
              <a:rPr lang="en-US" sz="1100" noProof="0" dirty="0"/>
              <a:t> </a:t>
            </a:r>
            <a:r>
              <a:rPr lang="en-US" sz="1100" noProof="0" dirty="0" err="1"/>
              <a:t>funkcí</a:t>
            </a:r>
            <a:r>
              <a:rPr lang="en-US" sz="1100" noProof="0" dirty="0"/>
              <a:t> </a:t>
            </a:r>
            <a:r>
              <a:rPr lang="en-US" sz="1100" noProof="0" dirty="0" err="1"/>
              <a:t>založených</a:t>
            </a:r>
            <a:r>
              <a:rPr lang="en-US" sz="1100" noProof="0" dirty="0"/>
              <a:t> </a:t>
            </a:r>
            <a:r>
              <a:rPr lang="en-US" sz="1100" noProof="0" dirty="0" err="1"/>
              <a:t>na</a:t>
            </a:r>
            <a:r>
              <a:rPr lang="en-US" sz="1100" noProof="0" dirty="0"/>
              <a:t> </a:t>
            </a:r>
            <a:r>
              <a:rPr lang="en-US" sz="1100" noProof="0" dirty="0" err="1"/>
              <a:t>teorii</a:t>
            </a:r>
            <a:r>
              <a:rPr lang="en-US" sz="1100" noProof="0" dirty="0"/>
              <a:t> her (</a:t>
            </a:r>
            <a:r>
              <a:rPr lang="en-US" sz="1100" noProof="0" dirty="0" err="1"/>
              <a:t>Nashova</a:t>
            </a:r>
            <a:r>
              <a:rPr lang="en-US" sz="1100" noProof="0" dirty="0"/>
              <a:t> </a:t>
            </a:r>
            <a:r>
              <a:rPr lang="en-US" sz="1100" noProof="0" dirty="0" err="1"/>
              <a:t>rovnováha</a:t>
            </a:r>
            <a:r>
              <a:rPr lang="en-US" sz="1100" noProof="0" dirty="0"/>
              <a:t>). </a:t>
            </a:r>
            <a:r>
              <a:rPr lang="en-US" sz="1100" noProof="0" dirty="0" err="1"/>
              <a:t>Algoritmus</a:t>
            </a:r>
            <a:r>
              <a:rPr lang="en-US" sz="1100" noProof="0" dirty="0"/>
              <a:t> </a:t>
            </a:r>
            <a:r>
              <a:rPr lang="en-US" sz="1100" noProof="0" dirty="0" err="1"/>
              <a:t>nehledá</a:t>
            </a:r>
            <a:r>
              <a:rPr lang="en-US" sz="1100" noProof="0" dirty="0"/>
              <a:t> </a:t>
            </a:r>
            <a:r>
              <a:rPr lang="en-US" sz="1100" noProof="0" dirty="0" err="1"/>
              <a:t>aritmetický</a:t>
            </a:r>
            <a:r>
              <a:rPr lang="en-US" sz="1100" noProof="0" dirty="0"/>
              <a:t> </a:t>
            </a:r>
            <a:r>
              <a:rPr lang="en-US" sz="1100" noProof="0" dirty="0" err="1"/>
              <a:t>průměr</a:t>
            </a:r>
            <a:r>
              <a:rPr lang="en-US" sz="1100" noProof="0" dirty="0"/>
              <a:t>, ale </a:t>
            </a:r>
            <a:r>
              <a:rPr lang="en-US" sz="1100" noProof="0" dirty="0" err="1"/>
              <a:t>nastavení</a:t>
            </a:r>
            <a:r>
              <a:rPr lang="en-US" sz="1100" noProof="0" dirty="0"/>
              <a:t>, </a:t>
            </a:r>
            <a:r>
              <a:rPr lang="en-US" sz="1100" noProof="0" dirty="0" err="1"/>
              <a:t>které</a:t>
            </a:r>
            <a:r>
              <a:rPr lang="en-US" sz="1100" noProof="0" dirty="0"/>
              <a:t> </a:t>
            </a:r>
            <a:r>
              <a:rPr lang="en-US" sz="1100" noProof="0" dirty="0" err="1"/>
              <a:t>minimalizuje</a:t>
            </a:r>
            <a:r>
              <a:rPr lang="en-US" sz="1100" noProof="0" dirty="0"/>
              <a:t> „</a:t>
            </a:r>
            <a:r>
              <a:rPr lang="en-US" sz="1100" noProof="0" dirty="0" err="1"/>
              <a:t>agregovaný</a:t>
            </a:r>
            <a:r>
              <a:rPr lang="en-US" sz="1100" noProof="0" dirty="0"/>
              <a:t> </a:t>
            </a:r>
            <a:r>
              <a:rPr lang="en-US" sz="1100" noProof="0" dirty="0" err="1"/>
              <a:t>fyziologický</a:t>
            </a:r>
            <a:r>
              <a:rPr lang="en-US" sz="1100" noProof="0" dirty="0"/>
              <a:t> </a:t>
            </a:r>
            <a:r>
              <a:rPr lang="en-US" sz="1100" noProof="0" dirty="0" err="1"/>
              <a:t>stres</a:t>
            </a:r>
            <a:r>
              <a:rPr lang="en-US" sz="1100" noProof="0" dirty="0"/>
              <a:t>“ </a:t>
            </a:r>
            <a:r>
              <a:rPr lang="en-US" sz="1100" noProof="0" dirty="0" err="1"/>
              <a:t>celé</a:t>
            </a:r>
            <a:r>
              <a:rPr lang="en-US" sz="1100" noProof="0" dirty="0"/>
              <a:t> </a:t>
            </a:r>
            <a:r>
              <a:rPr lang="en-US" sz="1100" noProof="0" dirty="0" err="1"/>
              <a:t>skupiny</a:t>
            </a:r>
            <a:r>
              <a:rPr lang="en-US" sz="1100" noProof="0" dirty="0"/>
              <a:t>.</a:t>
            </a:r>
          </a:p>
          <a:p>
            <a:r>
              <a:rPr lang="en-US" sz="1100" b="1" noProof="0" dirty="0" err="1"/>
              <a:t>Metoda</a:t>
            </a:r>
            <a:r>
              <a:rPr lang="en-US" sz="1100" b="1" noProof="0" dirty="0"/>
              <a:t>:</a:t>
            </a:r>
            <a:r>
              <a:rPr lang="en-US" sz="1100" noProof="0" dirty="0"/>
              <a:t> </a:t>
            </a:r>
            <a:r>
              <a:rPr lang="en-US" sz="1100" noProof="0" dirty="0" err="1"/>
              <a:t>Dynamické</a:t>
            </a:r>
            <a:r>
              <a:rPr lang="en-US" sz="1100" noProof="0" dirty="0"/>
              <a:t> </a:t>
            </a:r>
            <a:r>
              <a:rPr lang="en-US" sz="1100" noProof="0" dirty="0" err="1"/>
              <a:t>vážení</a:t>
            </a:r>
            <a:r>
              <a:rPr lang="en-US" sz="1100" noProof="0" dirty="0"/>
              <a:t>. </a:t>
            </a:r>
            <a:r>
              <a:rPr lang="en-US" sz="1100" noProof="0" dirty="0" err="1"/>
              <a:t>Každému</a:t>
            </a:r>
            <a:r>
              <a:rPr lang="en-US" sz="1100" noProof="0" dirty="0"/>
              <a:t> </a:t>
            </a:r>
            <a:r>
              <a:rPr lang="en-US" sz="1100" noProof="0" dirty="0" err="1"/>
              <a:t>uživateli</a:t>
            </a:r>
            <a:r>
              <a:rPr lang="en-US" sz="1100" noProof="0" dirty="0"/>
              <a:t> se </a:t>
            </a:r>
            <a:r>
              <a:rPr lang="en-US" sz="1100" noProof="0" dirty="0" err="1"/>
              <a:t>přiřadí</a:t>
            </a:r>
            <a:r>
              <a:rPr lang="en-US" sz="1100" noProof="0" dirty="0"/>
              <a:t> </a:t>
            </a:r>
            <a:r>
              <a:rPr lang="en-US" sz="1100" noProof="0" dirty="0" err="1"/>
              <a:t>váha</a:t>
            </a:r>
            <a:r>
              <a:rPr lang="en-US" sz="1100" noProof="0" dirty="0"/>
              <a:t> </a:t>
            </a:r>
            <a:r>
              <a:rPr lang="en-US" sz="1100" noProof="0" dirty="0" err="1"/>
              <a:t>podle</a:t>
            </a:r>
            <a:r>
              <a:rPr lang="en-US" sz="1100" noProof="0" dirty="0"/>
              <a:t> </a:t>
            </a:r>
            <a:r>
              <a:rPr lang="en-US" sz="1100" noProof="0" dirty="0" err="1"/>
              <a:t>jeho</a:t>
            </a:r>
            <a:r>
              <a:rPr lang="en-US" sz="1100" noProof="0" dirty="0"/>
              <a:t> </a:t>
            </a:r>
            <a:r>
              <a:rPr lang="en-US" sz="1100" noProof="0" dirty="0" err="1"/>
              <a:t>aktuální</a:t>
            </a:r>
            <a:r>
              <a:rPr lang="en-US" sz="1100" noProof="0" dirty="0"/>
              <a:t> </a:t>
            </a:r>
            <a:r>
              <a:rPr lang="en-US" sz="1100" noProof="0" dirty="0" err="1"/>
              <a:t>metabolické</a:t>
            </a:r>
            <a:r>
              <a:rPr lang="en-US" sz="1100" noProof="0" dirty="0"/>
              <a:t> </a:t>
            </a:r>
            <a:r>
              <a:rPr lang="en-US" sz="1100" noProof="0" dirty="0" err="1"/>
              <a:t>citlivosti</a:t>
            </a:r>
            <a:r>
              <a:rPr lang="en-US" sz="1100" noProof="0" dirty="0"/>
              <a:t> (</a:t>
            </a:r>
            <a:r>
              <a:rPr lang="en-US" sz="1100" noProof="0" dirty="0" err="1"/>
              <a:t>odvozené</a:t>
            </a:r>
            <a:r>
              <a:rPr lang="en-US" sz="1100" noProof="0" dirty="0"/>
              <a:t> z variability </a:t>
            </a:r>
            <a:r>
              <a:rPr lang="en-US" sz="1100" noProof="0" dirty="0" err="1"/>
              <a:t>srdečního</a:t>
            </a:r>
            <a:r>
              <a:rPr lang="en-US" sz="1100" noProof="0" dirty="0"/>
              <a:t> </a:t>
            </a:r>
            <a:r>
              <a:rPr lang="en-US" sz="1100" noProof="0" dirty="0" err="1"/>
              <a:t>tepu</a:t>
            </a:r>
            <a:r>
              <a:rPr lang="en-US" sz="1100" noProof="0" dirty="0"/>
              <a:t> – HRV). </a:t>
            </a:r>
            <a:r>
              <a:rPr lang="en-US" sz="1100" noProof="0" dirty="0" err="1"/>
              <a:t>Prioritu</a:t>
            </a:r>
            <a:r>
              <a:rPr lang="en-US" sz="1100" noProof="0" dirty="0"/>
              <a:t> </a:t>
            </a:r>
            <a:r>
              <a:rPr lang="en-US" sz="1100" noProof="0" dirty="0" err="1"/>
              <a:t>dostává</a:t>
            </a:r>
            <a:r>
              <a:rPr lang="en-US" sz="1100" noProof="0" dirty="0"/>
              <a:t> </a:t>
            </a:r>
            <a:r>
              <a:rPr lang="en-US" sz="1100" noProof="0" dirty="0" err="1"/>
              <a:t>uživatel</a:t>
            </a:r>
            <a:r>
              <a:rPr lang="en-US" sz="1100" noProof="0" dirty="0"/>
              <a:t>, u </a:t>
            </a:r>
            <a:r>
              <a:rPr lang="en-US" sz="1100" noProof="0" dirty="0" err="1"/>
              <a:t>kterého</a:t>
            </a:r>
            <a:r>
              <a:rPr lang="en-US" sz="1100" noProof="0" dirty="0"/>
              <a:t> </a:t>
            </a:r>
            <a:r>
              <a:rPr lang="en-US" sz="1100" noProof="0" dirty="0" err="1"/>
              <a:t>biometrika</a:t>
            </a:r>
            <a:r>
              <a:rPr lang="en-US" sz="1100" noProof="0" dirty="0"/>
              <a:t> </a:t>
            </a:r>
            <a:r>
              <a:rPr lang="en-US" sz="1100" noProof="0" dirty="0" err="1"/>
              <a:t>indikuje</a:t>
            </a:r>
            <a:r>
              <a:rPr lang="en-US" sz="1100" noProof="0" dirty="0"/>
              <a:t> </a:t>
            </a:r>
            <a:r>
              <a:rPr lang="en-US" sz="1100" noProof="0" dirty="0" err="1"/>
              <a:t>nejrychlejší</a:t>
            </a:r>
            <a:r>
              <a:rPr lang="en-US" sz="1100" noProof="0" dirty="0"/>
              <a:t> </a:t>
            </a:r>
            <a:r>
              <a:rPr lang="en-US" sz="1100" noProof="0" dirty="0" err="1"/>
              <a:t>pokles</a:t>
            </a:r>
            <a:r>
              <a:rPr lang="en-US" sz="1100" noProof="0" dirty="0"/>
              <a:t> </a:t>
            </a:r>
            <a:r>
              <a:rPr lang="en-US" sz="1100" noProof="0" dirty="0" err="1"/>
              <a:t>kognitivní</a:t>
            </a:r>
            <a:r>
              <a:rPr lang="en-US" sz="1100" noProof="0" dirty="0"/>
              <a:t> </a:t>
            </a:r>
            <a:r>
              <a:rPr lang="en-US" sz="1100" noProof="0" dirty="0" err="1"/>
              <a:t>kapacity</a:t>
            </a:r>
            <a:r>
              <a:rPr lang="en-US" sz="1100" noProof="0" dirty="0"/>
              <a:t> </a:t>
            </a:r>
            <a:r>
              <a:rPr lang="en-US" sz="1100" noProof="0" dirty="0" err="1"/>
              <a:t>při</a:t>
            </a:r>
            <a:r>
              <a:rPr lang="en-US" sz="1100" noProof="0" dirty="0"/>
              <a:t> </a:t>
            </a:r>
            <a:r>
              <a:rPr lang="en-US" sz="1100" noProof="0" dirty="0" err="1"/>
              <a:t>stávajících</a:t>
            </a:r>
            <a:r>
              <a:rPr lang="en-US" sz="1100" noProof="0" dirty="0"/>
              <a:t> </a:t>
            </a:r>
            <a:r>
              <a:rPr lang="en-US" sz="1100" noProof="0" dirty="0" err="1"/>
              <a:t>podmínkách</a:t>
            </a:r>
            <a:r>
              <a:rPr lang="en-US" sz="1100" noProof="0" dirty="0"/>
              <a:t>.</a:t>
            </a:r>
          </a:p>
          <a:p>
            <a:r>
              <a:rPr lang="en-US" sz="1100" i="1" noProof="0" dirty="0" err="1"/>
              <a:t>Zdroj</a:t>
            </a:r>
            <a:r>
              <a:rPr lang="en-US" sz="1100" i="1" noProof="0" dirty="0"/>
              <a:t>: MDPI (2023), Review of Data-Driven Approaches for HVAC Control in Multi-Occupant Spaces.</a:t>
            </a:r>
            <a:endParaRPr lang="en-US" sz="1100" noProof="0" dirty="0"/>
          </a:p>
          <a:p>
            <a:pPr>
              <a:buFont typeface="Arial" panose="020B0604020202020204" pitchFamily="34" charset="0"/>
              <a:buChar char="•"/>
            </a:pPr>
            <a:endParaRPr lang="en-US" sz="1100" b="1" noProof="0" dirty="0"/>
          </a:p>
          <a:p>
            <a:r>
              <a:rPr lang="en-US" sz="1100" b="1" noProof="0" dirty="0"/>
              <a:t>3. </a:t>
            </a:r>
            <a:r>
              <a:rPr lang="en-US" sz="1100" b="1" noProof="0" dirty="0" err="1"/>
              <a:t>Kompenzace</a:t>
            </a:r>
            <a:r>
              <a:rPr lang="en-US" sz="1100" b="1" noProof="0" dirty="0"/>
              <a:t> </a:t>
            </a:r>
            <a:r>
              <a:rPr lang="en-US" sz="1100" b="1" noProof="0" dirty="0" err="1"/>
              <a:t>fyziologické</a:t>
            </a:r>
            <a:r>
              <a:rPr lang="en-US" sz="1100" b="1" noProof="0" dirty="0"/>
              <a:t> </a:t>
            </a:r>
            <a:r>
              <a:rPr lang="en-US" sz="1100" b="1" noProof="0" dirty="0" err="1"/>
              <a:t>latence</a:t>
            </a:r>
            <a:r>
              <a:rPr lang="en-US" sz="1100" b="1" noProof="0" dirty="0"/>
              <a:t> </a:t>
            </a:r>
            <a:r>
              <a:rPr lang="en-US" sz="1100" b="1" noProof="0" dirty="0" err="1"/>
              <a:t>pomocí</a:t>
            </a:r>
            <a:r>
              <a:rPr lang="en-US" sz="1100" b="1" noProof="0" dirty="0"/>
              <a:t> </a:t>
            </a:r>
            <a:r>
              <a:rPr lang="en-US" sz="1100" b="1" noProof="0" dirty="0" err="1"/>
              <a:t>prediktivního</a:t>
            </a:r>
            <a:r>
              <a:rPr lang="en-US" sz="1100" b="1" noProof="0" dirty="0"/>
              <a:t> </a:t>
            </a:r>
            <a:r>
              <a:rPr lang="en-US" sz="1100" b="1" noProof="0" dirty="0" err="1"/>
              <a:t>řízení</a:t>
            </a:r>
            <a:r>
              <a:rPr lang="en-US" sz="1100" b="1" noProof="0" dirty="0"/>
              <a:t> (MPC)</a:t>
            </a:r>
            <a:endParaRPr lang="en-US" sz="1100" noProof="0" dirty="0"/>
          </a:p>
          <a:p>
            <a:r>
              <a:rPr lang="en-US" sz="1100" b="1" noProof="0" dirty="0" err="1"/>
              <a:t>Problém</a:t>
            </a:r>
            <a:r>
              <a:rPr lang="en-US" sz="1100" b="1" noProof="0" dirty="0"/>
              <a:t>:</a:t>
            </a:r>
            <a:r>
              <a:rPr lang="en-US" sz="1100" noProof="0" dirty="0"/>
              <a:t> </a:t>
            </a:r>
            <a:r>
              <a:rPr lang="en-US" sz="1100" noProof="0" dirty="0" err="1"/>
              <a:t>Lidské</a:t>
            </a:r>
            <a:r>
              <a:rPr lang="en-US" sz="1100" noProof="0" dirty="0"/>
              <a:t> </a:t>
            </a:r>
            <a:r>
              <a:rPr lang="en-US" sz="1100" noProof="0" dirty="0" err="1"/>
              <a:t>tělo</a:t>
            </a:r>
            <a:r>
              <a:rPr lang="en-US" sz="1100" noProof="0" dirty="0"/>
              <a:t> </a:t>
            </a:r>
            <a:r>
              <a:rPr lang="en-US" sz="1100" noProof="0" dirty="0" err="1"/>
              <a:t>vykazuje</a:t>
            </a:r>
            <a:r>
              <a:rPr lang="en-US" sz="1100" noProof="0" dirty="0"/>
              <a:t> </a:t>
            </a:r>
            <a:r>
              <a:rPr lang="en-US" sz="1100" noProof="0" dirty="0" err="1"/>
              <a:t>zpoždění</a:t>
            </a:r>
            <a:r>
              <a:rPr lang="en-US" sz="1100" noProof="0" dirty="0"/>
              <a:t> </a:t>
            </a:r>
            <a:r>
              <a:rPr lang="en-US" sz="1100" noProof="0" dirty="0" err="1"/>
              <a:t>fyziologické</a:t>
            </a:r>
            <a:r>
              <a:rPr lang="en-US" sz="1100" noProof="0" dirty="0"/>
              <a:t> </a:t>
            </a:r>
            <a:r>
              <a:rPr lang="en-US" sz="1100" noProof="0" dirty="0" err="1"/>
              <a:t>reakce</a:t>
            </a:r>
            <a:r>
              <a:rPr lang="en-US" sz="1100" noProof="0" dirty="0"/>
              <a:t> </a:t>
            </a:r>
            <a:r>
              <a:rPr lang="en-US" sz="1100" noProof="0" dirty="0" err="1"/>
              <a:t>na</a:t>
            </a:r>
            <a:r>
              <a:rPr lang="en-US" sz="1100" noProof="0" dirty="0"/>
              <a:t> </a:t>
            </a:r>
            <a:r>
              <a:rPr lang="en-US" sz="1100" noProof="0" dirty="0" err="1"/>
              <a:t>změnu</a:t>
            </a:r>
            <a:r>
              <a:rPr lang="en-US" sz="1100" noProof="0" dirty="0"/>
              <a:t> </a:t>
            </a:r>
            <a:r>
              <a:rPr lang="en-US" sz="1100" noProof="0" dirty="0" err="1"/>
              <a:t>vnitřního</a:t>
            </a:r>
            <a:r>
              <a:rPr lang="en-US" sz="1100" noProof="0" dirty="0"/>
              <a:t> </a:t>
            </a:r>
            <a:r>
              <a:rPr lang="en-US" sz="1100" noProof="0" dirty="0" err="1"/>
              <a:t>prostředí</a:t>
            </a:r>
            <a:r>
              <a:rPr lang="en-US" sz="1100" noProof="0" dirty="0"/>
              <a:t> (20–30 </a:t>
            </a:r>
            <a:r>
              <a:rPr lang="en-US" sz="1100" noProof="0" dirty="0" err="1"/>
              <a:t>minut</a:t>
            </a:r>
            <a:r>
              <a:rPr lang="en-US" sz="1100" noProof="0" dirty="0"/>
              <a:t>). </a:t>
            </a:r>
            <a:r>
              <a:rPr lang="en-US" sz="1100" noProof="0" dirty="0" err="1"/>
              <a:t>Reaktivní</a:t>
            </a:r>
            <a:r>
              <a:rPr lang="en-US" sz="1100" noProof="0" dirty="0"/>
              <a:t> </a:t>
            </a:r>
            <a:r>
              <a:rPr lang="en-US" sz="1100" noProof="0" dirty="0" err="1"/>
              <a:t>řízení</a:t>
            </a:r>
            <a:r>
              <a:rPr lang="en-US" sz="1100" noProof="0" dirty="0"/>
              <a:t> </a:t>
            </a:r>
            <a:r>
              <a:rPr lang="en-US" sz="1100" noProof="0" dirty="0" err="1"/>
              <a:t>výhradně</a:t>
            </a:r>
            <a:r>
              <a:rPr lang="en-US" sz="1100" noProof="0" dirty="0"/>
              <a:t> </a:t>
            </a:r>
            <a:r>
              <a:rPr lang="en-US" sz="1100" noProof="0" dirty="0" err="1"/>
              <a:t>na</a:t>
            </a:r>
            <a:r>
              <a:rPr lang="en-US" sz="1100" noProof="0" dirty="0"/>
              <a:t> </a:t>
            </a:r>
            <a:r>
              <a:rPr lang="en-US" sz="1100" noProof="0" dirty="0" err="1"/>
              <a:t>základě</a:t>
            </a:r>
            <a:r>
              <a:rPr lang="en-US" sz="1100" noProof="0" dirty="0"/>
              <a:t> </a:t>
            </a:r>
            <a:r>
              <a:rPr lang="en-US" sz="1100" noProof="0" dirty="0" err="1"/>
              <a:t>aktuálního</a:t>
            </a:r>
            <a:r>
              <a:rPr lang="en-US" sz="1100" noProof="0" dirty="0"/>
              <a:t> </a:t>
            </a:r>
            <a:r>
              <a:rPr lang="en-US" sz="1100" noProof="0" dirty="0" err="1"/>
              <a:t>biometrického</a:t>
            </a:r>
            <a:r>
              <a:rPr lang="en-US" sz="1100" noProof="0" dirty="0"/>
              <a:t> </a:t>
            </a:r>
            <a:r>
              <a:rPr lang="en-US" sz="1100" noProof="0" dirty="0" err="1"/>
              <a:t>stavu</a:t>
            </a:r>
            <a:r>
              <a:rPr lang="en-US" sz="1100" noProof="0" dirty="0"/>
              <a:t> </a:t>
            </a:r>
            <a:r>
              <a:rPr lang="en-US" sz="1100" noProof="0" dirty="0" err="1"/>
              <a:t>vede</a:t>
            </a:r>
            <a:r>
              <a:rPr lang="en-US" sz="1100" noProof="0" dirty="0"/>
              <a:t> k </a:t>
            </a:r>
            <a:r>
              <a:rPr lang="en-US" sz="1100" noProof="0" dirty="0" err="1"/>
              <a:t>pozdní</a:t>
            </a:r>
            <a:r>
              <a:rPr lang="en-US" sz="1100" noProof="0" dirty="0"/>
              <a:t> </a:t>
            </a:r>
            <a:r>
              <a:rPr lang="en-US" sz="1100" noProof="0" dirty="0" err="1"/>
              <a:t>úpravě</a:t>
            </a:r>
            <a:r>
              <a:rPr lang="en-US" sz="1100" noProof="0" dirty="0"/>
              <a:t> </a:t>
            </a:r>
            <a:r>
              <a:rPr lang="en-US" sz="1100" noProof="0" dirty="0" err="1"/>
              <a:t>klimatu</a:t>
            </a:r>
            <a:r>
              <a:rPr lang="en-US" sz="1100" noProof="0" dirty="0"/>
              <a:t> a </a:t>
            </a:r>
            <a:r>
              <a:rPr lang="en-US" sz="1100" noProof="0" dirty="0" err="1"/>
              <a:t>oscilacím</a:t>
            </a:r>
            <a:r>
              <a:rPr lang="en-US" sz="1100" noProof="0" dirty="0"/>
              <a:t> </a:t>
            </a:r>
            <a:r>
              <a:rPr lang="en-US" sz="1100" noProof="0" dirty="0" err="1"/>
              <a:t>výkonu</a:t>
            </a:r>
            <a:r>
              <a:rPr lang="en-US" sz="1100" noProof="0" dirty="0"/>
              <a:t> HVAC.</a:t>
            </a:r>
          </a:p>
          <a:p>
            <a:r>
              <a:rPr lang="en-US" sz="1100" b="1" noProof="0" dirty="0" err="1"/>
              <a:t>Cíl</a:t>
            </a:r>
            <a:r>
              <a:rPr lang="en-US" sz="1100" b="1" noProof="0" dirty="0"/>
              <a:t> </a:t>
            </a:r>
            <a:r>
              <a:rPr lang="en-US" sz="1100" b="1" noProof="0" dirty="0" err="1"/>
              <a:t>výzkumu</a:t>
            </a:r>
            <a:r>
              <a:rPr lang="en-US" sz="1100" b="1" noProof="0" dirty="0"/>
              <a:t>:</a:t>
            </a:r>
            <a:r>
              <a:rPr lang="en-US" sz="1100" noProof="0" dirty="0"/>
              <a:t> </a:t>
            </a:r>
            <a:r>
              <a:rPr lang="en-US" sz="1100" noProof="0" dirty="0" err="1"/>
              <a:t>Vývoj</a:t>
            </a:r>
            <a:r>
              <a:rPr lang="en-US" sz="1100" noProof="0" dirty="0"/>
              <a:t> </a:t>
            </a:r>
            <a:r>
              <a:rPr lang="en-US" sz="1100" noProof="0" dirty="0" err="1"/>
              <a:t>prediktivních</a:t>
            </a:r>
            <a:r>
              <a:rPr lang="en-US" sz="1100" noProof="0" dirty="0"/>
              <a:t> </a:t>
            </a:r>
            <a:r>
              <a:rPr lang="en-US" sz="1100" noProof="0" dirty="0" err="1"/>
              <a:t>modelů</a:t>
            </a:r>
            <a:r>
              <a:rPr lang="en-US" sz="1100" noProof="0" dirty="0"/>
              <a:t> (</a:t>
            </a:r>
            <a:r>
              <a:rPr lang="en-US" sz="1100" noProof="0" dirty="0" err="1"/>
              <a:t>např</a:t>
            </a:r>
            <a:r>
              <a:rPr lang="en-US" sz="1100" noProof="0" dirty="0"/>
              <a:t>. LSTM </a:t>
            </a:r>
            <a:r>
              <a:rPr lang="en-US" sz="1100" noProof="0" dirty="0" err="1"/>
              <a:t>sítě</a:t>
            </a:r>
            <a:r>
              <a:rPr lang="en-US" sz="1100" noProof="0" dirty="0"/>
              <a:t>) pro </a:t>
            </a:r>
            <a:r>
              <a:rPr lang="en-US" sz="1100" noProof="0" dirty="0" err="1"/>
              <a:t>detekci</a:t>
            </a:r>
            <a:r>
              <a:rPr lang="en-US" sz="1100" noProof="0" dirty="0"/>
              <a:t> </a:t>
            </a:r>
            <a:r>
              <a:rPr lang="en-US" sz="1100" noProof="0" dirty="0" err="1"/>
              <a:t>počáteční</a:t>
            </a:r>
            <a:r>
              <a:rPr lang="en-US" sz="1100" noProof="0" dirty="0"/>
              <a:t> </a:t>
            </a:r>
            <a:r>
              <a:rPr lang="en-US" sz="1100" noProof="0" dirty="0" err="1"/>
              <a:t>derivace</a:t>
            </a:r>
            <a:r>
              <a:rPr lang="en-US" sz="1100" noProof="0" dirty="0"/>
              <a:t> </a:t>
            </a:r>
            <a:r>
              <a:rPr lang="en-US" sz="1100" noProof="0" dirty="0" err="1"/>
              <a:t>biometrických</a:t>
            </a:r>
            <a:r>
              <a:rPr lang="en-US" sz="1100" noProof="0" dirty="0"/>
              <a:t> </a:t>
            </a:r>
            <a:r>
              <a:rPr lang="en-US" sz="1100" noProof="0" dirty="0" err="1"/>
              <a:t>signálů</a:t>
            </a:r>
            <a:r>
              <a:rPr lang="en-US" sz="1100" noProof="0" dirty="0"/>
              <a:t> (gradient </a:t>
            </a:r>
            <a:r>
              <a:rPr lang="en-US" sz="1100" noProof="0" dirty="0" err="1"/>
              <a:t>teploty</a:t>
            </a:r>
            <a:r>
              <a:rPr lang="en-US" sz="1100" noProof="0" dirty="0"/>
              <a:t> </a:t>
            </a:r>
            <a:r>
              <a:rPr lang="en-US" sz="1100" noProof="0" dirty="0" err="1"/>
              <a:t>kůže</a:t>
            </a:r>
            <a:r>
              <a:rPr lang="en-US" sz="1100" noProof="0" dirty="0"/>
              <a:t> o 0,1 °C/min, </a:t>
            </a:r>
            <a:r>
              <a:rPr lang="en-US" sz="1100" noProof="0" dirty="0" err="1"/>
              <a:t>počáteční</a:t>
            </a:r>
            <a:r>
              <a:rPr lang="en-US" sz="1100" noProof="0" dirty="0"/>
              <a:t> trend </a:t>
            </a:r>
            <a:r>
              <a:rPr lang="en-US" sz="1100" noProof="0" dirty="0" err="1"/>
              <a:t>zkracování</a:t>
            </a:r>
            <a:r>
              <a:rPr lang="en-US" sz="1100" noProof="0" dirty="0"/>
              <a:t> R-R </a:t>
            </a:r>
            <a:r>
              <a:rPr lang="en-US" sz="1100" noProof="0" dirty="0" err="1"/>
              <a:t>intervalů</a:t>
            </a:r>
            <a:r>
              <a:rPr lang="en-US" sz="1100" noProof="0" dirty="0"/>
              <a:t> v EKG). </a:t>
            </a:r>
            <a:r>
              <a:rPr lang="en-US" sz="1100" noProof="0" dirty="0" err="1"/>
              <a:t>Cílem</a:t>
            </a:r>
            <a:r>
              <a:rPr lang="en-US" sz="1100" noProof="0" dirty="0"/>
              <a:t> je </a:t>
            </a:r>
            <a:r>
              <a:rPr lang="en-US" sz="1100" noProof="0" dirty="0" err="1"/>
              <a:t>aktivace</a:t>
            </a:r>
            <a:r>
              <a:rPr lang="en-US" sz="1100" noProof="0" dirty="0"/>
              <a:t> HVAC </a:t>
            </a:r>
            <a:r>
              <a:rPr lang="en-US" sz="1100" noProof="0" dirty="0" err="1"/>
              <a:t>systému</a:t>
            </a:r>
            <a:r>
              <a:rPr lang="en-US" sz="1100" noProof="0" dirty="0"/>
              <a:t> s </a:t>
            </a:r>
            <a:r>
              <a:rPr lang="en-US" sz="1100" noProof="0" dirty="0" err="1"/>
              <a:t>předstihem</a:t>
            </a:r>
            <a:r>
              <a:rPr lang="en-US" sz="1100" noProof="0" dirty="0"/>
              <a:t> </a:t>
            </a:r>
            <a:r>
              <a:rPr lang="en-US" sz="1100" noProof="0" dirty="0" err="1"/>
              <a:t>před</a:t>
            </a:r>
            <a:r>
              <a:rPr lang="en-US" sz="1100" noProof="0" dirty="0"/>
              <a:t> </a:t>
            </a:r>
            <a:r>
              <a:rPr lang="en-US" sz="1100" noProof="0" dirty="0" err="1"/>
              <a:t>dosažením</a:t>
            </a:r>
            <a:r>
              <a:rPr lang="en-US" sz="1100" noProof="0" dirty="0"/>
              <a:t> </a:t>
            </a:r>
            <a:r>
              <a:rPr lang="en-US" sz="1100" noProof="0" dirty="0" err="1"/>
              <a:t>kognitivního</a:t>
            </a:r>
            <a:r>
              <a:rPr lang="en-US" sz="1100" noProof="0" dirty="0"/>
              <a:t> </a:t>
            </a:r>
            <a:r>
              <a:rPr lang="en-US" sz="1100" noProof="0" dirty="0" err="1"/>
              <a:t>diskomfortu</a:t>
            </a:r>
            <a:r>
              <a:rPr lang="en-US" sz="1100" noProof="0" dirty="0"/>
              <a:t>.</a:t>
            </a:r>
          </a:p>
          <a:p>
            <a:r>
              <a:rPr lang="en-US" sz="1100" i="1" noProof="0" dirty="0" err="1"/>
              <a:t>Zdroj</a:t>
            </a:r>
            <a:r>
              <a:rPr lang="en-US" sz="1100" i="1" noProof="0" dirty="0"/>
              <a:t>: Building and Environment (2024), Predictive HVAC control using wearable </a:t>
            </a:r>
            <a:r>
              <a:rPr lang="en-US" sz="1100" i="1" noProof="0" dirty="0" err="1"/>
              <a:t>thermophysiological</a:t>
            </a:r>
            <a:r>
              <a:rPr lang="en-US" sz="1100" i="1" noProof="0" dirty="0"/>
              <a:t> data.</a:t>
            </a:r>
            <a:endParaRPr lang="en-US" sz="1100" noProof="0" dirty="0"/>
          </a:p>
          <a:p>
            <a:pPr>
              <a:buFont typeface="Arial" panose="020B0604020202020204" pitchFamily="34" charset="0"/>
              <a:buChar char="•"/>
            </a:pPr>
            <a:endParaRPr lang="en-US" sz="1100" noProof="0" dirty="0"/>
          </a:p>
        </p:txBody>
      </p:sp>
    </p:spTree>
    <p:extLst>
      <p:ext uri="{BB962C8B-B14F-4D97-AF65-F5344CB8AC3E}">
        <p14:creationId xmlns:p14="http://schemas.microsoft.com/office/powerpoint/2010/main" val="20054428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6724F52F-4453-33C3-F383-50FD21C3F12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9DC019-4176-9AEA-0316-892F96953DF6}"/>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0AD51BCB-1AF4-7A72-0020-EF1B2281B871}"/>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CDD05D71-F9E7-D2E1-E930-74D1BF8A3B4B}"/>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Datasets</a:t>
            </a:r>
            <a:endParaRPr lang="en-US" sz="3600" noProof="0" dirty="0"/>
          </a:p>
        </p:txBody>
      </p:sp>
      <p:sp>
        <p:nvSpPr>
          <p:cNvPr id="5" name="Text 3">
            <a:extLst>
              <a:ext uri="{FF2B5EF4-FFF2-40B4-BE49-F238E27FC236}">
                <a16:creationId xmlns:a16="http://schemas.microsoft.com/office/drawing/2014/main" id="{901CA987-5D1B-8497-02CC-3A9E0B18E635}"/>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7767AA7A-7FB9-9E69-4ADD-9C93125F962F}"/>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A71761C1-20DD-CF57-807E-98F849EC3BFD}"/>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1516327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63DB58B7-5472-940D-46C6-D58C187AD0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877A44-AC47-9B54-EFF8-6BEFE9F88F01}"/>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645FB020-C490-3AC7-04B1-EC52B01897DE}"/>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9C6420E5-6D7B-3E20-D10B-9799DC702963}"/>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IAQ, Thermal comfort, visual, </a:t>
            </a:r>
            <a:r>
              <a:rPr lang="en-US" sz="3600" b="1" noProof="0" dirty="0" err="1">
                <a:solidFill>
                  <a:srgbClr val="FFFFFF"/>
                </a:solidFill>
                <a:latin typeface="Trebuchet MS" pitchFamily="34" charset="0"/>
              </a:rPr>
              <a:t>acustics</a:t>
            </a:r>
            <a:endParaRPr lang="en-US" sz="3600" noProof="0" dirty="0"/>
          </a:p>
        </p:txBody>
      </p:sp>
      <p:sp>
        <p:nvSpPr>
          <p:cNvPr id="5" name="Text 3">
            <a:extLst>
              <a:ext uri="{FF2B5EF4-FFF2-40B4-BE49-F238E27FC236}">
                <a16:creationId xmlns:a16="http://schemas.microsoft.com/office/drawing/2014/main" id="{815BECAD-5CCD-324D-A524-22144F5FDE01}"/>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2DE5A457-1763-8C87-D087-30E2CD99B41E}"/>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A16B4CBF-9CC9-E3F5-281D-625F16D1D1C9}"/>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153300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88BDE-54D9-27FD-109B-238F736419B8}"/>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8FFC8AD2-90AA-ECA1-BB57-63C98AA88B9D}"/>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62</a:t>
            </a:fld>
            <a:endParaRPr lang="en-US" noProof="0" dirty="0">
              <a:latin typeface="+mn-lt"/>
            </a:endParaRPr>
          </a:p>
        </p:txBody>
      </p:sp>
      <p:sp>
        <p:nvSpPr>
          <p:cNvPr id="26" name="Shape 2">
            <a:extLst>
              <a:ext uri="{FF2B5EF4-FFF2-40B4-BE49-F238E27FC236}">
                <a16:creationId xmlns:a16="http://schemas.microsoft.com/office/drawing/2014/main" id="{29B07AFD-71BF-F1F8-7052-EEA4E627EC89}"/>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5D92DB80-38D7-BAA5-DA4D-FDBC2EA61F29}"/>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6B2C75A4-009C-EA95-F230-FFF2D9ECB76A}"/>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B34E30F0-88CA-3B28-E32D-DFF4AEB841E7}"/>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30" name="Shape 6">
            <a:extLst>
              <a:ext uri="{FF2B5EF4-FFF2-40B4-BE49-F238E27FC236}">
                <a16:creationId xmlns:a16="http://schemas.microsoft.com/office/drawing/2014/main" id="{2A8AB050-9F73-C638-C40C-D3BB8323EF66}"/>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200" noProof="0" dirty="0"/>
          </a:p>
        </p:txBody>
      </p:sp>
      <p:sp>
        <p:nvSpPr>
          <p:cNvPr id="31" name="Text 7">
            <a:extLst>
              <a:ext uri="{FF2B5EF4-FFF2-40B4-BE49-F238E27FC236}">
                <a16:creationId xmlns:a16="http://schemas.microsoft.com/office/drawing/2014/main" id="{D45C31C8-66ED-A12B-9321-E3F4242A5EE0}"/>
              </a:ext>
            </a:extLst>
          </p:cNvPr>
          <p:cNvSpPr/>
          <p:nvPr/>
        </p:nvSpPr>
        <p:spPr>
          <a:xfrm>
            <a:off x="384048" y="2400300"/>
            <a:ext cx="4005072" cy="150876"/>
          </a:xfrm>
          <a:prstGeom prst="rect">
            <a:avLst/>
          </a:prstGeom>
          <a:noFill/>
          <a:ln/>
        </p:spPr>
        <p:txBody>
          <a:bodyPr wrap="square" lIns="0" tIns="0" rIns="0" bIns="0" rtlCol="0" anchor="ctr"/>
          <a:lstStyle/>
          <a:p>
            <a:r>
              <a:rPr lang="en-US" sz="800" b="1" noProof="0" dirty="0">
                <a:solidFill>
                  <a:srgbClr val="19A58C"/>
                </a:solidFill>
                <a:ea typeface="Arial" pitchFamily="34" charset="-122"/>
                <a:cs typeface="Arial" pitchFamily="34" charset="-120"/>
              </a:rPr>
              <a:t>5. INPUTS (ALL AVAILABLE VARIABLES)</a:t>
            </a:r>
            <a:endParaRPr lang="en-US" sz="800" noProof="0" dirty="0"/>
          </a:p>
        </p:txBody>
      </p:sp>
      <p:sp>
        <p:nvSpPr>
          <p:cNvPr id="32" name="Shape 8">
            <a:extLst>
              <a:ext uri="{FF2B5EF4-FFF2-40B4-BE49-F238E27FC236}">
                <a16:creationId xmlns:a16="http://schemas.microsoft.com/office/drawing/2014/main" id="{0C6FC395-0F3D-0F97-E022-901FEFA1A26C}"/>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33" name="Shape 9">
            <a:extLst>
              <a:ext uri="{FF2B5EF4-FFF2-40B4-BE49-F238E27FC236}">
                <a16:creationId xmlns:a16="http://schemas.microsoft.com/office/drawing/2014/main" id="{32E6BC9D-EDE2-0CEF-8A05-EDB670FEA005}"/>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200" noProof="0" dirty="0"/>
          </a:p>
        </p:txBody>
      </p:sp>
      <p:sp>
        <p:nvSpPr>
          <p:cNvPr id="34" name="Text 10">
            <a:extLst>
              <a:ext uri="{FF2B5EF4-FFF2-40B4-BE49-F238E27FC236}">
                <a16:creationId xmlns:a16="http://schemas.microsoft.com/office/drawing/2014/main" id="{2C1AD0E0-9CEC-2639-4D04-5BCF66985E69}"/>
              </a:ext>
            </a:extLst>
          </p:cNvPr>
          <p:cNvSpPr/>
          <p:nvPr/>
        </p:nvSpPr>
        <p:spPr>
          <a:xfrm>
            <a:off x="4800600" y="2400300"/>
            <a:ext cx="3998214" cy="150876"/>
          </a:xfrm>
          <a:prstGeom prst="rect">
            <a:avLst/>
          </a:prstGeom>
          <a:noFill/>
          <a:ln/>
        </p:spPr>
        <p:txBody>
          <a:bodyPr wrap="square" lIns="0" tIns="0" rIns="0" bIns="0" rtlCol="0" anchor="ctr"/>
          <a:lstStyle/>
          <a:p>
            <a:r>
              <a:rPr lang="en-US" sz="800" b="1" noProof="0" dirty="0">
                <a:solidFill>
                  <a:srgbClr val="3454A5"/>
                </a:solidFill>
                <a:ea typeface="Arial" pitchFamily="34" charset="-122"/>
                <a:cs typeface="Arial" pitchFamily="34" charset="-120"/>
              </a:rPr>
              <a:t>6. OUTPUTS (NON-OVERLAPPING TARGETS)</a:t>
            </a:r>
            <a:endParaRPr lang="en-US" sz="800" noProof="0" dirty="0"/>
          </a:p>
        </p:txBody>
      </p:sp>
      <p:sp>
        <p:nvSpPr>
          <p:cNvPr id="35" name="Text 11">
            <a:extLst>
              <a:ext uri="{FF2B5EF4-FFF2-40B4-BE49-F238E27FC236}">
                <a16:creationId xmlns:a16="http://schemas.microsoft.com/office/drawing/2014/main" id="{62F0EDEA-75B0-E41B-ED6E-72FFA90549BE}"/>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ASHRAE Global Thermal Comfort Database II</a:t>
            </a:r>
          </a:p>
        </p:txBody>
      </p:sp>
      <p:sp>
        <p:nvSpPr>
          <p:cNvPr id="36" name="Text 12">
            <a:extLst>
              <a:ext uri="{FF2B5EF4-FFF2-40B4-BE49-F238E27FC236}">
                <a16:creationId xmlns:a16="http://schemas.microsoft.com/office/drawing/2014/main" id="{83223412-8678-F0FF-0E32-3B4648DBD1E4}"/>
              </a:ext>
            </a:extLst>
          </p:cNvPr>
          <p:cNvSpPr/>
          <p:nvPr/>
        </p:nvSpPr>
        <p:spPr>
          <a:xfrm>
            <a:off x="466344" y="925830"/>
            <a:ext cx="8161020" cy="1220724"/>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b="1" noProof="0" dirty="0">
                <a:solidFill>
                  <a:srgbClr val="1F2D3A"/>
                </a:solidFill>
                <a:ea typeface="Arial" pitchFamily="34" charset="-122"/>
                <a:cs typeface="Arial" pitchFamily="34" charset="-120"/>
              </a:rPr>
              <a:t>Scale: </a:t>
            </a:r>
            <a:r>
              <a:rPr lang="en-US" sz="1100" noProof="0" dirty="0">
                <a:solidFill>
                  <a:srgbClr val="364B5F"/>
                </a:solidFill>
                <a:ea typeface="Arial" pitchFamily="34" charset="-122"/>
                <a:cs typeface="Arial" pitchFamily="34" charset="-120"/>
              </a:rPr>
              <a:t>109,033 records | offices, schools, residential, senior center, others | worldwide</a:t>
            </a:r>
          </a:p>
          <a:p>
            <a:pPr marL="171450" indent="-171450">
              <a:buFont typeface="Arial" panose="020B0604020202020204" pitchFamily="34" charset="0"/>
              <a:buChar char="•"/>
            </a:pPr>
            <a:r>
              <a:rPr lang="en-US" sz="1100" b="1" noProof="0" dirty="0">
                <a:solidFill>
                  <a:srgbClr val="1F2D3A"/>
                </a:solidFill>
                <a:ea typeface="Arial" pitchFamily="34" charset="-122"/>
                <a:cs typeface="Arial" pitchFamily="34" charset="-120"/>
              </a:rPr>
              <a:t>Data fields: </a:t>
            </a:r>
            <a:r>
              <a:rPr lang="en-US" sz="1100" noProof="0" dirty="0">
                <a:solidFill>
                  <a:srgbClr val="364B5F"/>
                </a:solidFill>
                <a:ea typeface="Arial" pitchFamily="34" charset="-122"/>
                <a:cs typeface="Arial" pitchFamily="34" charset="-120"/>
              </a:rPr>
              <a:t>thermal comfort field studies | indoor climate | outdoor weather | occupant variables | environmental controls | calculated indices | subjective votes | metadata</a:t>
            </a:r>
          </a:p>
          <a:p>
            <a:pPr marL="171450" indent="-171450">
              <a:buFont typeface="Arial" panose="020B0604020202020204" pitchFamily="34" charset="0"/>
              <a:buChar char="•"/>
            </a:pPr>
            <a:r>
              <a:rPr lang="en-US" sz="1100" b="1" noProof="0" dirty="0">
                <a:solidFill>
                  <a:srgbClr val="1F2D3A"/>
                </a:solidFill>
                <a:ea typeface="Arial" pitchFamily="34" charset="-122"/>
                <a:cs typeface="Arial" pitchFamily="34" charset="-120"/>
              </a:rPr>
              <a:t>Timeframe: </a:t>
            </a:r>
            <a:r>
              <a:rPr lang="en-US" sz="1100" noProof="0" dirty="0">
                <a:solidFill>
                  <a:srgbClr val="364B5F"/>
                </a:solidFill>
                <a:ea typeface="Arial" pitchFamily="34" charset="-122"/>
                <a:cs typeface="Arial" pitchFamily="34" charset="-120"/>
              </a:rPr>
              <a:t>~1995-2022</a:t>
            </a:r>
            <a:endParaRPr lang="en-US" sz="1100" noProof="0" dirty="0"/>
          </a:p>
          <a:p>
            <a:pPr marL="171450" indent="-171450">
              <a:buFont typeface="Arial" panose="020B0604020202020204" pitchFamily="34" charset="0"/>
              <a:buChar char="•"/>
            </a:pPr>
            <a:endParaRPr lang="en-US" sz="1100" noProof="0" dirty="0"/>
          </a:p>
        </p:txBody>
      </p:sp>
      <p:sp>
        <p:nvSpPr>
          <p:cNvPr id="38" name="Text 14">
            <a:extLst>
              <a:ext uri="{FF2B5EF4-FFF2-40B4-BE49-F238E27FC236}">
                <a16:creationId xmlns:a16="http://schemas.microsoft.com/office/drawing/2014/main" id="{5D7FDBE2-D089-A099-8D49-E1E0FB8C77E7}"/>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D06038DD-275B-916D-AD30-87665452F0ED}"/>
              </a:ext>
            </a:extLst>
          </p:cNvPr>
          <p:cNvSpPr/>
          <p:nvPr/>
        </p:nvSpPr>
        <p:spPr>
          <a:xfrm>
            <a:off x="466344" y="2626614"/>
            <a:ext cx="3806190" cy="2057400"/>
          </a:xfrm>
          <a:prstGeom prst="rect">
            <a:avLst/>
          </a:prstGeom>
          <a:noFill/>
          <a:ln/>
        </p:spPr>
        <p:txBody>
          <a:bodyPr wrap="square" lIns="0" tIns="0" rIns="0" bIns="0" rtlCol="0" anchor="t">
            <a:noAutofit/>
          </a:bodyPr>
          <a:lstStyle/>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Study / metadata: </a:t>
            </a:r>
            <a:r>
              <a:rPr lang="en-US" sz="800" noProof="0" dirty="0">
                <a:solidFill>
                  <a:srgbClr val="364B5F"/>
                </a:solidFill>
                <a:ea typeface="Arial" pitchFamily="34" charset="-122"/>
                <a:cs typeface="Arial" pitchFamily="34" charset="-120"/>
              </a:rPr>
              <a:t>publication, contributor, year, season, climate classification, climate, city, country, building type.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Building operation: </a:t>
            </a:r>
            <a:r>
              <a:rPr lang="en-US" sz="800" noProof="0" dirty="0">
                <a:solidFill>
                  <a:srgbClr val="364B5F"/>
                </a:solidFill>
                <a:ea typeface="Arial" pitchFamily="34" charset="-122"/>
                <a:cs typeface="Arial" pitchFamily="34" charset="-120"/>
              </a:rPr>
              <a:t>cooling strategy (building level and operation mode), heating strategy.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Occupant profile: </a:t>
            </a:r>
            <a:r>
              <a:rPr lang="en-US" sz="800" noProof="0" dirty="0">
                <a:solidFill>
                  <a:srgbClr val="364B5F"/>
                </a:solidFill>
                <a:ea typeface="Arial" pitchFamily="34" charset="-122"/>
                <a:cs typeface="Arial" pitchFamily="34" charset="-120"/>
              </a:rPr>
              <a:t>age, sex, </a:t>
            </a:r>
            <a:r>
              <a:rPr lang="en-US" sz="800" noProof="0" dirty="0">
                <a:solidFill>
                  <a:schemeClr val="bg1">
                    <a:lumMod val="75000"/>
                  </a:schemeClr>
                </a:solidFill>
                <a:ea typeface="Arial" pitchFamily="34" charset="-122"/>
                <a:cs typeface="Arial" pitchFamily="34" charset="-120"/>
              </a:rPr>
              <a:t>weight, height, </a:t>
            </a:r>
            <a:r>
              <a:rPr lang="en-US" sz="800" noProof="0" dirty="0">
                <a:solidFill>
                  <a:srgbClr val="364B5F"/>
                </a:solidFill>
                <a:ea typeface="Arial" pitchFamily="34" charset="-122"/>
                <a:cs typeface="Arial" pitchFamily="34" charset="-120"/>
              </a:rPr>
              <a:t>clothing insulation (</a:t>
            </a:r>
            <a:r>
              <a:rPr lang="en-US" sz="800" noProof="0" dirty="0" err="1">
                <a:solidFill>
                  <a:srgbClr val="364B5F"/>
                </a:solidFill>
                <a:ea typeface="Arial" pitchFamily="34" charset="-122"/>
                <a:cs typeface="Arial" pitchFamily="34" charset="-120"/>
              </a:rPr>
              <a:t>clo</a:t>
            </a:r>
            <a:r>
              <a:rPr lang="en-US" sz="800" noProof="0" dirty="0">
                <a:solidFill>
                  <a:srgbClr val="364B5F"/>
                </a:solidFill>
                <a:ea typeface="Arial" pitchFamily="34" charset="-122"/>
                <a:cs typeface="Arial" pitchFamily="34" charset="-120"/>
              </a:rPr>
              <a:t>), metabolic rate (met), activity in last 10, 20, 30 and 60 minutes.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Indoor thermal environment: </a:t>
            </a:r>
            <a:r>
              <a:rPr lang="en-US" sz="800" noProof="0" dirty="0">
                <a:solidFill>
                  <a:srgbClr val="364B5F"/>
                </a:solidFill>
                <a:ea typeface="Arial" pitchFamily="34" charset="-122"/>
                <a:cs typeface="Arial" pitchFamily="34" charset="-120"/>
              </a:rPr>
              <a:t>air/radiation/global temperatures and air velocity all measured at 0.1 / 0.6 / 1.1 m / occupant zone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Controls / adaptive context: </a:t>
            </a:r>
            <a:r>
              <a:rPr lang="en-US" sz="800" noProof="0" dirty="0">
                <a:solidFill>
                  <a:srgbClr val="364B5F"/>
                </a:solidFill>
                <a:ea typeface="Arial" pitchFamily="34" charset="-122"/>
                <a:cs typeface="Arial" pitchFamily="34" charset="-120"/>
              </a:rPr>
              <a:t>blind/curtain, fan, window, door, heater state (ON/OFF).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Outdoor / derived variables: </a:t>
            </a:r>
            <a:r>
              <a:rPr lang="en-US" sz="800" noProof="0" dirty="0">
                <a:solidFill>
                  <a:srgbClr val="364B5F"/>
                </a:solidFill>
                <a:ea typeface="Arial" pitchFamily="34" charset="-122"/>
                <a:cs typeface="Arial" pitchFamily="34" charset="-120"/>
              </a:rPr>
              <a:t>outdoor monthly air temperature; PMV, PPD, SET.</a:t>
            </a:r>
            <a:endParaRPr lang="en-US" sz="800" noProof="0" dirty="0"/>
          </a:p>
        </p:txBody>
      </p:sp>
      <p:sp>
        <p:nvSpPr>
          <p:cNvPr id="40" name="Text 16">
            <a:extLst>
              <a:ext uri="{FF2B5EF4-FFF2-40B4-BE49-F238E27FC236}">
                <a16:creationId xmlns:a16="http://schemas.microsoft.com/office/drawing/2014/main" id="{3F43C606-3673-27F5-AF3E-03BCA64BB28D}"/>
              </a:ext>
            </a:extLst>
          </p:cNvPr>
          <p:cNvSpPr/>
          <p:nvPr/>
        </p:nvSpPr>
        <p:spPr>
          <a:xfrm>
            <a:off x="4882896" y="2626614"/>
            <a:ext cx="3737610" cy="1577340"/>
          </a:xfrm>
          <a:prstGeom prst="rect">
            <a:avLst/>
          </a:prstGeom>
          <a:noFill/>
          <a:ln/>
        </p:spPr>
        <p:txBody>
          <a:bodyPr wrap="square" lIns="0" tIns="0" rIns="0" bIns="0" rtlCol="0" anchor="t">
            <a:noAutofit/>
          </a:bodyPr>
          <a:lstStyle/>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Thermal sensation vote (TSV): </a:t>
            </a:r>
            <a:r>
              <a:rPr lang="en-US" sz="800" noProof="0" dirty="0">
                <a:solidFill>
                  <a:srgbClr val="364B5F"/>
                </a:solidFill>
                <a:ea typeface="Arial" pitchFamily="34" charset="-122"/>
                <a:cs typeface="Arial" pitchFamily="34" charset="-120"/>
              </a:rPr>
              <a:t>ASHRAE -3 cold to +3 hot.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Thermal acceptability: </a:t>
            </a:r>
            <a:r>
              <a:rPr lang="en-US" sz="800" noProof="0" dirty="0">
                <a:solidFill>
                  <a:srgbClr val="364B5F"/>
                </a:solidFill>
                <a:ea typeface="Arial" pitchFamily="34" charset="-122"/>
                <a:cs typeface="Arial" pitchFamily="34" charset="-120"/>
              </a:rPr>
              <a:t>acceptable / unacceptable.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Thermal preference: </a:t>
            </a:r>
            <a:r>
              <a:rPr lang="en-US" sz="800" noProof="0" dirty="0">
                <a:solidFill>
                  <a:srgbClr val="364B5F"/>
                </a:solidFill>
                <a:ea typeface="Arial" pitchFamily="34" charset="-122"/>
                <a:cs typeface="Arial" pitchFamily="34" charset="-120"/>
              </a:rPr>
              <a:t>cooler / no change / warmer.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Air movement acceptability: </a:t>
            </a:r>
            <a:r>
              <a:rPr lang="en-US" sz="800" noProof="0" dirty="0">
                <a:solidFill>
                  <a:srgbClr val="364B5F"/>
                </a:solidFill>
                <a:ea typeface="Arial" pitchFamily="34" charset="-122"/>
                <a:cs typeface="Arial" pitchFamily="34" charset="-120"/>
              </a:rPr>
              <a:t>acceptable / unacceptable.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Air movement preference: </a:t>
            </a:r>
            <a:r>
              <a:rPr lang="en-US" sz="800" noProof="0" dirty="0">
                <a:solidFill>
                  <a:srgbClr val="364B5F"/>
                </a:solidFill>
                <a:ea typeface="Arial" pitchFamily="34" charset="-122"/>
                <a:cs typeface="Arial" pitchFamily="34" charset="-120"/>
              </a:rPr>
              <a:t>less / no change / more.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Thermal comfort: </a:t>
            </a:r>
            <a:r>
              <a:rPr lang="en-US" sz="800" noProof="0" dirty="0">
                <a:solidFill>
                  <a:srgbClr val="364B5F"/>
                </a:solidFill>
                <a:ea typeface="Arial" pitchFamily="34" charset="-122"/>
                <a:cs typeface="Arial" pitchFamily="34" charset="-120"/>
              </a:rPr>
              <a:t>1 very uncomfortable to 6 very comfortable.
</a:t>
            </a:r>
            <a:endParaRPr lang="en-US" sz="800" noProof="0" dirty="0"/>
          </a:p>
          <a:p>
            <a:r>
              <a:rPr lang="en-US" sz="800" noProof="0" dirty="0">
                <a:solidFill>
                  <a:srgbClr val="364B5F"/>
                </a:solidFill>
                <a:ea typeface="Arial" pitchFamily="34" charset="-122"/>
                <a:cs typeface="Arial" pitchFamily="34" charset="-120"/>
              </a:rPr>
              <a:t>• </a:t>
            </a:r>
            <a:r>
              <a:rPr lang="en-US" sz="800" b="1" noProof="0" dirty="0">
                <a:solidFill>
                  <a:srgbClr val="1F2D3A"/>
                </a:solidFill>
                <a:ea typeface="Arial" pitchFamily="34" charset="-122"/>
                <a:cs typeface="Arial" pitchFamily="34" charset="-120"/>
              </a:rPr>
              <a:t>Humidity sensation: </a:t>
            </a:r>
            <a:r>
              <a:rPr lang="en-US" sz="800" noProof="0" dirty="0">
                <a:solidFill>
                  <a:srgbClr val="364B5F"/>
                </a:solidFill>
                <a:ea typeface="Arial" pitchFamily="34" charset="-122"/>
                <a:cs typeface="Arial" pitchFamily="34" charset="-120"/>
              </a:rPr>
              <a:t>very dry to very humid (-3 to +3 scale in source description).</a:t>
            </a:r>
            <a:endParaRPr lang="en-US" sz="800" noProof="0" dirty="0"/>
          </a:p>
        </p:txBody>
      </p:sp>
    </p:spTree>
    <p:extLst>
      <p:ext uri="{BB962C8B-B14F-4D97-AF65-F5344CB8AC3E}">
        <p14:creationId xmlns:p14="http://schemas.microsoft.com/office/powerpoint/2010/main" val="6444451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9782F-F547-C131-D48F-8E16FAC00E08}"/>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D51D869-6058-3197-1729-3D5D741A1AB2}"/>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63</a:t>
            </a:fld>
            <a:endParaRPr lang="en-US" noProof="0" dirty="0">
              <a:latin typeface="+mn-lt"/>
            </a:endParaRPr>
          </a:p>
        </p:txBody>
      </p:sp>
      <p:sp>
        <p:nvSpPr>
          <p:cNvPr id="26" name="Shape 2">
            <a:extLst>
              <a:ext uri="{FF2B5EF4-FFF2-40B4-BE49-F238E27FC236}">
                <a16:creationId xmlns:a16="http://schemas.microsoft.com/office/drawing/2014/main" id="{7AD95337-9582-50DD-639B-FAD271775233}"/>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0A7E3882-FA57-9A37-19A6-7C8BD7B32666}"/>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E2D35826-66F1-D87B-E719-1C8F8965F7E5}"/>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CDE3D0AE-4F9C-ADEE-355B-135B1FF4B4A0}"/>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D36297CF-8457-3630-5BF8-F68A25EA7EB8}"/>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04D44B2F-2086-B4ED-815A-654F247AB071}"/>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EB3384DF-205E-D755-108F-BF8F389F0643}"/>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E3F1E922-5E5A-DB26-C2FA-4D4705435A9B}"/>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8EF3E1E5-3141-FF2B-2731-BE85B732A6AD}"/>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39FC782B-9006-5DA7-D56B-B6B6F84B4955}"/>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Chinese Thermal Comfort Dataset</a:t>
            </a:r>
          </a:p>
        </p:txBody>
      </p:sp>
      <p:sp>
        <p:nvSpPr>
          <p:cNvPr id="36" name="Text 12">
            <a:extLst>
              <a:ext uri="{FF2B5EF4-FFF2-40B4-BE49-F238E27FC236}">
                <a16:creationId xmlns:a16="http://schemas.microsoft.com/office/drawing/2014/main" id="{5E0BC7E4-D725-4B99-55CB-008567749385}"/>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41,977 records | 49 cities | 5 climate zones | residential, dormitory, office, classroom | China</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thermal environment | subjective responses | building information | personal information</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field studies collected over ~20 years</a:t>
            </a:r>
          </a:p>
        </p:txBody>
      </p:sp>
      <p:sp>
        <p:nvSpPr>
          <p:cNvPr id="38" name="Text 14">
            <a:extLst>
              <a:ext uri="{FF2B5EF4-FFF2-40B4-BE49-F238E27FC236}">
                <a16:creationId xmlns:a16="http://schemas.microsoft.com/office/drawing/2014/main" id="{B4F534E2-68F5-1750-6D68-4B2937D7D92C}"/>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904111AC-8FD7-DFF2-B74B-90568CB0DA62}"/>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Study / building context: </a:t>
            </a:r>
            <a:r>
              <a:rPr lang="en-US" sz="1050" noProof="0" dirty="0"/>
              <a:t>city, climate zone, season, building type, operation mode</a:t>
            </a:r>
          </a:p>
          <a:p>
            <a:pPr marL="171450" indent="-171450">
              <a:lnSpc>
                <a:spcPct val="100000"/>
              </a:lnSpc>
              <a:spcBef>
                <a:spcPts val="0"/>
              </a:spcBef>
              <a:spcAft>
                <a:spcPts val="0"/>
              </a:spcAft>
              <a:buFont typeface="Arial" panose="020B0604020202020204" pitchFamily="34" charset="0"/>
              <a:buChar char="•"/>
            </a:pPr>
            <a:r>
              <a:rPr lang="en-US" sz="1050" b="1" noProof="0" dirty="0"/>
              <a:t>Indoor environment: </a:t>
            </a:r>
            <a:r>
              <a:rPr lang="en-US" sz="1050" noProof="0" dirty="0"/>
              <a:t>air temperature, RH, air speed, mean radiant temperature; wall/floor temperature</a:t>
            </a:r>
          </a:p>
          <a:p>
            <a:pPr marL="171450" indent="-171450">
              <a:lnSpc>
                <a:spcPct val="100000"/>
              </a:lnSpc>
              <a:spcBef>
                <a:spcPts val="0"/>
              </a:spcBef>
              <a:spcAft>
                <a:spcPts val="0"/>
              </a:spcAft>
              <a:buFont typeface="Arial" panose="020B0604020202020204" pitchFamily="34" charset="0"/>
              <a:buChar char="•"/>
            </a:pPr>
            <a:r>
              <a:rPr lang="en-US" sz="1050" b="1" noProof="0" dirty="0"/>
              <a:t>Outdoor context: </a:t>
            </a:r>
            <a:r>
              <a:rPr lang="en-US" sz="1050" noProof="0" dirty="0"/>
              <a:t>outdoor thermal conditions where available</a:t>
            </a:r>
          </a:p>
          <a:p>
            <a:pPr marL="171450" indent="-171450">
              <a:lnSpc>
                <a:spcPct val="100000"/>
              </a:lnSpc>
              <a:spcBef>
                <a:spcPts val="0"/>
              </a:spcBef>
              <a:spcAft>
                <a:spcPts val="0"/>
              </a:spcAft>
              <a:buFont typeface="Arial" panose="020B0604020202020204" pitchFamily="34" charset="0"/>
              <a:buChar char="•"/>
            </a:pPr>
            <a:r>
              <a:rPr lang="en-US" sz="1050" b="1" noProof="0" dirty="0"/>
              <a:t>Occupant variables: </a:t>
            </a:r>
            <a:r>
              <a:rPr lang="en-US" sz="1050" noProof="0" dirty="0"/>
              <a:t>age, gender, </a:t>
            </a:r>
            <a:r>
              <a:rPr lang="en-US" sz="1050" noProof="0" dirty="0" err="1"/>
              <a:t>hight</a:t>
            </a:r>
            <a:r>
              <a:rPr lang="en-US" sz="1050" noProof="0" dirty="0"/>
              <a:t>, weight, CLO, MET</a:t>
            </a:r>
          </a:p>
        </p:txBody>
      </p:sp>
      <p:sp>
        <p:nvSpPr>
          <p:cNvPr id="40" name="Text 16">
            <a:extLst>
              <a:ext uri="{FF2B5EF4-FFF2-40B4-BE49-F238E27FC236}">
                <a16:creationId xmlns:a16="http://schemas.microsoft.com/office/drawing/2014/main" id="{1D9805E6-35E6-C254-1FEE-AE70D98BB2AF}"/>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Thermal sensation: </a:t>
            </a:r>
            <a:r>
              <a:rPr lang="en-US" sz="1050" noProof="0" dirty="0"/>
              <a:t>-3 to +3</a:t>
            </a:r>
          </a:p>
          <a:p>
            <a:pPr marL="171450" indent="-171450">
              <a:lnSpc>
                <a:spcPct val="100000"/>
              </a:lnSpc>
              <a:spcBef>
                <a:spcPts val="0"/>
              </a:spcBef>
              <a:spcAft>
                <a:spcPts val="0"/>
              </a:spcAft>
              <a:buFont typeface="Arial" panose="020B0604020202020204" pitchFamily="34" charset="0"/>
              <a:buChar char="•"/>
            </a:pPr>
            <a:r>
              <a:rPr lang="en-US" sz="1050" b="1" noProof="0" dirty="0"/>
              <a:t>Thermal comfort vote: </a:t>
            </a:r>
            <a:r>
              <a:rPr lang="en-US" sz="1050" noProof="0" dirty="0"/>
              <a:t>0 – 6 (very comfortable to very uncomfortable)</a:t>
            </a:r>
          </a:p>
          <a:p>
            <a:pPr marL="171450" indent="-171450">
              <a:lnSpc>
                <a:spcPct val="100000"/>
              </a:lnSpc>
              <a:spcBef>
                <a:spcPts val="0"/>
              </a:spcBef>
              <a:spcAft>
                <a:spcPts val="0"/>
              </a:spcAft>
              <a:buFont typeface="Arial" panose="020B0604020202020204" pitchFamily="34" charset="0"/>
              <a:buChar char="•"/>
            </a:pPr>
            <a:r>
              <a:rPr lang="en-US" sz="1050" b="1" noProof="0" dirty="0"/>
              <a:t>Thermal acceptability vote: </a:t>
            </a:r>
            <a:r>
              <a:rPr lang="en-US" sz="1050" noProof="0" dirty="0"/>
              <a:t>unacceptable / acceptable</a:t>
            </a:r>
          </a:p>
          <a:p>
            <a:pPr marL="171450" indent="-171450">
              <a:lnSpc>
                <a:spcPct val="100000"/>
              </a:lnSpc>
              <a:spcBef>
                <a:spcPts val="0"/>
              </a:spcBef>
              <a:spcAft>
                <a:spcPts val="0"/>
              </a:spcAft>
              <a:buFont typeface="Arial" panose="020B0604020202020204" pitchFamily="34" charset="0"/>
              <a:buChar char="•"/>
            </a:pPr>
            <a:r>
              <a:rPr lang="en-US" sz="1050" b="1" noProof="0" dirty="0"/>
              <a:t>Adaptive behavior: </a:t>
            </a:r>
            <a:r>
              <a:rPr lang="en-US" sz="1050" noProof="0" dirty="0"/>
              <a:t>comfort-related behavioral responses where available</a:t>
            </a:r>
          </a:p>
        </p:txBody>
      </p:sp>
    </p:spTree>
    <p:extLst>
      <p:ext uri="{BB962C8B-B14F-4D97-AF65-F5344CB8AC3E}">
        <p14:creationId xmlns:p14="http://schemas.microsoft.com/office/powerpoint/2010/main" val="4032472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A77C-034C-F174-89D5-671E19F6B657}"/>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90ADB772-6AF9-F66F-0063-55751FDE844F}"/>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64</a:t>
            </a:fld>
            <a:endParaRPr lang="en-US" noProof="0" dirty="0">
              <a:latin typeface="+mn-lt"/>
            </a:endParaRPr>
          </a:p>
        </p:txBody>
      </p:sp>
      <p:sp>
        <p:nvSpPr>
          <p:cNvPr id="26" name="Shape 2">
            <a:extLst>
              <a:ext uri="{FF2B5EF4-FFF2-40B4-BE49-F238E27FC236}">
                <a16:creationId xmlns:a16="http://schemas.microsoft.com/office/drawing/2014/main" id="{B461EF83-83B0-D94E-9642-E70136E23E4E}"/>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B6AE3EF8-9716-393E-8717-C357FC3FF161}"/>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10E87BAB-217B-6A57-D3FA-3B6C6980D91F}"/>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BD15FC48-5048-0607-0DC4-466C26BA759C}"/>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F41B83DC-7FA3-C7C1-84C0-5BCBE8C4AE26}"/>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D0A4DB8E-C60B-6126-BDE0-E4D61CFDA4E6}"/>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B573FAED-7EAE-7B1B-1905-6FF1F609CCF7}"/>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279344DC-8BD7-3E1B-E051-95A645302356}"/>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2B32957C-B9D2-0D32-7BAF-7FF67B6F366E}"/>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B66C29B9-6C71-4DC9-2F79-5EA513016228}"/>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Pre-Retrofit University Apartment Dataset</a:t>
            </a:r>
          </a:p>
        </p:txBody>
      </p:sp>
      <p:sp>
        <p:nvSpPr>
          <p:cNvPr id="36" name="Text 12">
            <a:extLst>
              <a:ext uri="{FF2B5EF4-FFF2-40B4-BE49-F238E27FC236}">
                <a16:creationId xmlns:a16="http://schemas.microsoft.com/office/drawing/2014/main" id="{1EE5BB16-67C7-C4E2-E0F5-49809AF8A247}"/>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12 months | 14 apartments in 2 buildings | 32 student residents | Syracuse, NY</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energy use | IEQ | envelope performance | occupant behavior | weather</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12-month high-frequency monitoring before retrofit</a:t>
            </a:r>
          </a:p>
        </p:txBody>
      </p:sp>
      <p:sp>
        <p:nvSpPr>
          <p:cNvPr id="38" name="Text 14">
            <a:extLst>
              <a:ext uri="{FF2B5EF4-FFF2-40B4-BE49-F238E27FC236}">
                <a16:creationId xmlns:a16="http://schemas.microsoft.com/office/drawing/2014/main" id="{D6AEC8B1-A0C2-4071-F676-BC375F5878C8}"/>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B6F47672-6715-9BD9-DC4D-3D7789810B0D}"/>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Energy: </a:t>
            </a:r>
            <a:r>
              <a:rPr lang="en-US" sz="1050" noProof="0" dirty="0"/>
              <a:t>whole-building and unit-level energy use</a:t>
            </a:r>
          </a:p>
          <a:p>
            <a:pPr marL="171450" indent="-171450">
              <a:lnSpc>
                <a:spcPct val="100000"/>
              </a:lnSpc>
              <a:spcBef>
                <a:spcPts val="0"/>
              </a:spcBef>
              <a:spcAft>
                <a:spcPts val="0"/>
              </a:spcAft>
              <a:buFont typeface="Arial" panose="020B0604020202020204" pitchFamily="34" charset="0"/>
              <a:buChar char="•"/>
            </a:pPr>
            <a:r>
              <a:rPr lang="en-US" sz="1050" b="1" noProof="0" dirty="0"/>
              <a:t>Indoor environment: </a:t>
            </a:r>
            <a:r>
              <a:rPr lang="en-US" sz="1050" noProof="0" dirty="0"/>
              <a:t>air temperature, RH, CO2, TVOC, PM2.5, PM10</a:t>
            </a:r>
          </a:p>
          <a:p>
            <a:pPr marL="171450" indent="-171450">
              <a:lnSpc>
                <a:spcPct val="100000"/>
              </a:lnSpc>
              <a:spcBef>
                <a:spcPts val="0"/>
              </a:spcBef>
              <a:spcAft>
                <a:spcPts val="0"/>
              </a:spcAft>
              <a:buFont typeface="Arial" panose="020B0604020202020204" pitchFamily="34" charset="0"/>
              <a:buChar char="•"/>
            </a:pPr>
            <a:r>
              <a:rPr lang="en-US" sz="1050" b="1" noProof="0" dirty="0"/>
              <a:t>Envelope / local sensors: </a:t>
            </a:r>
            <a:r>
              <a:rPr lang="en-US" sz="1050" noProof="0" dirty="0"/>
              <a:t>heat flux, surface temperature, local air temperature / RH</a:t>
            </a:r>
          </a:p>
          <a:p>
            <a:pPr marL="171450" indent="-171450">
              <a:lnSpc>
                <a:spcPct val="100000"/>
              </a:lnSpc>
              <a:spcBef>
                <a:spcPts val="0"/>
              </a:spcBef>
              <a:spcAft>
                <a:spcPts val="0"/>
              </a:spcAft>
              <a:buFont typeface="Arial" panose="020B0604020202020204" pitchFamily="34" charset="0"/>
              <a:buChar char="•"/>
            </a:pPr>
            <a:r>
              <a:rPr lang="en-US" sz="1050" b="1" noProof="0" dirty="0"/>
              <a:t>Occupancy / behavior: </a:t>
            </a:r>
            <a:r>
              <a:rPr lang="en-US" sz="1050" noProof="0" dirty="0"/>
              <a:t>motion, door / window open-close counts</a:t>
            </a:r>
          </a:p>
          <a:p>
            <a:pPr marL="171450" indent="-171450">
              <a:lnSpc>
                <a:spcPct val="100000"/>
              </a:lnSpc>
              <a:spcBef>
                <a:spcPts val="0"/>
              </a:spcBef>
              <a:spcAft>
                <a:spcPts val="0"/>
              </a:spcAft>
              <a:buFont typeface="Arial" panose="020B0604020202020204" pitchFamily="34" charset="0"/>
              <a:buChar char="•"/>
            </a:pPr>
            <a:r>
              <a:rPr lang="en-US" sz="1050" b="1" noProof="0" dirty="0"/>
              <a:t>Outdoor context: </a:t>
            </a:r>
            <a:r>
              <a:rPr lang="en-US" sz="1050" noProof="0" dirty="0"/>
              <a:t>weather and outdoor environment</a:t>
            </a:r>
          </a:p>
        </p:txBody>
      </p:sp>
      <p:sp>
        <p:nvSpPr>
          <p:cNvPr id="40" name="Text 16">
            <a:extLst>
              <a:ext uri="{FF2B5EF4-FFF2-40B4-BE49-F238E27FC236}">
                <a16:creationId xmlns:a16="http://schemas.microsoft.com/office/drawing/2014/main" id="{AB213905-0247-1599-2506-441F57F3F021}"/>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IEQ forecasting: </a:t>
            </a:r>
            <a:r>
              <a:rPr lang="en-US" sz="1050" noProof="0" dirty="0"/>
              <a:t>temperature, RH, CO2, TVOC, PM2.5, PM10</a:t>
            </a:r>
          </a:p>
          <a:p>
            <a:pPr marL="171450" indent="-171450">
              <a:lnSpc>
                <a:spcPct val="100000"/>
              </a:lnSpc>
              <a:spcBef>
                <a:spcPts val="0"/>
              </a:spcBef>
              <a:spcAft>
                <a:spcPts val="0"/>
              </a:spcAft>
              <a:buFont typeface="Arial" panose="020B0604020202020204" pitchFamily="34" charset="0"/>
              <a:buChar char="•"/>
            </a:pPr>
            <a:r>
              <a:rPr lang="en-US" sz="1050" b="1" noProof="0" dirty="0"/>
              <a:t>Energy targets: </a:t>
            </a:r>
            <a:r>
              <a:rPr lang="en-US" sz="1050" noProof="0" dirty="0"/>
              <a:t>whole-building or unit energy use</a:t>
            </a:r>
          </a:p>
          <a:p>
            <a:pPr marL="171450" indent="-171450">
              <a:lnSpc>
                <a:spcPct val="100000"/>
              </a:lnSpc>
              <a:spcBef>
                <a:spcPts val="0"/>
              </a:spcBef>
              <a:spcAft>
                <a:spcPts val="0"/>
              </a:spcAft>
              <a:buFont typeface="Arial" panose="020B0604020202020204" pitchFamily="34" charset="0"/>
              <a:buChar char="•"/>
            </a:pPr>
            <a:r>
              <a:rPr lang="en-US" sz="1050" b="1" noProof="0" dirty="0" err="1"/>
              <a:t>Behaviour</a:t>
            </a:r>
            <a:r>
              <a:rPr lang="en-US" sz="1050" b="1" noProof="0" dirty="0"/>
              <a:t> targets: </a:t>
            </a:r>
            <a:r>
              <a:rPr lang="en-US" sz="1050" noProof="0" dirty="0"/>
              <a:t>motion and door / window events</a:t>
            </a:r>
          </a:p>
          <a:p>
            <a:pPr marL="171450" indent="-171450">
              <a:lnSpc>
                <a:spcPct val="100000"/>
              </a:lnSpc>
              <a:spcBef>
                <a:spcPts val="0"/>
              </a:spcBef>
              <a:spcAft>
                <a:spcPts val="0"/>
              </a:spcAft>
              <a:buFont typeface="Arial" panose="020B0604020202020204" pitchFamily="34" charset="0"/>
              <a:buChar char="•"/>
            </a:pPr>
            <a:r>
              <a:rPr lang="en-US" sz="1050" b="1" noProof="0" dirty="0"/>
              <a:t>Envelope targets: </a:t>
            </a:r>
            <a:r>
              <a:rPr lang="en-US" sz="1050" noProof="0" dirty="0"/>
              <a:t>heat-flux / surface-temperature response</a:t>
            </a:r>
          </a:p>
        </p:txBody>
      </p:sp>
    </p:spTree>
    <p:extLst>
      <p:ext uri="{BB962C8B-B14F-4D97-AF65-F5344CB8AC3E}">
        <p14:creationId xmlns:p14="http://schemas.microsoft.com/office/powerpoint/2010/main" val="12477027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DA298-6933-EE49-4E81-990729A6DD00}"/>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321B239-B587-825A-EC98-2075052375D7}"/>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65</a:t>
            </a:fld>
            <a:endParaRPr lang="en-US" noProof="0" dirty="0">
              <a:latin typeface="+mn-lt"/>
            </a:endParaRPr>
          </a:p>
        </p:txBody>
      </p:sp>
      <p:sp>
        <p:nvSpPr>
          <p:cNvPr id="26" name="Shape 2">
            <a:extLst>
              <a:ext uri="{FF2B5EF4-FFF2-40B4-BE49-F238E27FC236}">
                <a16:creationId xmlns:a16="http://schemas.microsoft.com/office/drawing/2014/main" id="{8F253EEC-BE23-6909-0215-3A1E50CFA5AB}"/>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FF26C22E-3205-CC69-5FFF-5BF2C8595CF9}"/>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8C8CFFBB-1D7C-82D1-DE3B-43C627062F64}"/>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355A98E5-87BF-B225-0446-45ACBF0CFC40}"/>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00" noProof="0" dirty="0"/>
          </a:p>
        </p:txBody>
      </p:sp>
      <p:sp>
        <p:nvSpPr>
          <p:cNvPr id="30" name="Shape 6">
            <a:extLst>
              <a:ext uri="{FF2B5EF4-FFF2-40B4-BE49-F238E27FC236}">
                <a16:creationId xmlns:a16="http://schemas.microsoft.com/office/drawing/2014/main" id="{983009CE-0E10-AEFE-2EF5-5B33A72A5E40}"/>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00" noProof="0" dirty="0"/>
          </a:p>
        </p:txBody>
      </p:sp>
      <p:sp>
        <p:nvSpPr>
          <p:cNvPr id="31" name="Text 7">
            <a:extLst>
              <a:ext uri="{FF2B5EF4-FFF2-40B4-BE49-F238E27FC236}">
                <a16:creationId xmlns:a16="http://schemas.microsoft.com/office/drawing/2014/main" id="{4ED52568-1821-BCC7-D48E-70311189B049}"/>
              </a:ext>
            </a:extLst>
          </p:cNvPr>
          <p:cNvSpPr/>
          <p:nvPr/>
        </p:nvSpPr>
        <p:spPr>
          <a:xfrm>
            <a:off x="384048" y="2400300"/>
            <a:ext cx="4005072" cy="150876"/>
          </a:xfrm>
          <a:prstGeom prst="rect">
            <a:avLst/>
          </a:prstGeom>
          <a:noFill/>
          <a:ln/>
        </p:spPr>
        <p:txBody>
          <a:bodyPr wrap="square" lIns="0" tIns="0" rIns="0" bIns="0" rtlCol="0" anchor="ctr"/>
          <a:lstStyle/>
          <a:p>
            <a:r>
              <a:rPr lang="en-US" sz="1000" b="1" noProof="0" dirty="0">
                <a:solidFill>
                  <a:srgbClr val="19A58C"/>
                </a:solidFill>
                <a:ea typeface="Arial" pitchFamily="34" charset="-122"/>
                <a:cs typeface="Arial" pitchFamily="34" charset="-120"/>
              </a:rPr>
              <a:t>5. INPUTS (ALL AVAILABLE VARIABLES)</a:t>
            </a:r>
            <a:endParaRPr lang="en-US" sz="1000" noProof="0" dirty="0"/>
          </a:p>
        </p:txBody>
      </p:sp>
      <p:sp>
        <p:nvSpPr>
          <p:cNvPr id="32" name="Shape 8">
            <a:extLst>
              <a:ext uri="{FF2B5EF4-FFF2-40B4-BE49-F238E27FC236}">
                <a16:creationId xmlns:a16="http://schemas.microsoft.com/office/drawing/2014/main" id="{44A1A45A-4C4C-CB4E-EB14-BC4E7C4EE10D}"/>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00" noProof="0" dirty="0"/>
          </a:p>
        </p:txBody>
      </p:sp>
      <p:sp>
        <p:nvSpPr>
          <p:cNvPr id="33" name="Shape 9">
            <a:extLst>
              <a:ext uri="{FF2B5EF4-FFF2-40B4-BE49-F238E27FC236}">
                <a16:creationId xmlns:a16="http://schemas.microsoft.com/office/drawing/2014/main" id="{0FDE83F4-524E-F9BB-8F1A-07C91CC3AF9E}"/>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00" noProof="0" dirty="0"/>
          </a:p>
        </p:txBody>
      </p:sp>
      <p:sp>
        <p:nvSpPr>
          <p:cNvPr id="34" name="Text 10">
            <a:extLst>
              <a:ext uri="{FF2B5EF4-FFF2-40B4-BE49-F238E27FC236}">
                <a16:creationId xmlns:a16="http://schemas.microsoft.com/office/drawing/2014/main" id="{51F0F5D1-47A8-000B-BE54-53124BDE2024}"/>
              </a:ext>
            </a:extLst>
          </p:cNvPr>
          <p:cNvSpPr/>
          <p:nvPr/>
        </p:nvSpPr>
        <p:spPr>
          <a:xfrm>
            <a:off x="4800600" y="2400300"/>
            <a:ext cx="3998214" cy="150876"/>
          </a:xfrm>
          <a:prstGeom prst="rect">
            <a:avLst/>
          </a:prstGeom>
          <a:noFill/>
          <a:ln/>
        </p:spPr>
        <p:txBody>
          <a:bodyPr wrap="square" lIns="0" tIns="0" rIns="0" bIns="0" rtlCol="0" anchor="ctr"/>
          <a:lstStyle/>
          <a:p>
            <a:r>
              <a:rPr lang="en-US" sz="1000" b="1" noProof="0" dirty="0">
                <a:solidFill>
                  <a:srgbClr val="3454A5"/>
                </a:solidFill>
                <a:ea typeface="Arial" pitchFamily="34" charset="-122"/>
                <a:cs typeface="Arial" pitchFamily="34" charset="-120"/>
              </a:rPr>
              <a:t>6. OUTPUTS (NON-OVERLAPPING TARGETS)</a:t>
            </a:r>
            <a:endParaRPr lang="en-US" sz="1000" noProof="0" dirty="0"/>
          </a:p>
        </p:txBody>
      </p:sp>
      <p:sp>
        <p:nvSpPr>
          <p:cNvPr id="35" name="Text 11">
            <a:extLst>
              <a:ext uri="{FF2B5EF4-FFF2-40B4-BE49-F238E27FC236}">
                <a16:creationId xmlns:a16="http://schemas.microsoft.com/office/drawing/2014/main" id="{3ACC2225-C5B2-631F-91A7-3DA6F76BF210}"/>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Belgian Classrooms IEQ Satisfaction Dataset</a:t>
            </a:r>
          </a:p>
        </p:txBody>
      </p:sp>
      <p:sp>
        <p:nvSpPr>
          <p:cNvPr id="36" name="Text 12">
            <a:extLst>
              <a:ext uri="{FF2B5EF4-FFF2-40B4-BE49-F238E27FC236}">
                <a16:creationId xmlns:a16="http://schemas.microsoft.com/office/drawing/2014/main" id="{CB666AA6-2ED4-AFE4-3D4F-D4E76BFED538}"/>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6,834 assessments | 321 occupants | 11 classrooms in 3 case studies (Lecture rooms, secondary schools, primary schools) | Belgium</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thermal + IAQ + visual + acoustic satisfaction | classroom IEQ measurements | personal/context variables</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longitudinal classroom campaign across heating and intermediate seasons</a:t>
            </a:r>
          </a:p>
          <a:p>
            <a:pPr marL="171450" indent="-171450">
              <a:buFont typeface="Arial" panose="020B0604020202020204" pitchFamily="34" charset="0"/>
              <a:buChar char="•"/>
            </a:pPr>
            <a:endParaRPr lang="en-US" sz="1100" noProof="0" dirty="0"/>
          </a:p>
        </p:txBody>
      </p:sp>
      <p:sp>
        <p:nvSpPr>
          <p:cNvPr id="38" name="Text 14">
            <a:extLst>
              <a:ext uri="{FF2B5EF4-FFF2-40B4-BE49-F238E27FC236}">
                <a16:creationId xmlns:a16="http://schemas.microsoft.com/office/drawing/2014/main" id="{8C93DDAD-45C0-0034-CF9F-1B21E24EDE46}"/>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CE0F99F8-0431-A0AA-79BF-4A1D81AE1019}"/>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00" b="1" noProof="0" dirty="0"/>
              <a:t>Context / metadata: </a:t>
            </a:r>
            <a:r>
              <a:rPr lang="en-US" sz="1000" noProof="0" dirty="0"/>
              <a:t>classroom type, timestamp, seat location</a:t>
            </a:r>
          </a:p>
          <a:p>
            <a:pPr marL="171450" indent="-171450">
              <a:lnSpc>
                <a:spcPct val="100000"/>
              </a:lnSpc>
              <a:spcBef>
                <a:spcPts val="0"/>
              </a:spcBef>
              <a:spcAft>
                <a:spcPts val="0"/>
              </a:spcAft>
              <a:buFont typeface="Arial" panose="020B0604020202020204" pitchFamily="34" charset="0"/>
              <a:buChar char="•"/>
            </a:pPr>
            <a:r>
              <a:rPr lang="en-US" sz="1000" b="1" noProof="0" dirty="0"/>
              <a:t>Personal variables: </a:t>
            </a:r>
            <a:r>
              <a:rPr lang="en-US" sz="1000" noProof="0" dirty="0"/>
              <a:t>ID, age, gender, clothing level, </a:t>
            </a:r>
            <a:r>
              <a:rPr lang="en-US" sz="1000" noProof="0" dirty="0" err="1"/>
              <a:t>avtivity</a:t>
            </a:r>
            <a:r>
              <a:rPr lang="en-US" sz="1000" noProof="0" dirty="0"/>
              <a:t> type</a:t>
            </a:r>
          </a:p>
          <a:p>
            <a:pPr marL="171450" indent="-171450">
              <a:lnSpc>
                <a:spcPct val="100000"/>
              </a:lnSpc>
              <a:spcBef>
                <a:spcPts val="0"/>
              </a:spcBef>
              <a:spcAft>
                <a:spcPts val="0"/>
              </a:spcAft>
              <a:buFont typeface="Arial" panose="020B0604020202020204" pitchFamily="34" charset="0"/>
              <a:buChar char="•"/>
            </a:pPr>
            <a:r>
              <a:rPr lang="en-US" sz="1000" b="1" noProof="0" dirty="0"/>
              <a:t>Operation: </a:t>
            </a:r>
            <a:r>
              <a:rPr lang="en-US" sz="1000" noProof="0" dirty="0"/>
              <a:t>windows state</a:t>
            </a:r>
            <a:endParaRPr lang="en-US" sz="1000" b="1" noProof="0" dirty="0"/>
          </a:p>
          <a:p>
            <a:pPr marL="171450" indent="-171450">
              <a:lnSpc>
                <a:spcPct val="100000"/>
              </a:lnSpc>
              <a:spcBef>
                <a:spcPts val="0"/>
              </a:spcBef>
              <a:spcAft>
                <a:spcPts val="0"/>
              </a:spcAft>
              <a:buFont typeface="Arial" panose="020B0604020202020204" pitchFamily="34" charset="0"/>
              <a:buChar char="•"/>
            </a:pPr>
            <a:r>
              <a:rPr lang="en-US" sz="1000" b="1" noProof="0" dirty="0"/>
              <a:t>Core IEQ: </a:t>
            </a:r>
            <a:r>
              <a:rPr lang="en-US" sz="1000" noProof="0" dirty="0"/>
              <a:t>VOC, CO2, air temperature, RH (different locations across the class)</a:t>
            </a:r>
          </a:p>
          <a:p>
            <a:pPr marL="171450" indent="-171450">
              <a:buFont typeface="Arial" panose="020B0604020202020204" pitchFamily="34" charset="0"/>
              <a:buChar char="•"/>
            </a:pPr>
            <a:r>
              <a:rPr lang="en-US" sz="1000" b="1" noProof="0" dirty="0"/>
              <a:t>Visual / acoustic: </a:t>
            </a:r>
            <a:r>
              <a:rPr lang="en-US" sz="1000" noProof="0" dirty="0"/>
              <a:t>light intensity, sound level (different locations across the class)</a:t>
            </a:r>
          </a:p>
          <a:p>
            <a:pPr marL="171450" indent="-171450">
              <a:lnSpc>
                <a:spcPct val="100000"/>
              </a:lnSpc>
              <a:spcBef>
                <a:spcPts val="0"/>
              </a:spcBef>
              <a:spcAft>
                <a:spcPts val="0"/>
              </a:spcAft>
              <a:buFont typeface="Arial" panose="020B0604020202020204" pitchFamily="34" charset="0"/>
              <a:buChar char="•"/>
            </a:pPr>
            <a:r>
              <a:rPr lang="en-US" sz="1000" b="1" noProof="0" dirty="0"/>
              <a:t>Additional case-3 only: </a:t>
            </a:r>
            <a:r>
              <a:rPr lang="en-US" sz="1000" noProof="0" dirty="0"/>
              <a:t>air speed, TVOC, PM, window status</a:t>
            </a:r>
          </a:p>
        </p:txBody>
      </p:sp>
      <p:sp>
        <p:nvSpPr>
          <p:cNvPr id="40" name="Text 16">
            <a:extLst>
              <a:ext uri="{FF2B5EF4-FFF2-40B4-BE49-F238E27FC236}">
                <a16:creationId xmlns:a16="http://schemas.microsoft.com/office/drawing/2014/main" id="{B9DC22AF-9E98-BC5D-09E1-E764DEA196A5}"/>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00" b="1" noProof="0" dirty="0"/>
              <a:t>Thermal satisfaction: </a:t>
            </a:r>
            <a:r>
              <a:rPr lang="en-US" sz="1000" noProof="0" dirty="0"/>
              <a:t>1-5 rating</a:t>
            </a:r>
          </a:p>
          <a:p>
            <a:pPr marL="171450" indent="-171450">
              <a:lnSpc>
                <a:spcPct val="100000"/>
              </a:lnSpc>
              <a:spcBef>
                <a:spcPts val="0"/>
              </a:spcBef>
              <a:spcAft>
                <a:spcPts val="0"/>
              </a:spcAft>
              <a:buFont typeface="Arial" panose="020B0604020202020204" pitchFamily="34" charset="0"/>
              <a:buChar char="•"/>
            </a:pPr>
            <a:r>
              <a:rPr lang="en-US" sz="1000" b="1" noProof="0" dirty="0"/>
              <a:t>IAQ satisfaction: </a:t>
            </a:r>
            <a:r>
              <a:rPr lang="en-US" sz="1000" noProof="0" dirty="0"/>
              <a:t>1-5 rating</a:t>
            </a:r>
          </a:p>
          <a:p>
            <a:pPr marL="171450" indent="-171450">
              <a:lnSpc>
                <a:spcPct val="100000"/>
              </a:lnSpc>
              <a:spcBef>
                <a:spcPts val="0"/>
              </a:spcBef>
              <a:spcAft>
                <a:spcPts val="0"/>
              </a:spcAft>
              <a:buFont typeface="Arial" panose="020B0604020202020204" pitchFamily="34" charset="0"/>
              <a:buChar char="•"/>
            </a:pPr>
            <a:r>
              <a:rPr lang="en-US" sz="1000" b="1" noProof="0" dirty="0"/>
              <a:t>Visual satisfaction: </a:t>
            </a:r>
            <a:r>
              <a:rPr lang="en-US" sz="1000" noProof="0" dirty="0"/>
              <a:t>1-5 rating</a:t>
            </a:r>
          </a:p>
          <a:p>
            <a:pPr marL="171450" indent="-171450">
              <a:lnSpc>
                <a:spcPct val="100000"/>
              </a:lnSpc>
              <a:spcBef>
                <a:spcPts val="0"/>
              </a:spcBef>
              <a:spcAft>
                <a:spcPts val="0"/>
              </a:spcAft>
              <a:buFont typeface="Arial" panose="020B0604020202020204" pitchFamily="34" charset="0"/>
              <a:buChar char="•"/>
            </a:pPr>
            <a:r>
              <a:rPr lang="en-US" sz="1000" b="1" noProof="0" dirty="0"/>
              <a:t>Acoustic satisfaction: </a:t>
            </a:r>
            <a:r>
              <a:rPr lang="en-US" sz="1000" noProof="0" dirty="0"/>
              <a:t>1-5 rating</a:t>
            </a:r>
          </a:p>
          <a:p>
            <a:pPr marL="171450" indent="-171450">
              <a:lnSpc>
                <a:spcPct val="100000"/>
              </a:lnSpc>
              <a:spcBef>
                <a:spcPts val="0"/>
              </a:spcBef>
              <a:spcAft>
                <a:spcPts val="0"/>
              </a:spcAft>
              <a:buFont typeface="Arial" panose="020B0604020202020204" pitchFamily="34" charset="0"/>
              <a:buChar char="•"/>
            </a:pPr>
            <a:r>
              <a:rPr lang="en-US" sz="1000" b="1" noProof="0" dirty="0"/>
              <a:t>Overall IEQ satisfaction: </a:t>
            </a:r>
            <a:r>
              <a:rPr lang="en-US" sz="1000" noProof="0" dirty="0"/>
              <a:t>1-5 rating</a:t>
            </a:r>
          </a:p>
          <a:p>
            <a:pPr marL="171450" indent="-171450">
              <a:lnSpc>
                <a:spcPct val="100000"/>
              </a:lnSpc>
              <a:spcBef>
                <a:spcPts val="0"/>
              </a:spcBef>
              <a:spcAft>
                <a:spcPts val="0"/>
              </a:spcAft>
              <a:buFont typeface="Arial" panose="020B0604020202020204" pitchFamily="34" charset="0"/>
              <a:buChar char="•"/>
            </a:pPr>
            <a:endParaRPr lang="en-US" sz="1000" noProof="0" dirty="0"/>
          </a:p>
          <a:p>
            <a:pPr marL="171450" indent="-171450">
              <a:lnSpc>
                <a:spcPct val="100000"/>
              </a:lnSpc>
              <a:spcBef>
                <a:spcPts val="0"/>
              </a:spcBef>
              <a:spcAft>
                <a:spcPts val="0"/>
              </a:spcAft>
              <a:buFont typeface="Arial" panose="020B0604020202020204" pitchFamily="34" charset="0"/>
              <a:buChar char="•"/>
            </a:pPr>
            <a:r>
              <a:rPr lang="en-US" sz="1000" b="1" noProof="0" dirty="0"/>
              <a:t>Thermal dissatisfaction: </a:t>
            </a:r>
            <a:r>
              <a:rPr lang="en-US" sz="1000" noProof="0" dirty="0"/>
              <a:t>Too warm / too cold</a:t>
            </a:r>
          </a:p>
          <a:p>
            <a:pPr marL="171450" indent="-171450">
              <a:lnSpc>
                <a:spcPct val="100000"/>
              </a:lnSpc>
              <a:spcBef>
                <a:spcPts val="0"/>
              </a:spcBef>
              <a:spcAft>
                <a:spcPts val="0"/>
              </a:spcAft>
              <a:buFont typeface="Arial" panose="020B0604020202020204" pitchFamily="34" charset="0"/>
              <a:buChar char="•"/>
            </a:pPr>
            <a:r>
              <a:rPr lang="en-US" sz="1000" b="1" noProof="0" dirty="0"/>
              <a:t>Dissatisfaction IAQ: </a:t>
            </a:r>
            <a:r>
              <a:rPr lang="en-US" sz="1000" noProof="0" dirty="0"/>
              <a:t>Stuffy / too dry / </a:t>
            </a:r>
            <a:r>
              <a:rPr lang="en-US" sz="1000" noProof="0" dirty="0" err="1"/>
              <a:t>odour</a:t>
            </a:r>
            <a:r>
              <a:rPr lang="en-US" sz="1000" noProof="0" dirty="0"/>
              <a:t>,..</a:t>
            </a:r>
          </a:p>
          <a:p>
            <a:pPr marL="171450" indent="-171450">
              <a:lnSpc>
                <a:spcPct val="100000"/>
              </a:lnSpc>
              <a:spcBef>
                <a:spcPts val="0"/>
              </a:spcBef>
              <a:spcAft>
                <a:spcPts val="0"/>
              </a:spcAft>
              <a:buFont typeface="Arial" panose="020B0604020202020204" pitchFamily="34" charset="0"/>
              <a:buChar char="•"/>
            </a:pPr>
            <a:r>
              <a:rPr lang="en-US" sz="1000" b="1" noProof="0" dirty="0"/>
              <a:t>Dissatisfaction </a:t>
            </a:r>
            <a:r>
              <a:rPr lang="en-US" sz="1000" b="1" noProof="0" dirty="0" err="1"/>
              <a:t>Acustic</a:t>
            </a:r>
            <a:r>
              <a:rPr lang="en-US" sz="1000" b="1" noProof="0" dirty="0"/>
              <a:t>: </a:t>
            </a:r>
            <a:r>
              <a:rPr lang="en-US" sz="1000" noProof="0" dirty="0"/>
              <a:t>Indoor noise / outdoor noise</a:t>
            </a:r>
          </a:p>
          <a:p>
            <a:pPr marL="171450" indent="-171450">
              <a:lnSpc>
                <a:spcPct val="100000"/>
              </a:lnSpc>
              <a:spcBef>
                <a:spcPts val="0"/>
              </a:spcBef>
              <a:spcAft>
                <a:spcPts val="0"/>
              </a:spcAft>
              <a:buFont typeface="Arial" panose="020B0604020202020204" pitchFamily="34" charset="0"/>
              <a:buChar char="•"/>
            </a:pPr>
            <a:r>
              <a:rPr lang="en-US" sz="1000" b="1" noProof="0" dirty="0"/>
              <a:t>Dissatisfaction Visual: </a:t>
            </a:r>
            <a:r>
              <a:rPr lang="en-US" sz="1000" noProof="0" dirty="0"/>
              <a:t>Glare</a:t>
            </a:r>
          </a:p>
          <a:p>
            <a:pPr marL="171450" indent="-171450">
              <a:lnSpc>
                <a:spcPct val="100000"/>
              </a:lnSpc>
              <a:spcBef>
                <a:spcPts val="0"/>
              </a:spcBef>
              <a:spcAft>
                <a:spcPts val="0"/>
              </a:spcAft>
              <a:buFont typeface="Arial" panose="020B0604020202020204" pitchFamily="34" charset="0"/>
              <a:buChar char="•"/>
            </a:pPr>
            <a:r>
              <a:rPr lang="en-US" sz="1000" b="1" noProof="0" dirty="0"/>
              <a:t>IEQ notes: </a:t>
            </a:r>
            <a:r>
              <a:rPr lang="en-US" sz="1000" noProof="0" dirty="0"/>
              <a:t>other notes</a:t>
            </a:r>
            <a:endParaRPr lang="en-US" sz="1000" b="1" noProof="0" dirty="0"/>
          </a:p>
        </p:txBody>
      </p:sp>
    </p:spTree>
    <p:extLst>
      <p:ext uri="{BB962C8B-B14F-4D97-AF65-F5344CB8AC3E}">
        <p14:creationId xmlns:p14="http://schemas.microsoft.com/office/powerpoint/2010/main" val="1343475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19178-46AB-5BAB-4231-25AA9FF610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E2758EF-17A9-2C77-4F1F-058260998C14}"/>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BD79557F-3B67-FF2B-AFFB-29DD25A6516A}"/>
              </a:ext>
            </a:extLst>
          </p:cNvPr>
          <p:cNvSpPr/>
          <p:nvPr/>
        </p:nvSpPr>
        <p:spPr>
          <a:xfrm>
            <a:off x="155050" y="1069848"/>
            <a:ext cx="7680960" cy="457200"/>
          </a:xfrm>
          <a:prstGeom prst="rect">
            <a:avLst/>
          </a:prstGeom>
          <a:noFill/>
          <a:ln/>
        </p:spPr>
        <p:txBody>
          <a:bodyPr wrap="square" rtlCol="0" anchor="ctr"/>
          <a:lstStyle/>
          <a:p>
            <a:pPr marL="0" indent="0">
              <a:buNone/>
            </a:pPr>
            <a:r>
              <a:rPr lang="en-US" sz="2000" b="1" noProof="0" dirty="0">
                <a:solidFill>
                  <a:srgbClr val="E39A12"/>
                </a:solidFill>
                <a:cs typeface="Arial" pitchFamily="34" charset="-120"/>
              </a:rPr>
              <a:t>IAQ, Thermal comfort, visual, </a:t>
            </a:r>
            <a:r>
              <a:rPr lang="en-US" sz="2000" b="1" noProof="0" dirty="0" err="1">
                <a:solidFill>
                  <a:srgbClr val="E39A12"/>
                </a:solidFill>
                <a:cs typeface="Arial" pitchFamily="34" charset="-120"/>
              </a:rPr>
              <a:t>acustics</a:t>
            </a:r>
            <a:endParaRPr lang="en-US" sz="2000" b="1" noProof="0" dirty="0">
              <a:solidFill>
                <a:srgbClr val="E39A12"/>
              </a:solidFill>
              <a:cs typeface="Arial" pitchFamily="34" charset="-120"/>
            </a:endParaRPr>
          </a:p>
        </p:txBody>
      </p:sp>
      <p:sp>
        <p:nvSpPr>
          <p:cNvPr id="4" name="Text 2">
            <a:extLst>
              <a:ext uri="{FF2B5EF4-FFF2-40B4-BE49-F238E27FC236}">
                <a16:creationId xmlns:a16="http://schemas.microsoft.com/office/drawing/2014/main" id="{8EA5C95E-0117-F983-1308-E0C41EB2FC6F}"/>
              </a:ext>
            </a:extLst>
          </p:cNvPr>
          <p:cNvSpPr/>
          <p:nvPr/>
        </p:nvSpPr>
        <p:spPr>
          <a:xfrm>
            <a:off x="731520" y="1554480"/>
            <a:ext cx="7680960" cy="914400"/>
          </a:xfrm>
          <a:prstGeom prst="rect">
            <a:avLst/>
          </a:prstGeom>
          <a:noFill/>
          <a:ln/>
        </p:spPr>
        <p:txBody>
          <a:bodyPr wrap="square" rtlCol="0" anchor="ctr"/>
          <a:lstStyle/>
          <a:p>
            <a:pPr marL="0" indent="0">
              <a:buNone/>
            </a:pPr>
            <a:endParaRPr lang="en-US" sz="3600" noProof="0" dirty="0"/>
          </a:p>
        </p:txBody>
      </p:sp>
      <p:sp>
        <p:nvSpPr>
          <p:cNvPr id="6" name="Shape 4">
            <a:extLst>
              <a:ext uri="{FF2B5EF4-FFF2-40B4-BE49-F238E27FC236}">
                <a16:creationId xmlns:a16="http://schemas.microsoft.com/office/drawing/2014/main" id="{18B62AF4-098E-9E41-E21F-5C93D183DAE8}"/>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02BC6B44-C889-143E-00D3-F97C63BC980D}"/>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
        <p:nvSpPr>
          <p:cNvPr id="12" name="TextBox 11">
            <a:extLst>
              <a:ext uri="{FF2B5EF4-FFF2-40B4-BE49-F238E27FC236}">
                <a16:creationId xmlns:a16="http://schemas.microsoft.com/office/drawing/2014/main" id="{BD381060-2D87-CF70-E54A-597F4B3CCED9}"/>
              </a:ext>
            </a:extLst>
          </p:cNvPr>
          <p:cNvSpPr txBox="1"/>
          <p:nvPr/>
        </p:nvSpPr>
        <p:spPr>
          <a:xfrm>
            <a:off x="155050" y="344746"/>
            <a:ext cx="4572000" cy="523220"/>
          </a:xfrm>
          <a:prstGeom prst="rect">
            <a:avLst/>
          </a:prstGeom>
          <a:noFill/>
        </p:spPr>
        <p:txBody>
          <a:bodyPr wrap="square">
            <a:spAutoFit/>
          </a:bodyPr>
          <a:lstStyle/>
          <a:p>
            <a:r>
              <a:rPr lang="en-US" sz="2800" b="1" noProof="0" dirty="0"/>
              <a:t>EVALUATION</a:t>
            </a:r>
          </a:p>
        </p:txBody>
      </p:sp>
      <p:sp>
        <p:nvSpPr>
          <p:cNvPr id="13" name="Shape 2">
            <a:extLst>
              <a:ext uri="{FF2B5EF4-FFF2-40B4-BE49-F238E27FC236}">
                <a16:creationId xmlns:a16="http://schemas.microsoft.com/office/drawing/2014/main" id="{3502DC08-95DC-AF71-9229-CD5F611E6261}"/>
              </a:ext>
            </a:extLst>
          </p:cNvPr>
          <p:cNvSpPr/>
          <p:nvPr/>
        </p:nvSpPr>
        <p:spPr>
          <a:xfrm>
            <a:off x="234231" y="1698498"/>
            <a:ext cx="8606790" cy="2111502"/>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14" name="Shape 3">
            <a:extLst>
              <a:ext uri="{FF2B5EF4-FFF2-40B4-BE49-F238E27FC236}">
                <a16:creationId xmlns:a16="http://schemas.microsoft.com/office/drawing/2014/main" id="{1CB0E068-EEE0-1C79-1C99-EDC36229E581}"/>
              </a:ext>
            </a:extLst>
          </p:cNvPr>
          <p:cNvSpPr/>
          <p:nvPr/>
        </p:nvSpPr>
        <p:spPr>
          <a:xfrm>
            <a:off x="254805" y="1780793"/>
            <a:ext cx="48006" cy="1879043"/>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15" name="Text 4">
            <a:extLst>
              <a:ext uri="{FF2B5EF4-FFF2-40B4-BE49-F238E27FC236}">
                <a16:creationId xmlns:a16="http://schemas.microsoft.com/office/drawing/2014/main" id="{33B13277-C191-8620-BBA2-8A927BBA129C}"/>
              </a:ext>
            </a:extLst>
          </p:cNvPr>
          <p:cNvSpPr/>
          <p:nvPr/>
        </p:nvSpPr>
        <p:spPr>
          <a:xfrm>
            <a:off x="357675" y="1753361"/>
            <a:ext cx="8414766" cy="213087"/>
          </a:xfrm>
          <a:prstGeom prst="rect">
            <a:avLst/>
          </a:prstGeom>
          <a:noFill/>
          <a:ln/>
        </p:spPr>
        <p:txBody>
          <a:bodyPr wrap="square" lIns="0" tIns="0" rIns="0" bIns="0" rtlCol="0" anchor="ctr"/>
          <a:lstStyle/>
          <a:p>
            <a:endParaRPr lang="en-US" sz="1050" noProof="0" dirty="0"/>
          </a:p>
        </p:txBody>
      </p:sp>
      <p:sp>
        <p:nvSpPr>
          <p:cNvPr id="16" name="Text 12">
            <a:extLst>
              <a:ext uri="{FF2B5EF4-FFF2-40B4-BE49-F238E27FC236}">
                <a16:creationId xmlns:a16="http://schemas.microsoft.com/office/drawing/2014/main" id="{D2307851-E501-E3B8-947A-8785EAFB19DB}"/>
              </a:ext>
            </a:extLst>
          </p:cNvPr>
          <p:cNvSpPr/>
          <p:nvPr/>
        </p:nvSpPr>
        <p:spPr>
          <a:xfrm>
            <a:off x="439971" y="1904238"/>
            <a:ext cx="8161020" cy="172407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noProof="0" dirty="0"/>
              <a:t>A lot of good data available. IAQ are widely studied, but visual, </a:t>
            </a:r>
            <a:r>
              <a:rPr lang="en-US" sz="1100" noProof="0" dirty="0" err="1"/>
              <a:t>acustic</a:t>
            </a:r>
            <a:r>
              <a:rPr lang="en-US" sz="1100" noProof="0" dirty="0"/>
              <a:t> and overall comfort is not.</a:t>
            </a:r>
          </a:p>
          <a:p>
            <a:pPr marL="171450" indent="-171450">
              <a:buFont typeface="Arial" panose="020B0604020202020204" pitchFamily="34" charset="0"/>
              <a:buChar char="•"/>
            </a:pPr>
            <a:endParaRPr lang="en-US" sz="1100" noProof="0" dirty="0"/>
          </a:p>
          <a:p>
            <a:pPr marL="171450" indent="-171450">
              <a:buFont typeface="Arial" panose="020B0604020202020204" pitchFamily="34" charset="0"/>
              <a:buChar char="•"/>
            </a:pPr>
            <a:r>
              <a:rPr lang="en-US" sz="1100" noProof="0" dirty="0"/>
              <a:t>SEPARATE MODELS </a:t>
            </a:r>
            <a:r>
              <a:rPr lang="en-US" sz="1100" noProof="0" dirty="0">
                <a:sym typeface="Wingdings" panose="05000000000000000000" pitchFamily="2" charset="2"/>
              </a:rPr>
              <a:t> COMBINATION OF ALL FACTORS  TRANSFER LEARNING (IS FULL MODEL TRANSFERABLE WHEN SOME PARAMETERS MISSING?) / IS MODEL TRANSFERABLE BETWEEN DIFERENT AGES? (PRIMARY / SECONDARY / UNIVERSITY) </a:t>
            </a:r>
          </a:p>
          <a:p>
            <a:pPr marL="171450" indent="-171450">
              <a:buFont typeface="Arial" panose="020B0604020202020204" pitchFamily="34" charset="0"/>
              <a:buChar char="•"/>
            </a:pPr>
            <a:endParaRPr lang="en-US" sz="1100" noProof="0" dirty="0">
              <a:sym typeface="Wingdings" panose="05000000000000000000" pitchFamily="2" charset="2"/>
            </a:endParaRPr>
          </a:p>
          <a:p>
            <a:pPr marL="171450" indent="-171450">
              <a:buFont typeface="Arial" panose="020B0604020202020204" pitchFamily="34" charset="0"/>
              <a:buChar char="•"/>
            </a:pPr>
            <a:r>
              <a:rPr lang="en-US" sz="1100" noProof="0" dirty="0">
                <a:sym typeface="Wingdings" panose="05000000000000000000" pitchFamily="2" charset="2"/>
              </a:rPr>
              <a:t>CAN BE USED FOR BOTH REGRESION AND CLASSIFICATON</a:t>
            </a:r>
          </a:p>
          <a:p>
            <a:pPr marL="171450" indent="-171450">
              <a:buFont typeface="Arial" panose="020B0604020202020204" pitchFamily="34" charset="0"/>
              <a:buChar char="•"/>
            </a:pPr>
            <a:endParaRPr lang="en-US" sz="1100" noProof="0" dirty="0">
              <a:sym typeface="Wingdings" panose="05000000000000000000" pitchFamily="2" charset="2"/>
            </a:endParaRPr>
          </a:p>
          <a:p>
            <a:pPr marL="171450" indent="-171450">
              <a:buFont typeface="Arial" panose="020B0604020202020204" pitchFamily="34" charset="0"/>
              <a:buChar char="•"/>
            </a:pPr>
            <a:r>
              <a:rPr lang="en-US" sz="1100" b="1" noProof="0" dirty="0">
                <a:sym typeface="Wingdings" panose="05000000000000000000" pitchFamily="2" charset="2"/>
              </a:rPr>
              <a:t>Dataset used: </a:t>
            </a:r>
            <a:r>
              <a:rPr lang="en-US" sz="1100" noProof="0" dirty="0">
                <a:sym typeface="Wingdings" panose="05000000000000000000" pitchFamily="2" charset="2"/>
              </a:rPr>
              <a:t>Belgian Classrooms IEQ Satisfaction Dataset</a:t>
            </a:r>
          </a:p>
        </p:txBody>
      </p:sp>
      <p:sp>
        <p:nvSpPr>
          <p:cNvPr id="17" name="Text 14">
            <a:extLst>
              <a:ext uri="{FF2B5EF4-FFF2-40B4-BE49-F238E27FC236}">
                <a16:creationId xmlns:a16="http://schemas.microsoft.com/office/drawing/2014/main" id="{CAD26CF5-6146-628A-6776-EF74A913E44D}"/>
              </a:ext>
            </a:extLst>
          </p:cNvPr>
          <p:cNvSpPr/>
          <p:nvPr/>
        </p:nvSpPr>
        <p:spPr>
          <a:xfrm>
            <a:off x="439971" y="2802635"/>
            <a:ext cx="8161020" cy="329317"/>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3899086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9A799BC1-5591-F9A9-BA5B-18021F1ADB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328107-420F-F7CB-4B02-5F332ECE7C78}"/>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32B36938-5B83-F67C-D632-EF466C7FDD64}"/>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1A9DFBA2-671D-A0B5-87A5-21218CBBB385}"/>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Wearables</a:t>
            </a:r>
            <a:endParaRPr lang="en-US" sz="3600" noProof="0" dirty="0"/>
          </a:p>
        </p:txBody>
      </p:sp>
      <p:sp>
        <p:nvSpPr>
          <p:cNvPr id="5" name="Text 3">
            <a:extLst>
              <a:ext uri="{FF2B5EF4-FFF2-40B4-BE49-F238E27FC236}">
                <a16:creationId xmlns:a16="http://schemas.microsoft.com/office/drawing/2014/main" id="{1B59C239-2994-CE66-27C2-750239562A4A}"/>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56C4330B-E5D7-30F7-8D09-5C8DF7E7BA6E}"/>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DF06DF5D-08E8-DDBF-111A-252FA50F3C1B}"/>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23269403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FCE1-E147-A1E3-67D8-22FA50607B6B}"/>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26C5094-462C-A8AC-E24D-4E374AAD35AE}"/>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68</a:t>
            </a:fld>
            <a:endParaRPr lang="en-US" noProof="0" dirty="0">
              <a:latin typeface="+mn-lt"/>
            </a:endParaRPr>
          </a:p>
        </p:txBody>
      </p:sp>
      <p:sp>
        <p:nvSpPr>
          <p:cNvPr id="26" name="Shape 2">
            <a:extLst>
              <a:ext uri="{FF2B5EF4-FFF2-40B4-BE49-F238E27FC236}">
                <a16:creationId xmlns:a16="http://schemas.microsoft.com/office/drawing/2014/main" id="{1F41003E-F75E-9CCD-AC25-1504B895DE1B}"/>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F5148804-49BD-E318-B02D-DB3677C98C2C}"/>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9FCFE316-99E4-1433-BB91-FBEE1F1E723B}"/>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DD355D4A-1F1A-83B9-CA32-8E0E2EBB0E4A}"/>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589C115B-68C8-77CF-DA63-7F53143B38E9}"/>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DCB095B8-4A3F-626D-61A6-383CBC909A47}"/>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86484DEE-54FC-BDA7-04DB-DAE6396AEC60}"/>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D69F6EE1-87D1-D92F-4F0A-FE630A6CFE5E}"/>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F80E129B-BA67-1C9E-2443-338CAA7C6E2A}"/>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F19424E4-1F42-288C-A413-9D97E5281952}"/>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En-Gage Dataset</a:t>
            </a:r>
          </a:p>
        </p:txBody>
      </p:sp>
      <p:sp>
        <p:nvSpPr>
          <p:cNvPr id="36" name="Text 12">
            <a:extLst>
              <a:ext uri="{FF2B5EF4-FFF2-40B4-BE49-F238E27FC236}">
                <a16:creationId xmlns:a16="http://schemas.microsoft.com/office/drawing/2014/main" id="{7A45929F-D646-3465-4116-8C25063E3A1F}"/>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29 participants (23 students + 6 teachers) | 1 private school in Melbourne | 4-week study</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physiology | classroom IEQ | engagement / emotion / comfort surveys</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4-week wearable study; linked project also includes 5-month building monitoring</a:t>
            </a:r>
          </a:p>
        </p:txBody>
      </p:sp>
      <p:sp>
        <p:nvSpPr>
          <p:cNvPr id="38" name="Text 14">
            <a:extLst>
              <a:ext uri="{FF2B5EF4-FFF2-40B4-BE49-F238E27FC236}">
                <a16:creationId xmlns:a16="http://schemas.microsoft.com/office/drawing/2014/main" id="{6C54B4DB-696F-B0FE-8C8A-9B69A1EB8E87}"/>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CC610CA8-9E19-4BFE-8389-4C25E9CB3A92}"/>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Wearables: </a:t>
            </a:r>
            <a:r>
              <a:rPr lang="en-US" sz="1050" noProof="0" dirty="0"/>
              <a:t>accelerometer, electrodermal activity, HR sensor, skin temperature</a:t>
            </a:r>
          </a:p>
          <a:p>
            <a:pPr marL="171450" indent="-171450">
              <a:lnSpc>
                <a:spcPct val="100000"/>
              </a:lnSpc>
              <a:spcBef>
                <a:spcPts val="0"/>
              </a:spcBef>
              <a:spcAft>
                <a:spcPts val="0"/>
              </a:spcAft>
              <a:buFont typeface="Arial" panose="020B0604020202020204" pitchFamily="34" charset="0"/>
              <a:buChar char="•"/>
            </a:pPr>
            <a:r>
              <a:rPr lang="en-US" sz="1050" b="1" noProof="0" dirty="0"/>
              <a:t>Classroom IEQ: </a:t>
            </a:r>
            <a:r>
              <a:rPr lang="en-US" sz="1050" noProof="0" dirty="0"/>
              <a:t>indoor temperature, HR, CO2, noise</a:t>
            </a:r>
          </a:p>
          <a:p>
            <a:pPr marL="171450" indent="-171450">
              <a:lnSpc>
                <a:spcPct val="100000"/>
              </a:lnSpc>
              <a:spcBef>
                <a:spcPts val="0"/>
              </a:spcBef>
              <a:spcAft>
                <a:spcPts val="0"/>
              </a:spcAft>
              <a:buFont typeface="Arial" panose="020B0604020202020204" pitchFamily="34" charset="0"/>
              <a:buChar char="•"/>
            </a:pPr>
            <a:r>
              <a:rPr lang="en-US" sz="1050" b="1" noProof="0" dirty="0"/>
              <a:t>Outdoor</a:t>
            </a:r>
            <a:r>
              <a:rPr lang="en-US" sz="1050" noProof="0" dirty="0"/>
              <a:t>: temperature, HR, dewpoint, wind speed and direction, radiation</a:t>
            </a:r>
          </a:p>
          <a:p>
            <a:pPr marL="171450" indent="-171450">
              <a:lnSpc>
                <a:spcPct val="100000"/>
              </a:lnSpc>
              <a:spcBef>
                <a:spcPts val="0"/>
              </a:spcBef>
              <a:spcAft>
                <a:spcPts val="0"/>
              </a:spcAft>
              <a:buFont typeface="Arial" panose="020B0604020202020204" pitchFamily="34" charset="0"/>
              <a:buChar char="•"/>
            </a:pPr>
            <a:r>
              <a:rPr lang="en-US" sz="1050" b="1" noProof="0" dirty="0"/>
              <a:t>Building operation: </a:t>
            </a:r>
            <a:r>
              <a:rPr lang="en-US" sz="1050" noProof="0" dirty="0"/>
              <a:t>cooling/heating (ON/OFF), </a:t>
            </a:r>
          </a:p>
          <a:p>
            <a:pPr marL="171450" indent="-171450">
              <a:lnSpc>
                <a:spcPct val="100000"/>
              </a:lnSpc>
              <a:spcBef>
                <a:spcPts val="0"/>
              </a:spcBef>
              <a:spcAft>
                <a:spcPts val="0"/>
              </a:spcAft>
              <a:buFont typeface="Arial" panose="020B0604020202020204" pitchFamily="34" charset="0"/>
              <a:buChar char="•"/>
            </a:pPr>
            <a:r>
              <a:rPr lang="en-US" sz="1050" b="1" noProof="0" dirty="0"/>
              <a:t>Context: </a:t>
            </a:r>
            <a:r>
              <a:rPr lang="en-US" sz="1050" noProof="0" dirty="0"/>
              <a:t>participant ID, classroom / seating, time, CLO</a:t>
            </a:r>
          </a:p>
          <a:p>
            <a:pPr marL="171450" indent="-171450">
              <a:lnSpc>
                <a:spcPct val="100000"/>
              </a:lnSpc>
              <a:spcBef>
                <a:spcPts val="0"/>
              </a:spcBef>
              <a:spcAft>
                <a:spcPts val="0"/>
              </a:spcAft>
              <a:buFont typeface="Arial" panose="020B0604020202020204" pitchFamily="34" charset="0"/>
              <a:buChar char="•"/>
            </a:pPr>
            <a:r>
              <a:rPr lang="en-US" sz="1050" b="1" noProof="0" dirty="0"/>
              <a:t>Background survey: </a:t>
            </a:r>
            <a:r>
              <a:rPr lang="en-US" sz="1050" noProof="0" dirty="0"/>
              <a:t>age, gender, class group, general thermal comfort</a:t>
            </a:r>
          </a:p>
        </p:txBody>
      </p:sp>
      <p:sp>
        <p:nvSpPr>
          <p:cNvPr id="40" name="Text 16">
            <a:extLst>
              <a:ext uri="{FF2B5EF4-FFF2-40B4-BE49-F238E27FC236}">
                <a16:creationId xmlns:a16="http://schemas.microsoft.com/office/drawing/2014/main" id="{4924F75A-F3F3-91FD-4C7E-15A1F1074C45}"/>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Thermal comfort: </a:t>
            </a:r>
            <a:r>
              <a:rPr lang="en-US" sz="1050" noProof="0" dirty="0"/>
              <a:t>thermal sensation / preference / clothing</a:t>
            </a:r>
          </a:p>
          <a:p>
            <a:pPr marL="171450" indent="-171450">
              <a:lnSpc>
                <a:spcPct val="100000"/>
              </a:lnSpc>
              <a:spcBef>
                <a:spcPts val="0"/>
              </a:spcBef>
              <a:spcAft>
                <a:spcPts val="0"/>
              </a:spcAft>
              <a:buFont typeface="Arial" panose="020B0604020202020204" pitchFamily="34" charset="0"/>
              <a:buChar char="•"/>
            </a:pPr>
            <a:r>
              <a:rPr lang="en-US" sz="1050" b="1" noProof="0" dirty="0"/>
              <a:t>Engagement: </a:t>
            </a:r>
            <a:r>
              <a:rPr lang="en-US" sz="1050" noProof="0" dirty="0"/>
              <a:t>cognitive, behavioral, emotional engagement</a:t>
            </a:r>
          </a:p>
          <a:p>
            <a:pPr marL="171450" indent="-171450">
              <a:lnSpc>
                <a:spcPct val="100000"/>
              </a:lnSpc>
              <a:spcBef>
                <a:spcPts val="0"/>
              </a:spcBef>
              <a:spcAft>
                <a:spcPts val="0"/>
              </a:spcAft>
              <a:buFont typeface="Arial" panose="020B0604020202020204" pitchFamily="34" charset="0"/>
              <a:buChar char="•"/>
            </a:pPr>
            <a:r>
              <a:rPr lang="en-US" sz="1050" b="1" noProof="0" dirty="0"/>
              <a:t>Emotion: </a:t>
            </a:r>
            <a:r>
              <a:rPr lang="en-US" sz="1050" noProof="0" dirty="0"/>
              <a:t>arousal and valence</a:t>
            </a:r>
          </a:p>
          <a:p>
            <a:pPr marL="171450" indent="-171450">
              <a:lnSpc>
                <a:spcPct val="100000"/>
              </a:lnSpc>
              <a:spcBef>
                <a:spcPts val="0"/>
              </a:spcBef>
              <a:spcAft>
                <a:spcPts val="0"/>
              </a:spcAft>
              <a:buFont typeface="Arial" panose="020B0604020202020204" pitchFamily="34" charset="0"/>
              <a:buChar char="•"/>
            </a:pPr>
            <a:r>
              <a:rPr lang="en-US" sz="1050" b="1" noProof="0" dirty="0"/>
              <a:t>Confidence: </a:t>
            </a:r>
            <a:r>
              <a:rPr lang="en-US" sz="1050" noProof="0" dirty="0"/>
              <a:t>response confidence level</a:t>
            </a:r>
          </a:p>
        </p:txBody>
      </p:sp>
    </p:spTree>
    <p:extLst>
      <p:ext uri="{BB962C8B-B14F-4D97-AF65-F5344CB8AC3E}">
        <p14:creationId xmlns:p14="http://schemas.microsoft.com/office/powerpoint/2010/main" val="42888350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FBB4A-CCE4-5784-31D9-1E819FD1B903}"/>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6D8123C6-0375-5C94-877E-38916E72629C}"/>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69</a:t>
            </a:fld>
            <a:endParaRPr lang="en-US" noProof="0" dirty="0">
              <a:latin typeface="+mn-lt"/>
            </a:endParaRPr>
          </a:p>
        </p:txBody>
      </p:sp>
      <p:sp>
        <p:nvSpPr>
          <p:cNvPr id="26" name="Shape 2">
            <a:extLst>
              <a:ext uri="{FF2B5EF4-FFF2-40B4-BE49-F238E27FC236}">
                <a16:creationId xmlns:a16="http://schemas.microsoft.com/office/drawing/2014/main" id="{7F554BEA-0253-88AC-889C-B36CEA53320F}"/>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50D4C3C0-0209-57A4-067A-ECB31BF76D9B}"/>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3F4E5620-0E8D-A8D4-1F27-94F9BF7A92A8}"/>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1707528D-E649-46CE-F7F0-FDC391889D7A}"/>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4ACF3772-97C4-4E72-A98E-CB7593BEBA18}"/>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F9C4FBA7-8068-5D0B-1996-5059C011A380}"/>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9B6BB1D8-2356-515B-2B22-F61D301163E2}"/>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25C23C27-6E77-B3BD-9ED8-44A13C407B86}"/>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0ABD413E-C779-A921-AFA8-2FC39FD92BF3}"/>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64D161A0-D14E-C3B4-CD0E-BD5CBCFDF64E}"/>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Personal Thermal Comfort Models with Wearable Sensors</a:t>
            </a:r>
          </a:p>
        </p:txBody>
      </p:sp>
      <p:sp>
        <p:nvSpPr>
          <p:cNvPr id="38" name="Text 14">
            <a:extLst>
              <a:ext uri="{FF2B5EF4-FFF2-40B4-BE49-F238E27FC236}">
                <a16:creationId xmlns:a16="http://schemas.microsoft.com/office/drawing/2014/main" id="{04A1B3D9-77CD-8057-BE5D-5200FD83EC83}"/>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CECB6BBA-22DE-61B4-D6D1-22EB4D556B92}"/>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Wearables: </a:t>
            </a:r>
            <a:r>
              <a:rPr lang="en-US" sz="1050" noProof="0" dirty="0"/>
              <a:t>accelerometer, electrodermal activity, HR sensor, skin temperature</a:t>
            </a:r>
          </a:p>
          <a:p>
            <a:pPr marL="171450" indent="-171450">
              <a:lnSpc>
                <a:spcPct val="100000"/>
              </a:lnSpc>
              <a:spcBef>
                <a:spcPts val="0"/>
              </a:spcBef>
              <a:spcAft>
                <a:spcPts val="0"/>
              </a:spcAft>
              <a:buFont typeface="Arial" panose="020B0604020202020204" pitchFamily="34" charset="0"/>
              <a:buChar char="•"/>
            </a:pPr>
            <a:r>
              <a:rPr lang="en-US" sz="1050" b="1" noProof="0" dirty="0"/>
              <a:t>Classroom IEQ: </a:t>
            </a:r>
            <a:r>
              <a:rPr lang="en-US" sz="1050" noProof="0" dirty="0"/>
              <a:t>indoor temperature, HR, CO2, noise</a:t>
            </a:r>
          </a:p>
          <a:p>
            <a:pPr marL="171450" indent="-171450">
              <a:lnSpc>
                <a:spcPct val="100000"/>
              </a:lnSpc>
              <a:spcBef>
                <a:spcPts val="0"/>
              </a:spcBef>
              <a:spcAft>
                <a:spcPts val="0"/>
              </a:spcAft>
              <a:buFont typeface="Arial" panose="020B0604020202020204" pitchFamily="34" charset="0"/>
              <a:buChar char="•"/>
            </a:pPr>
            <a:r>
              <a:rPr lang="en-US" sz="1050" b="1" noProof="0" dirty="0"/>
              <a:t>Outdoor</a:t>
            </a:r>
            <a:r>
              <a:rPr lang="en-US" sz="1050" noProof="0" dirty="0"/>
              <a:t>: temperature, HR, dewpoint, wind speed and direction, radiation</a:t>
            </a:r>
          </a:p>
          <a:p>
            <a:pPr marL="171450" indent="-171450">
              <a:lnSpc>
                <a:spcPct val="100000"/>
              </a:lnSpc>
              <a:spcBef>
                <a:spcPts val="0"/>
              </a:spcBef>
              <a:spcAft>
                <a:spcPts val="0"/>
              </a:spcAft>
              <a:buFont typeface="Arial" panose="020B0604020202020204" pitchFamily="34" charset="0"/>
              <a:buChar char="•"/>
            </a:pPr>
            <a:r>
              <a:rPr lang="en-US" sz="1050" b="1" noProof="0" dirty="0"/>
              <a:t>Building operation: </a:t>
            </a:r>
            <a:r>
              <a:rPr lang="en-US" sz="1050" noProof="0" dirty="0"/>
              <a:t>cooling/heating (ON/OFF), </a:t>
            </a:r>
          </a:p>
          <a:p>
            <a:pPr marL="171450" indent="-171450">
              <a:lnSpc>
                <a:spcPct val="100000"/>
              </a:lnSpc>
              <a:spcBef>
                <a:spcPts val="0"/>
              </a:spcBef>
              <a:spcAft>
                <a:spcPts val="0"/>
              </a:spcAft>
              <a:buFont typeface="Arial" panose="020B0604020202020204" pitchFamily="34" charset="0"/>
              <a:buChar char="•"/>
            </a:pPr>
            <a:r>
              <a:rPr lang="en-US" sz="1050" b="1" noProof="0" dirty="0"/>
              <a:t>Context: </a:t>
            </a:r>
            <a:r>
              <a:rPr lang="en-US" sz="1050" noProof="0" dirty="0"/>
              <a:t>participant ID, classroom / seating, time, CLO</a:t>
            </a:r>
          </a:p>
          <a:p>
            <a:pPr marL="171450" indent="-171450">
              <a:lnSpc>
                <a:spcPct val="100000"/>
              </a:lnSpc>
              <a:spcBef>
                <a:spcPts val="0"/>
              </a:spcBef>
              <a:spcAft>
                <a:spcPts val="0"/>
              </a:spcAft>
              <a:buFont typeface="Arial" panose="020B0604020202020204" pitchFamily="34" charset="0"/>
              <a:buChar char="•"/>
            </a:pPr>
            <a:r>
              <a:rPr lang="en-US" sz="1050" b="1" noProof="0" dirty="0"/>
              <a:t>Background survey: </a:t>
            </a:r>
            <a:r>
              <a:rPr lang="en-US" sz="1050" noProof="0" dirty="0"/>
              <a:t>age, gender, class group, general thermal comfort</a:t>
            </a:r>
          </a:p>
        </p:txBody>
      </p:sp>
      <p:sp>
        <p:nvSpPr>
          <p:cNvPr id="40" name="Text 16">
            <a:extLst>
              <a:ext uri="{FF2B5EF4-FFF2-40B4-BE49-F238E27FC236}">
                <a16:creationId xmlns:a16="http://schemas.microsoft.com/office/drawing/2014/main" id="{3044C592-B5BE-AC77-F677-6E7063A703BF}"/>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Thermal comfort: </a:t>
            </a:r>
            <a:r>
              <a:rPr lang="en-US" sz="1050" noProof="0" dirty="0"/>
              <a:t>thermal sensation / preference / clothing</a:t>
            </a:r>
          </a:p>
          <a:p>
            <a:pPr marL="171450" indent="-171450">
              <a:lnSpc>
                <a:spcPct val="100000"/>
              </a:lnSpc>
              <a:spcBef>
                <a:spcPts val="0"/>
              </a:spcBef>
              <a:spcAft>
                <a:spcPts val="0"/>
              </a:spcAft>
              <a:buFont typeface="Arial" panose="020B0604020202020204" pitchFamily="34" charset="0"/>
              <a:buChar char="•"/>
            </a:pPr>
            <a:r>
              <a:rPr lang="en-US" sz="1050" b="1" noProof="0" dirty="0"/>
              <a:t>Engagement: </a:t>
            </a:r>
            <a:r>
              <a:rPr lang="en-US" sz="1050" noProof="0" dirty="0"/>
              <a:t>cognitive, behavioral, emotional engagement</a:t>
            </a:r>
          </a:p>
        </p:txBody>
      </p:sp>
      <p:sp>
        <p:nvSpPr>
          <p:cNvPr id="2" name="Text 12">
            <a:extLst>
              <a:ext uri="{FF2B5EF4-FFF2-40B4-BE49-F238E27FC236}">
                <a16:creationId xmlns:a16="http://schemas.microsoft.com/office/drawing/2014/main" id="{D1B3766C-AADF-E6A4-6BE5-3D6C436F0BD4}"/>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14 adults|&gt;20 h/day </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wearable physiology | indoor thermal environment | thermal preference votes | participant metadata</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2-4 weeks</a:t>
            </a:r>
          </a:p>
        </p:txBody>
      </p:sp>
    </p:spTree>
    <p:extLst>
      <p:ext uri="{BB962C8B-B14F-4D97-AF65-F5344CB8AC3E}">
        <p14:creationId xmlns:p14="http://schemas.microsoft.com/office/powerpoint/2010/main" val="13336808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A9744-BE37-8E7C-6B60-F4F19886B735}"/>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B276EB4-3321-CEF7-E50A-3971D160F894}"/>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70</a:t>
            </a:fld>
            <a:endParaRPr lang="en-US" noProof="0" dirty="0">
              <a:latin typeface="+mn-lt"/>
            </a:endParaRPr>
          </a:p>
        </p:txBody>
      </p:sp>
      <p:sp>
        <p:nvSpPr>
          <p:cNvPr id="26" name="Shape 2">
            <a:extLst>
              <a:ext uri="{FF2B5EF4-FFF2-40B4-BE49-F238E27FC236}">
                <a16:creationId xmlns:a16="http://schemas.microsoft.com/office/drawing/2014/main" id="{BE3F820D-8CE5-75A1-4AA6-F4EC84C3F464}"/>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6B39E3DC-A00D-209C-1452-9624FD40A532}"/>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01F144B6-7257-AA04-9D84-3951DC06502F}"/>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C0291A20-2DB8-23C3-3732-0E8DD96C51ED}"/>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7D7D3D01-9702-C672-969C-CE133601ADCE}"/>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7C2CC3E3-B896-ADAE-E181-672D2ABA4A4E}"/>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1202C929-3323-699D-11C6-D653DFFD32CF}"/>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4A543216-9C32-21D2-6AE4-B883624923BA}"/>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5CA5F90A-5B43-CA39-94CF-8BAFDA093FF2}"/>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4865843F-76BD-EC43-4FDE-0CC48F89FD4C}"/>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Urban Comfort / </a:t>
            </a:r>
            <a:r>
              <a:rPr lang="en-US" sz="1350" b="1" noProof="0" dirty="0" err="1">
                <a:solidFill>
                  <a:srgbClr val="FFFFFF"/>
                </a:solidFill>
                <a:cs typeface="Arial" pitchFamily="34" charset="-120"/>
              </a:rPr>
              <a:t>AirSpecs</a:t>
            </a:r>
            <a:r>
              <a:rPr lang="en-US" sz="1350" b="1" noProof="0" dirty="0">
                <a:solidFill>
                  <a:srgbClr val="FFFFFF"/>
                </a:solidFill>
                <a:cs typeface="Arial" pitchFamily="34" charset="-120"/>
              </a:rPr>
              <a:t> Dataset</a:t>
            </a:r>
          </a:p>
        </p:txBody>
      </p:sp>
      <p:sp>
        <p:nvSpPr>
          <p:cNvPr id="38" name="Text 14">
            <a:extLst>
              <a:ext uri="{FF2B5EF4-FFF2-40B4-BE49-F238E27FC236}">
                <a16:creationId xmlns:a16="http://schemas.microsoft.com/office/drawing/2014/main" id="{3D788058-B49D-C113-A592-66AD11707AC3}"/>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D732F2A6-9913-0FD2-8B87-120964E5C093}"/>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Wearables / phones:</a:t>
            </a:r>
            <a:r>
              <a:rPr lang="en-US" sz="1050" noProof="0" dirty="0">
                <a:sym typeface="Wingdings" panose="05000000000000000000" pitchFamily="2" charset="2"/>
              </a:rPr>
              <a:t> motion, HR, blood volume pulse, skin temperature, dermal electroactivity</a:t>
            </a:r>
            <a:endParaRPr lang="en-US" sz="1050" noProof="0" dirty="0"/>
          </a:p>
          <a:p>
            <a:pPr marL="171450" indent="-171450">
              <a:lnSpc>
                <a:spcPct val="100000"/>
              </a:lnSpc>
              <a:spcBef>
                <a:spcPts val="0"/>
              </a:spcBef>
              <a:spcAft>
                <a:spcPts val="0"/>
              </a:spcAft>
              <a:buFont typeface="Arial" panose="020B0604020202020204" pitchFamily="34" charset="0"/>
              <a:buChar char="•"/>
            </a:pPr>
            <a:r>
              <a:rPr lang="en-US" sz="1050" b="1" noProof="0" dirty="0" err="1"/>
              <a:t>AirSpecs</a:t>
            </a:r>
            <a:r>
              <a:rPr lang="en-US" sz="1050" b="1" noProof="0" dirty="0"/>
              <a:t> glasses: </a:t>
            </a:r>
            <a:r>
              <a:rPr lang="en-US" sz="1050" noProof="0" dirty="0"/>
              <a:t>blinking, illumination and visual spectrum, audio, </a:t>
            </a:r>
            <a:r>
              <a:rPr lang="en-US" sz="1050" noProof="0" dirty="0" err="1"/>
              <a:t>preasure</a:t>
            </a:r>
            <a:r>
              <a:rPr lang="en-US" sz="1050" noProof="0" dirty="0"/>
              <a:t>, HR, temperature, VOC,  </a:t>
            </a:r>
          </a:p>
          <a:p>
            <a:pPr marL="171450" indent="-171450">
              <a:lnSpc>
                <a:spcPct val="100000"/>
              </a:lnSpc>
              <a:spcBef>
                <a:spcPts val="0"/>
              </a:spcBef>
              <a:spcAft>
                <a:spcPts val="0"/>
              </a:spcAft>
              <a:buFont typeface="Arial" panose="020B0604020202020204" pitchFamily="34" charset="0"/>
              <a:buChar char="•"/>
            </a:pPr>
            <a:r>
              <a:rPr lang="en-US" sz="1050" b="1" noProof="0" dirty="0"/>
              <a:t>Context: </a:t>
            </a:r>
            <a:r>
              <a:rPr lang="en-US" sz="1050" noProof="0" dirty="0"/>
              <a:t>site, timestamp, participant ID, reaction times, UI clicks</a:t>
            </a:r>
          </a:p>
          <a:p>
            <a:pPr marL="171450" indent="-171450">
              <a:lnSpc>
                <a:spcPct val="100000"/>
              </a:lnSpc>
              <a:spcBef>
                <a:spcPts val="0"/>
              </a:spcBef>
              <a:spcAft>
                <a:spcPts val="0"/>
              </a:spcAft>
              <a:buFont typeface="Arial" panose="020B0604020202020204" pitchFamily="34" charset="0"/>
              <a:buChar char="•"/>
            </a:pPr>
            <a:endParaRPr lang="en-US" sz="1050" noProof="0" dirty="0"/>
          </a:p>
        </p:txBody>
      </p:sp>
      <p:sp>
        <p:nvSpPr>
          <p:cNvPr id="40" name="Text 16">
            <a:extLst>
              <a:ext uri="{FF2B5EF4-FFF2-40B4-BE49-F238E27FC236}">
                <a16:creationId xmlns:a16="http://schemas.microsoft.com/office/drawing/2014/main" id="{0948180E-0842-6F07-0A1C-B56B2102BA38}"/>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Micro-EMA comfort: </a:t>
            </a:r>
            <a:r>
              <a:rPr lang="en-US" sz="1050" noProof="0" dirty="0"/>
              <a:t>comfort, focus level, time perception / flow-related response</a:t>
            </a:r>
          </a:p>
          <a:p>
            <a:pPr marL="171450" indent="-171450">
              <a:lnSpc>
                <a:spcPct val="100000"/>
              </a:lnSpc>
              <a:spcBef>
                <a:spcPts val="0"/>
              </a:spcBef>
              <a:spcAft>
                <a:spcPts val="0"/>
              </a:spcAft>
              <a:buFont typeface="Arial" panose="020B0604020202020204" pitchFamily="34" charset="0"/>
              <a:buChar char="•"/>
            </a:pPr>
            <a:r>
              <a:rPr lang="en-US" sz="1050" b="1" noProof="0" dirty="0"/>
              <a:t>Subjective perception: </a:t>
            </a:r>
            <a:r>
              <a:rPr lang="en-US" sz="1050" noProof="0" dirty="0"/>
              <a:t>environmental and contextual surveys</a:t>
            </a:r>
          </a:p>
        </p:txBody>
      </p:sp>
      <p:sp>
        <p:nvSpPr>
          <p:cNvPr id="2" name="Text 12">
            <a:extLst>
              <a:ext uri="{FF2B5EF4-FFF2-40B4-BE49-F238E27FC236}">
                <a16:creationId xmlns:a16="http://schemas.microsoft.com/office/drawing/2014/main" id="{2AA159EF-3FD4-94E4-ECC3-6101A266EF1E}"/>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30 participants | 3 cities (Boston, Fribourg, Singapore) | 5 working days each</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wearable physiology | local environment | micro-EMA surveys | interaction logs</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Mar-Jul 2023; 5-day campaigns per site</a:t>
            </a:r>
          </a:p>
        </p:txBody>
      </p:sp>
    </p:spTree>
    <p:extLst>
      <p:ext uri="{BB962C8B-B14F-4D97-AF65-F5344CB8AC3E}">
        <p14:creationId xmlns:p14="http://schemas.microsoft.com/office/powerpoint/2010/main" val="616703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0059-9B03-0B90-056E-9CA6EDB5FDC1}"/>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F6F235E6-9ABF-8E6C-0544-7719B875841F}"/>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71</a:t>
            </a:fld>
            <a:endParaRPr lang="en-US" noProof="0" dirty="0">
              <a:latin typeface="+mn-lt"/>
            </a:endParaRPr>
          </a:p>
        </p:txBody>
      </p:sp>
      <p:sp>
        <p:nvSpPr>
          <p:cNvPr id="26" name="Shape 2">
            <a:extLst>
              <a:ext uri="{FF2B5EF4-FFF2-40B4-BE49-F238E27FC236}">
                <a16:creationId xmlns:a16="http://schemas.microsoft.com/office/drawing/2014/main" id="{23685E36-71C3-3504-C245-38BD8F14FC3E}"/>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0EB8E83B-CFA2-E029-A449-A72B8C90CC00}"/>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63FD7205-011E-73DB-393A-C5ADCF6E9511}"/>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A4CF5C82-DAA1-E7A4-D9D1-685E43394806}"/>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651C478F-ABE8-E3DA-A364-33A64B0EFD2F}"/>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B41D292E-26DE-DE32-8D95-D74564634E69}"/>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41D67E13-3799-A98E-987F-F1E3D0471C46}"/>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851C7CCA-D337-E647-283F-ABAF5AECA7DC}"/>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45DD3D39-E28E-98B4-D087-49E836B49300}"/>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5ECF3B97-7EB9-AC3C-2067-5B7BA5306AFC}"/>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Personal comfort models based on a 6-month experiment using environmental parameters and data from</a:t>
            </a:r>
          </a:p>
        </p:txBody>
      </p:sp>
      <p:sp>
        <p:nvSpPr>
          <p:cNvPr id="38" name="Text 14">
            <a:extLst>
              <a:ext uri="{FF2B5EF4-FFF2-40B4-BE49-F238E27FC236}">
                <a16:creationId xmlns:a16="http://schemas.microsoft.com/office/drawing/2014/main" id="{249DCD0C-47C1-3E26-7AFC-56FD6275A6F9}"/>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52F43ECA-CCE1-4A09-726A-DC8B3F0EF705}"/>
              </a:ext>
            </a:extLst>
          </p:cNvPr>
          <p:cNvSpPr/>
          <p:nvPr/>
        </p:nvSpPr>
        <p:spPr>
          <a:xfrm>
            <a:off x="466344" y="2626614"/>
            <a:ext cx="3806190" cy="2057400"/>
          </a:xfrm>
          <a:prstGeom prst="rect">
            <a:avLst/>
          </a:prstGeom>
          <a:noFill/>
          <a:ln/>
        </p:spPr>
        <p:txBody>
          <a:bodyPr wrap="square" lIns="0" tIns="0" rIns="0" bIns="0" rtlCol="0" anchor="t">
            <a:noAutofit/>
          </a:bodyPr>
          <a:lstStyle/>
          <a:p>
            <a:pPr lvl="0" algn="just" eaLnBrk="0" fontAlgn="base" hangingPunct="0">
              <a:spcBef>
                <a:spcPct val="0"/>
              </a:spcBef>
              <a:spcAft>
                <a:spcPct val="0"/>
              </a:spcAft>
              <a:buFontTx/>
              <a:buChar char="•"/>
            </a:pPr>
            <a:r>
              <a:rPr lang="en-US" sz="1000" b="1" noProof="0" dirty="0"/>
              <a:t>Wearables:</a:t>
            </a:r>
            <a:r>
              <a:rPr lang="en-US" sz="1000" noProof="0" dirty="0"/>
              <a:t> heart rate, wrist skin temperature, wrist near-body temperature </a:t>
            </a:r>
          </a:p>
          <a:p>
            <a:pPr lvl="0" algn="just" eaLnBrk="0" fontAlgn="base" hangingPunct="0">
              <a:spcBef>
                <a:spcPct val="0"/>
              </a:spcBef>
              <a:spcAft>
                <a:spcPct val="0"/>
              </a:spcAft>
              <a:buFontTx/>
              <a:buChar char="•"/>
            </a:pPr>
            <a:r>
              <a:rPr lang="en-US" sz="1000" b="1" noProof="0" dirty="0"/>
              <a:t>Indoor IEQ:</a:t>
            </a:r>
            <a:r>
              <a:rPr lang="en-US" sz="1000" noProof="0" dirty="0"/>
              <a:t> indoor air temperature, indoor humidity ratio, indoor location near sensor (Home / Work / Portable), perceived air movement </a:t>
            </a:r>
          </a:p>
          <a:p>
            <a:pPr lvl="0" algn="just" eaLnBrk="0" fontAlgn="base" hangingPunct="0">
              <a:spcBef>
                <a:spcPct val="0"/>
              </a:spcBef>
              <a:spcAft>
                <a:spcPct val="0"/>
              </a:spcAft>
              <a:buFontTx/>
              <a:buChar char="•"/>
            </a:pPr>
            <a:r>
              <a:rPr lang="en-US" sz="1000" b="1" noProof="0" dirty="0"/>
              <a:t>Outdoor weather:</a:t>
            </a:r>
            <a:r>
              <a:rPr lang="en-US" sz="1000" noProof="0" dirty="0"/>
              <a:t> outdoor air temperature, outdoor humidity ratio, GPS-matched weather data; historical weather aggregates were also derived for modeling </a:t>
            </a:r>
          </a:p>
          <a:p>
            <a:pPr lvl="0" algn="just" eaLnBrk="0" fontAlgn="base" hangingPunct="0">
              <a:spcBef>
                <a:spcPct val="0"/>
              </a:spcBef>
              <a:spcAft>
                <a:spcPct val="0"/>
              </a:spcAft>
              <a:buFontTx/>
              <a:buChar char="•"/>
            </a:pPr>
            <a:r>
              <a:rPr lang="en-US" sz="1000" b="1" noProof="0" dirty="0"/>
              <a:t>Clothing &amp; activity:</a:t>
            </a:r>
            <a:r>
              <a:rPr lang="en-US" sz="1000" noProof="0" dirty="0"/>
              <a:t> clothing level, activity in last 10 min, steady-state vs transitory condition </a:t>
            </a:r>
          </a:p>
          <a:p>
            <a:pPr lvl="0" algn="just" eaLnBrk="0" fontAlgn="base" hangingPunct="0">
              <a:spcBef>
                <a:spcPct val="0"/>
              </a:spcBef>
              <a:spcAft>
                <a:spcPct val="0"/>
              </a:spcAft>
              <a:buFontTx/>
              <a:buChar char="•"/>
            </a:pPr>
            <a:r>
              <a:rPr lang="en-US" sz="1000" b="1" noProof="0" dirty="0"/>
              <a:t>Time/context:</a:t>
            </a:r>
            <a:r>
              <a:rPr lang="en-US" sz="1000" noProof="0" dirty="0"/>
              <a:t> hour of day, day of week, weekday/weekend, indoors/outdoors, sensor proximity, historical moving averages and gradients over prior 20 / 60 min for wearable and environmental variables </a:t>
            </a:r>
          </a:p>
          <a:p>
            <a:pPr lvl="0" algn="just" eaLnBrk="0" fontAlgn="base" hangingPunct="0">
              <a:spcBef>
                <a:spcPct val="0"/>
              </a:spcBef>
              <a:spcAft>
                <a:spcPct val="0"/>
              </a:spcAft>
              <a:buFontTx/>
              <a:buChar char="•"/>
            </a:pPr>
            <a:r>
              <a:rPr lang="en-US" sz="1000" b="1" noProof="0" dirty="0"/>
              <a:t>Participant metadata:</a:t>
            </a:r>
            <a:r>
              <a:rPr lang="en-US" sz="1000" noProof="0" dirty="0"/>
              <a:t> sex, age, education, BMI </a:t>
            </a:r>
          </a:p>
        </p:txBody>
      </p:sp>
      <p:sp>
        <p:nvSpPr>
          <p:cNvPr id="40" name="Text 16">
            <a:extLst>
              <a:ext uri="{FF2B5EF4-FFF2-40B4-BE49-F238E27FC236}">
                <a16:creationId xmlns:a16="http://schemas.microsoft.com/office/drawing/2014/main" id="{B2CD7C4A-A997-769E-3A6A-9EDC7D1BFC9C}"/>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Thermal preference:</a:t>
            </a:r>
            <a:r>
              <a:rPr lang="en-US" sz="1050" noProof="0" dirty="0"/>
              <a:t> warmer / no change / cooler</a:t>
            </a:r>
          </a:p>
        </p:txBody>
      </p:sp>
      <p:sp>
        <p:nvSpPr>
          <p:cNvPr id="2" name="Text 12">
            <a:extLst>
              <a:ext uri="{FF2B5EF4-FFF2-40B4-BE49-F238E27FC236}">
                <a16:creationId xmlns:a16="http://schemas.microsoft.com/office/drawing/2014/main" id="{9AE6F0DC-ED1C-AA6F-191A-70D6057A6E3A}"/>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a:t>
            </a:r>
            <a:r>
              <a:rPr lang="en-US" sz="1100" noProof="0" dirty="0"/>
              <a:t> 20 adults (10 male, 10 female) | 180 days | &gt;1080 field surveys per participant | homes + offices in Singapore</a:t>
            </a:r>
          </a:p>
          <a:p>
            <a:pPr marL="171450" indent="-171450">
              <a:lnSpc>
                <a:spcPct val="100000"/>
              </a:lnSpc>
              <a:spcBef>
                <a:spcPts val="0"/>
              </a:spcBef>
              <a:spcAft>
                <a:spcPts val="0"/>
              </a:spcAft>
              <a:buFont typeface="Arial" panose="020B0604020202020204" pitchFamily="34" charset="0"/>
              <a:buChar char="•"/>
            </a:pPr>
            <a:r>
              <a:rPr lang="en-US" sz="1100" b="1" noProof="0" dirty="0"/>
              <a:t>Data fields:</a:t>
            </a:r>
            <a:r>
              <a:rPr lang="en-US" sz="1100" noProof="0" dirty="0"/>
              <a:t> wearable physiology | indoor thermal environment | outdoor weather | clothing &amp; activity | time/context | participant metadata | thermal preference votes</a:t>
            </a:r>
          </a:p>
          <a:p>
            <a:pPr marL="171450" indent="-171450">
              <a:lnSpc>
                <a:spcPct val="100000"/>
              </a:lnSpc>
              <a:spcBef>
                <a:spcPts val="0"/>
              </a:spcBef>
              <a:spcAft>
                <a:spcPts val="0"/>
              </a:spcAft>
              <a:buFont typeface="Arial" panose="020B0604020202020204" pitchFamily="34" charset="0"/>
              <a:buChar char="•"/>
            </a:pPr>
            <a:r>
              <a:rPr lang="en-US" sz="1100" b="1" noProof="0" dirty="0"/>
              <a:t>Timeframe:</a:t>
            </a:r>
            <a:r>
              <a:rPr lang="en-US" sz="1100" noProof="0" dirty="0"/>
              <a:t> April 2020 – December 2020 | 6-month longitudinal field study</a:t>
            </a:r>
          </a:p>
        </p:txBody>
      </p:sp>
    </p:spTree>
    <p:extLst>
      <p:ext uri="{BB962C8B-B14F-4D97-AF65-F5344CB8AC3E}">
        <p14:creationId xmlns:p14="http://schemas.microsoft.com/office/powerpoint/2010/main" val="16134904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1BA57-6AA2-4374-D6F3-1C92BD9C13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FC8DD6-A0BE-042F-8F00-ABFA3972F346}"/>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E565D12B-187B-CBDA-5452-F653ED4A4A87}"/>
              </a:ext>
            </a:extLst>
          </p:cNvPr>
          <p:cNvSpPr/>
          <p:nvPr/>
        </p:nvSpPr>
        <p:spPr>
          <a:xfrm>
            <a:off x="155050" y="1069848"/>
            <a:ext cx="7680960" cy="457200"/>
          </a:xfrm>
          <a:prstGeom prst="rect">
            <a:avLst/>
          </a:prstGeom>
          <a:noFill/>
          <a:ln/>
        </p:spPr>
        <p:txBody>
          <a:bodyPr wrap="square" rtlCol="0" anchor="ctr"/>
          <a:lstStyle/>
          <a:p>
            <a:pPr marL="0" indent="0">
              <a:buNone/>
            </a:pPr>
            <a:r>
              <a:rPr lang="en-US" sz="2000" b="1" noProof="0" dirty="0">
                <a:solidFill>
                  <a:srgbClr val="E39A12"/>
                </a:solidFill>
                <a:cs typeface="Arial" pitchFamily="34" charset="-120"/>
              </a:rPr>
              <a:t>Wearables</a:t>
            </a:r>
          </a:p>
        </p:txBody>
      </p:sp>
      <p:sp>
        <p:nvSpPr>
          <p:cNvPr id="4" name="Text 2">
            <a:extLst>
              <a:ext uri="{FF2B5EF4-FFF2-40B4-BE49-F238E27FC236}">
                <a16:creationId xmlns:a16="http://schemas.microsoft.com/office/drawing/2014/main" id="{E81F90A5-7CE5-1204-DAA0-2B70B9AA2753}"/>
              </a:ext>
            </a:extLst>
          </p:cNvPr>
          <p:cNvSpPr/>
          <p:nvPr/>
        </p:nvSpPr>
        <p:spPr>
          <a:xfrm>
            <a:off x="731520" y="1554480"/>
            <a:ext cx="7680960" cy="914400"/>
          </a:xfrm>
          <a:prstGeom prst="rect">
            <a:avLst/>
          </a:prstGeom>
          <a:noFill/>
          <a:ln/>
        </p:spPr>
        <p:txBody>
          <a:bodyPr wrap="square" rtlCol="0" anchor="ctr"/>
          <a:lstStyle/>
          <a:p>
            <a:pPr marL="0" indent="0">
              <a:buNone/>
            </a:pPr>
            <a:endParaRPr lang="en-US" sz="3600" noProof="0" dirty="0"/>
          </a:p>
        </p:txBody>
      </p:sp>
      <p:sp>
        <p:nvSpPr>
          <p:cNvPr id="6" name="Shape 4">
            <a:extLst>
              <a:ext uri="{FF2B5EF4-FFF2-40B4-BE49-F238E27FC236}">
                <a16:creationId xmlns:a16="http://schemas.microsoft.com/office/drawing/2014/main" id="{BB752774-F7E2-0C80-43B1-9F65E19C1B58}"/>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0354C314-403E-C67E-2D32-07C333136F12}"/>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
        <p:nvSpPr>
          <p:cNvPr id="12" name="TextBox 11">
            <a:extLst>
              <a:ext uri="{FF2B5EF4-FFF2-40B4-BE49-F238E27FC236}">
                <a16:creationId xmlns:a16="http://schemas.microsoft.com/office/drawing/2014/main" id="{FAC5DD13-0A48-76D0-259E-E4BCB6B7FF0E}"/>
              </a:ext>
            </a:extLst>
          </p:cNvPr>
          <p:cNvSpPr txBox="1"/>
          <p:nvPr/>
        </p:nvSpPr>
        <p:spPr>
          <a:xfrm>
            <a:off x="155050" y="344746"/>
            <a:ext cx="4572000" cy="523220"/>
          </a:xfrm>
          <a:prstGeom prst="rect">
            <a:avLst/>
          </a:prstGeom>
          <a:noFill/>
        </p:spPr>
        <p:txBody>
          <a:bodyPr wrap="square">
            <a:spAutoFit/>
          </a:bodyPr>
          <a:lstStyle/>
          <a:p>
            <a:r>
              <a:rPr lang="en-US" sz="2800" b="1" noProof="0" dirty="0"/>
              <a:t>EVALUATION</a:t>
            </a:r>
          </a:p>
        </p:txBody>
      </p:sp>
      <p:sp>
        <p:nvSpPr>
          <p:cNvPr id="13" name="Shape 2">
            <a:extLst>
              <a:ext uri="{FF2B5EF4-FFF2-40B4-BE49-F238E27FC236}">
                <a16:creationId xmlns:a16="http://schemas.microsoft.com/office/drawing/2014/main" id="{A7C7D5AE-0C7D-CC31-F063-2B6F187E46DB}"/>
              </a:ext>
            </a:extLst>
          </p:cNvPr>
          <p:cNvSpPr/>
          <p:nvPr/>
        </p:nvSpPr>
        <p:spPr>
          <a:xfrm>
            <a:off x="234231" y="1698498"/>
            <a:ext cx="8606790" cy="2111502"/>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14" name="Shape 3">
            <a:extLst>
              <a:ext uri="{FF2B5EF4-FFF2-40B4-BE49-F238E27FC236}">
                <a16:creationId xmlns:a16="http://schemas.microsoft.com/office/drawing/2014/main" id="{54C5D6D5-16FD-768F-9E55-7A1FC4AE05DE}"/>
              </a:ext>
            </a:extLst>
          </p:cNvPr>
          <p:cNvSpPr/>
          <p:nvPr/>
        </p:nvSpPr>
        <p:spPr>
          <a:xfrm>
            <a:off x="254805" y="1780793"/>
            <a:ext cx="48006" cy="1879043"/>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15" name="Text 4">
            <a:extLst>
              <a:ext uri="{FF2B5EF4-FFF2-40B4-BE49-F238E27FC236}">
                <a16:creationId xmlns:a16="http://schemas.microsoft.com/office/drawing/2014/main" id="{605C7F96-6FAE-ED68-FE2F-7CDAAAEDC432}"/>
              </a:ext>
            </a:extLst>
          </p:cNvPr>
          <p:cNvSpPr/>
          <p:nvPr/>
        </p:nvSpPr>
        <p:spPr>
          <a:xfrm>
            <a:off x="357675" y="1753361"/>
            <a:ext cx="8414766" cy="213087"/>
          </a:xfrm>
          <a:prstGeom prst="rect">
            <a:avLst/>
          </a:prstGeom>
          <a:noFill/>
          <a:ln/>
        </p:spPr>
        <p:txBody>
          <a:bodyPr wrap="square" lIns="0" tIns="0" rIns="0" bIns="0" rtlCol="0" anchor="ctr"/>
          <a:lstStyle/>
          <a:p>
            <a:endParaRPr lang="en-US" sz="1050" noProof="0" dirty="0"/>
          </a:p>
        </p:txBody>
      </p:sp>
      <p:sp>
        <p:nvSpPr>
          <p:cNvPr id="16" name="Text 12">
            <a:extLst>
              <a:ext uri="{FF2B5EF4-FFF2-40B4-BE49-F238E27FC236}">
                <a16:creationId xmlns:a16="http://schemas.microsoft.com/office/drawing/2014/main" id="{AD2882BD-252C-88FA-C7A3-75BC182FAC9C}"/>
              </a:ext>
            </a:extLst>
          </p:cNvPr>
          <p:cNvSpPr/>
          <p:nvPr/>
        </p:nvSpPr>
        <p:spPr>
          <a:xfrm>
            <a:off x="439971" y="1904238"/>
            <a:ext cx="8161020" cy="172407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noProof="0" dirty="0"/>
              <a:t>The best data are for thermal comfort only. Multimodal data are only for a few participants.</a:t>
            </a:r>
          </a:p>
          <a:p>
            <a:pPr marL="171450" indent="-171450">
              <a:buFont typeface="Arial" panose="020B0604020202020204" pitchFamily="34" charset="0"/>
              <a:buChar char="•"/>
            </a:pPr>
            <a:endParaRPr lang="en-US" sz="1100" noProof="0" dirty="0"/>
          </a:p>
          <a:p>
            <a:pPr marL="171450" indent="-171450">
              <a:buFont typeface="Arial" panose="020B0604020202020204" pitchFamily="34" charset="0"/>
              <a:buChar char="•"/>
            </a:pPr>
            <a:r>
              <a:rPr lang="en-US" sz="1100" noProof="0" dirty="0"/>
              <a:t>WHAT SENSORS IS IT POSSIBLE TO DROP WHEN USING WEARABLES DATA TO OPERATE HVAC?</a:t>
            </a:r>
          </a:p>
          <a:p>
            <a:pPr marL="171450" indent="-171450">
              <a:buFont typeface="Arial" panose="020B0604020202020204" pitchFamily="34" charset="0"/>
              <a:buChar char="•"/>
            </a:pPr>
            <a:r>
              <a:rPr lang="en-US" sz="1100" noProof="0" dirty="0"/>
              <a:t>HOW MANY FEEDBACKS DO WE NEED FOR PERSONALIZATING THE MODEL? HOW MUCH THE PERSONALIZATION HELP?</a:t>
            </a:r>
          </a:p>
          <a:p>
            <a:pPr marL="171450" indent="-171450">
              <a:buFont typeface="Arial" panose="020B0604020202020204" pitchFamily="34" charset="0"/>
              <a:buChar char="•"/>
            </a:pPr>
            <a:r>
              <a:rPr lang="en-US" sz="1100" noProof="0" dirty="0"/>
              <a:t>IS IT POSSIBLE TO DIFFERENTIATE BETWEEN THERMAL / IAQ / AUCSITC / VISUAL / OTHER STRESSORS?</a:t>
            </a:r>
          </a:p>
          <a:p>
            <a:pPr marL="171450" indent="-171450">
              <a:buFont typeface="Arial" panose="020B0604020202020204" pitchFamily="34" charset="0"/>
              <a:buChar char="•"/>
            </a:pPr>
            <a:endParaRPr lang="en-US" sz="1100" noProof="0" dirty="0">
              <a:sym typeface="Wingdings" panose="05000000000000000000" pitchFamily="2" charset="2"/>
            </a:endParaRPr>
          </a:p>
          <a:p>
            <a:pPr marL="171450" indent="-171450">
              <a:buFont typeface="Arial" panose="020B0604020202020204" pitchFamily="34" charset="0"/>
              <a:buChar char="•"/>
            </a:pPr>
            <a:r>
              <a:rPr lang="en-US" sz="1100" noProof="0" dirty="0">
                <a:sym typeface="Wingdings" panose="05000000000000000000" pitchFamily="2" charset="2"/>
              </a:rPr>
              <a:t>I do not know if there is enough data.</a:t>
            </a:r>
          </a:p>
          <a:p>
            <a:endParaRPr lang="en-US" sz="1100" noProof="0" dirty="0">
              <a:sym typeface="Wingdings" panose="05000000000000000000" pitchFamily="2" charset="2"/>
            </a:endParaRPr>
          </a:p>
        </p:txBody>
      </p:sp>
      <p:sp>
        <p:nvSpPr>
          <p:cNvPr id="17" name="Text 14">
            <a:extLst>
              <a:ext uri="{FF2B5EF4-FFF2-40B4-BE49-F238E27FC236}">
                <a16:creationId xmlns:a16="http://schemas.microsoft.com/office/drawing/2014/main" id="{1DE7B59D-2BBB-A387-F11F-19FFD31E063D}"/>
              </a:ext>
            </a:extLst>
          </p:cNvPr>
          <p:cNvSpPr/>
          <p:nvPr/>
        </p:nvSpPr>
        <p:spPr>
          <a:xfrm>
            <a:off x="439971" y="2802635"/>
            <a:ext cx="8161020" cy="329317"/>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40331067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98C909AA-E68E-FA1C-7CFE-64EBB3723F7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F0AAA2-A63A-7E5B-0874-01E08CCBAC06}"/>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3430FD85-4597-A640-34AF-2C9A1A6B9846}"/>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A4D6E028-BBC5-BF17-A820-ABC44A8C4468}"/>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Sick Building syndrome</a:t>
            </a:r>
            <a:endParaRPr lang="en-US" sz="3600" noProof="0" dirty="0"/>
          </a:p>
        </p:txBody>
      </p:sp>
      <p:sp>
        <p:nvSpPr>
          <p:cNvPr id="5" name="Text 3">
            <a:extLst>
              <a:ext uri="{FF2B5EF4-FFF2-40B4-BE49-F238E27FC236}">
                <a16:creationId xmlns:a16="http://schemas.microsoft.com/office/drawing/2014/main" id="{D8A75465-37FC-95EC-47A3-6C51CBCC358D}"/>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C2BB36A6-20DF-3F01-2A61-9DFFB4F49F13}"/>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10CDD09A-1376-4C7C-8F09-A317C90F6BD1}"/>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16336096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9D81-BF9E-8F3F-FA20-1F289CBF2D70}"/>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DA73C86-A8EB-C944-07AA-73CFAD20AB62}"/>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74</a:t>
            </a:fld>
            <a:endParaRPr lang="en-US" noProof="0" dirty="0">
              <a:latin typeface="+mn-lt"/>
            </a:endParaRPr>
          </a:p>
        </p:txBody>
      </p:sp>
      <p:sp>
        <p:nvSpPr>
          <p:cNvPr id="26" name="Shape 2">
            <a:extLst>
              <a:ext uri="{FF2B5EF4-FFF2-40B4-BE49-F238E27FC236}">
                <a16:creationId xmlns:a16="http://schemas.microsoft.com/office/drawing/2014/main" id="{9464BF9E-F133-D237-06DE-5EE43821EB14}"/>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12C13FAD-288D-424B-521A-6B82D2C77BF7}"/>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54AE712B-A175-AA52-FA48-DFEF98FF5F11}"/>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E4F20B11-DBD5-392A-7499-E68A079447F8}"/>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6CE1B833-64C2-A054-FD44-662B76045A45}"/>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EFED519E-E272-1680-C685-039700E25EC6}"/>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09119455-0CC4-1AC2-7E89-F30E88CD5B79}"/>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195880EE-E81F-6DEC-4A0D-841E44E01690}"/>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C479756C-5AE9-1F48-C538-7410A0A65465}"/>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AAC7B9BC-7C22-82D3-8E2A-AB4399E20100}"/>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EPA BASE Study</a:t>
            </a:r>
          </a:p>
        </p:txBody>
      </p:sp>
      <p:sp>
        <p:nvSpPr>
          <p:cNvPr id="38" name="Text 14">
            <a:extLst>
              <a:ext uri="{FF2B5EF4-FFF2-40B4-BE49-F238E27FC236}">
                <a16:creationId xmlns:a16="http://schemas.microsoft.com/office/drawing/2014/main" id="{864F50DD-3F13-8829-6847-BBA0BC582EF4}"/>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4AC820D2-7FF5-AEF4-DDA5-13DBED19B4C4}"/>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00" b="1" noProof="0" dirty="0"/>
              <a:t>Building / metadata: </a:t>
            </a:r>
            <a:r>
              <a:rPr lang="en-US" sz="1000" noProof="0" dirty="0"/>
              <a:t>age, construction, renovations, use, furnishings, pollutant sources, maintenance, occupancy, study-space characteristics</a:t>
            </a:r>
          </a:p>
          <a:p>
            <a:pPr marL="171450" indent="-171450">
              <a:buFont typeface="Arial" panose="020B0604020202020204" pitchFamily="34" charset="0"/>
              <a:buChar char="•"/>
            </a:pPr>
            <a:r>
              <a:rPr lang="en-US" sz="1000" b="1" noProof="0" dirty="0"/>
              <a:t>HVAC: </a:t>
            </a:r>
            <a:r>
              <a:rPr lang="en-US" sz="1000" noProof="0" dirty="0"/>
              <a:t>system type, design features, maintenance, outdoor air quantity + quality, supply / outdoor airflow, humidification / cooling-coil condition</a:t>
            </a:r>
          </a:p>
          <a:p>
            <a:pPr marL="171450" indent="-171450">
              <a:buFont typeface="Arial" panose="020B0604020202020204" pitchFamily="34" charset="0"/>
              <a:buChar char="•"/>
            </a:pPr>
            <a:r>
              <a:rPr lang="en-US" sz="1000" b="1" noProof="0" dirty="0"/>
              <a:t>Environmental / comfort: </a:t>
            </a:r>
            <a:r>
              <a:rPr lang="en-US" sz="1000" noProof="0" dirty="0"/>
              <a:t>PM10, PM2.5, VOCs (73 species), formaldehyde, bioaerosols / fungi / bacteria, radon, CO2, CO, temperature, RH, sound, light, indoor/outdoor measurements</a:t>
            </a:r>
          </a:p>
          <a:p>
            <a:pPr marL="171450" indent="-171450">
              <a:buFont typeface="Arial" panose="020B0604020202020204" pitchFamily="34" charset="0"/>
              <a:buChar char="•"/>
            </a:pPr>
            <a:r>
              <a:rPr lang="en-US" sz="1000" b="1" noProof="0" dirty="0"/>
              <a:t>Occupant factors: </a:t>
            </a:r>
            <a:r>
              <a:rPr lang="en-US" sz="1000" noProof="0" dirty="0"/>
              <a:t>age, sex, smoking status, job characteristics / basic occupant statistics</a:t>
            </a:r>
          </a:p>
        </p:txBody>
      </p:sp>
      <p:sp>
        <p:nvSpPr>
          <p:cNvPr id="40" name="Text 16">
            <a:extLst>
              <a:ext uri="{FF2B5EF4-FFF2-40B4-BE49-F238E27FC236}">
                <a16:creationId xmlns:a16="http://schemas.microsoft.com/office/drawing/2014/main" id="{5075C2BD-69AA-3B08-20C3-917A0FE06B73}"/>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Health symptoms: </a:t>
            </a:r>
            <a:r>
              <a:rPr lang="en-US" sz="1050" noProof="0" dirty="0"/>
              <a:t>eye, nose, throat irritation; chest tightness / breathing difficulty / cough / wheeze; fatigue; headache; eyestrain; dry / itchy skin</a:t>
            </a:r>
          </a:p>
          <a:p>
            <a:pPr marL="171450" indent="-171450">
              <a:buFont typeface="Arial" panose="020B0604020202020204" pitchFamily="34" charset="0"/>
              <a:buChar char="•"/>
            </a:pPr>
            <a:r>
              <a:rPr lang="en-US" sz="1050" b="1" noProof="0" dirty="0"/>
              <a:t>Perceptions: </a:t>
            </a:r>
            <a:r>
              <a:rPr lang="en-US" sz="1050" noProof="0" dirty="0"/>
              <a:t>indoor air quality perception and complaint-related questionnaire responses</a:t>
            </a:r>
          </a:p>
          <a:p>
            <a:pPr>
              <a:lnSpc>
                <a:spcPct val="100000"/>
              </a:lnSpc>
              <a:spcBef>
                <a:spcPts val="0"/>
              </a:spcBef>
              <a:spcAft>
                <a:spcPts val="0"/>
              </a:spcAft>
            </a:pPr>
            <a:endParaRPr lang="en-US" sz="1050" noProof="0" dirty="0"/>
          </a:p>
        </p:txBody>
      </p:sp>
      <p:sp>
        <p:nvSpPr>
          <p:cNvPr id="2" name="Text 12">
            <a:extLst>
              <a:ext uri="{FF2B5EF4-FFF2-40B4-BE49-F238E27FC236}">
                <a16:creationId xmlns:a16="http://schemas.microsoft.com/office/drawing/2014/main" id="{CF235216-ADEB-7821-64C5-85E25C9BD50B}"/>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100 office buildings | 37 cities | 25 U.S. states | public/commercial offices</a:t>
            </a:r>
            <a:endParaRPr lang="en-US" sz="1100" noProof="0" dirty="0">
              <a:solidFill>
                <a:srgbClr val="364B5F"/>
              </a:solidFill>
              <a:ea typeface="Arial" pitchFamily="34" charset="-122"/>
              <a:cs typeface="Arial" pitchFamily="34" charset="-120"/>
            </a:endParaRPr>
          </a:p>
          <a:p>
            <a:pPr marL="171450" indent="-171450">
              <a:buFont typeface="Arial" panose="020B0604020202020204" pitchFamily="34" charset="0"/>
              <a:buChar char="•"/>
            </a:pPr>
            <a:r>
              <a:rPr lang="en-US" sz="1100" b="1" noProof="0" dirty="0"/>
              <a:t>Data fields: </a:t>
            </a:r>
            <a:r>
              <a:rPr lang="en-US" sz="1100" noProof="0" dirty="0"/>
              <a:t>indoor pollutants | comfort measurements | building + HVAC characterization | occupant symptoms + IAQ perceptions</a:t>
            </a:r>
          </a:p>
          <a:p>
            <a:pPr marL="171450" indent="-171450">
              <a:buFont typeface="Arial" panose="020B0604020202020204" pitchFamily="34" charset="0"/>
              <a:buChar char="•"/>
            </a:pPr>
            <a:r>
              <a:rPr lang="en-US" sz="1100" b="1" noProof="0" dirty="0"/>
              <a:t>Timeframe: </a:t>
            </a:r>
            <a:r>
              <a:rPr lang="en-US" sz="1100" noProof="0" dirty="0"/>
              <a:t>1994–1998 | one-week cross-sectional protocol per building</a:t>
            </a:r>
          </a:p>
        </p:txBody>
      </p:sp>
    </p:spTree>
    <p:extLst>
      <p:ext uri="{BB962C8B-B14F-4D97-AF65-F5344CB8AC3E}">
        <p14:creationId xmlns:p14="http://schemas.microsoft.com/office/powerpoint/2010/main" val="6298487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00E4-8651-7598-009F-A96B08DA4076}"/>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399E4C46-4CEA-1B8F-7C1F-0AD245418E57}"/>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75</a:t>
            </a:fld>
            <a:endParaRPr lang="en-US" noProof="0" dirty="0">
              <a:latin typeface="+mn-lt"/>
            </a:endParaRPr>
          </a:p>
        </p:txBody>
      </p:sp>
      <p:sp>
        <p:nvSpPr>
          <p:cNvPr id="26" name="Shape 2">
            <a:extLst>
              <a:ext uri="{FF2B5EF4-FFF2-40B4-BE49-F238E27FC236}">
                <a16:creationId xmlns:a16="http://schemas.microsoft.com/office/drawing/2014/main" id="{10EB685D-CE06-1162-3715-05601C291A44}"/>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530B6C67-B849-FCE9-3C85-7E764800D871}"/>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8403AD8B-0EF5-1B9E-4C6F-04BE33E604AE}"/>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5A846EE7-1D81-E4AE-6951-59DB822403D5}"/>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B3AAD3D8-C952-03F7-0A2D-5C846A178722}"/>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8F68E4C0-CEE2-AB59-EFEF-3F686D9D76F4}"/>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7E2F49F2-49D9-0EE5-4C77-49B6AEDFB324}"/>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3064D0A6-E23E-062D-3B7C-A8EDE554CB6F}"/>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3F90AA89-3A84-F8F3-218A-98ABE9AF4CBF}"/>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619821D1-0DED-55F0-7EB4-9049A84E53B4}"/>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Bath Green Building / Jordan Dataset</a:t>
            </a:r>
          </a:p>
        </p:txBody>
      </p:sp>
      <p:sp>
        <p:nvSpPr>
          <p:cNvPr id="38" name="Text 14">
            <a:extLst>
              <a:ext uri="{FF2B5EF4-FFF2-40B4-BE49-F238E27FC236}">
                <a16:creationId xmlns:a16="http://schemas.microsoft.com/office/drawing/2014/main" id="{0F929A91-F14E-AB54-311E-27E6FC5BBFA0}"/>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B98193E6-775C-C7A8-0547-7F1703971A09}"/>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00" b="1" noProof="0" dirty="0"/>
              <a:t>Context / metadata: </a:t>
            </a:r>
            <a:r>
              <a:rPr lang="en-US" sz="1000" noProof="0" dirty="0"/>
              <a:t>building phase (conventional vs green), survey round, repeated-measures structure</a:t>
            </a:r>
          </a:p>
          <a:p>
            <a:pPr marL="171450" indent="-171450">
              <a:buFont typeface="Arial" panose="020B0604020202020204" pitchFamily="34" charset="0"/>
              <a:buChar char="•"/>
            </a:pPr>
            <a:r>
              <a:rPr lang="en-US" sz="1000" b="1" noProof="0" dirty="0"/>
              <a:t>Objective IEQ: </a:t>
            </a:r>
            <a:r>
              <a:rPr lang="en-US" sz="1000" noProof="0" dirty="0"/>
              <a:t>temperature, RH, CO2</a:t>
            </a:r>
          </a:p>
          <a:p>
            <a:pPr marL="171450" indent="-171450">
              <a:buFont typeface="Arial" panose="020B0604020202020204" pitchFamily="34" charset="0"/>
              <a:buChar char="•"/>
            </a:pPr>
            <a:r>
              <a:rPr lang="en-US" sz="1000" b="1" noProof="0" dirty="0"/>
              <a:t>Building transition: </a:t>
            </a:r>
            <a:r>
              <a:rPr lang="en-US" sz="1000" noProof="0" dirty="0"/>
              <a:t>move from 4 conventional office buildings to 1 JGBG-certified green building</a:t>
            </a:r>
          </a:p>
          <a:p>
            <a:pPr marL="171450" indent="-171450">
              <a:buFont typeface="Arial" panose="020B0604020202020204" pitchFamily="34" charset="0"/>
              <a:buChar char="•"/>
            </a:pPr>
            <a:r>
              <a:rPr lang="en-US" sz="1000" b="1" noProof="0" dirty="0"/>
              <a:t>Attitudinal / ancillary: </a:t>
            </a:r>
            <a:r>
              <a:rPr lang="en-US" sz="1000" noProof="0" dirty="0"/>
              <a:t>environmental attitude</a:t>
            </a:r>
          </a:p>
        </p:txBody>
      </p:sp>
      <p:sp>
        <p:nvSpPr>
          <p:cNvPr id="40" name="Text 16">
            <a:extLst>
              <a:ext uri="{FF2B5EF4-FFF2-40B4-BE49-F238E27FC236}">
                <a16:creationId xmlns:a16="http://schemas.microsoft.com/office/drawing/2014/main" id="{F0E09F6E-1ADC-5634-E39F-6BEA888E9C5E}"/>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Thermal comfort: </a:t>
            </a:r>
            <a:r>
              <a:rPr lang="en-US" sz="1050" noProof="0" dirty="0"/>
              <a:t>thermal comfort perception and thermal-condition response</a:t>
            </a:r>
          </a:p>
          <a:p>
            <a:pPr marL="171450" indent="-171450">
              <a:buFont typeface="Arial" panose="020B0604020202020204" pitchFamily="34" charset="0"/>
              <a:buChar char="•"/>
            </a:pPr>
            <a:r>
              <a:rPr lang="en-US" sz="1050" b="1" noProof="0" dirty="0"/>
              <a:t>IEQ satisfaction: </a:t>
            </a:r>
            <a:r>
              <a:rPr lang="en-US" sz="1050" noProof="0" dirty="0"/>
              <a:t>air quality, visual comfort, acoustic comfort, </a:t>
            </a:r>
            <a:r>
              <a:rPr lang="en-US" sz="1050" noProof="0" dirty="0" err="1"/>
              <a:t>odour</a:t>
            </a:r>
            <a:r>
              <a:rPr lang="en-US" sz="1050" noProof="0" dirty="0"/>
              <a:t>, glare, mental concentration-related satisfaction</a:t>
            </a:r>
          </a:p>
          <a:p>
            <a:pPr marL="171450" indent="-171450">
              <a:buFont typeface="Arial" panose="020B0604020202020204" pitchFamily="34" charset="0"/>
              <a:buChar char="•"/>
            </a:pPr>
            <a:r>
              <a:rPr lang="en-US" sz="1050" b="1" noProof="0" dirty="0"/>
              <a:t>Health / SBS: </a:t>
            </a:r>
            <a:r>
              <a:rPr lang="en-US" sz="1050" noProof="0" dirty="0"/>
              <a:t>perceived health and sick building syndrome symptoms</a:t>
            </a:r>
          </a:p>
        </p:txBody>
      </p:sp>
      <p:sp>
        <p:nvSpPr>
          <p:cNvPr id="2" name="Text 12">
            <a:extLst>
              <a:ext uri="{FF2B5EF4-FFF2-40B4-BE49-F238E27FC236}">
                <a16:creationId xmlns:a16="http://schemas.microsoft.com/office/drawing/2014/main" id="{C2B5769B-4101-16B6-5F10-1191EC7A98F2}"/>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120 employees | 5 office buildings (4 conventional → 1 green) | Amman, Jordan</a:t>
            </a:r>
            <a:endParaRPr lang="en-US" sz="1100" noProof="0" dirty="0">
              <a:solidFill>
                <a:srgbClr val="364B5F"/>
              </a:solidFill>
              <a:ea typeface="Arial" pitchFamily="34" charset="-122"/>
              <a:cs typeface="Arial" pitchFamily="34" charset="-120"/>
            </a:endParaRPr>
          </a:p>
          <a:p>
            <a:pPr marL="171450" indent="-171450">
              <a:buFont typeface="Arial" panose="020B0604020202020204" pitchFamily="34" charset="0"/>
              <a:buChar char="•"/>
            </a:pPr>
            <a:r>
              <a:rPr lang="en-US" sz="1100" b="1" noProof="0" dirty="0"/>
              <a:t>Data fields: </a:t>
            </a:r>
            <a:r>
              <a:rPr lang="en-US" sz="1100" noProof="0" dirty="0"/>
              <a:t>longitudinal thermal + CO2 sensors | cross-sectional thermal measurements | IEQ satisfaction + thermal comfort + SBS | environmental attitude inventory</a:t>
            </a:r>
          </a:p>
          <a:p>
            <a:pPr marL="171450" indent="-171450">
              <a:buFont typeface="Arial" panose="020B0604020202020204" pitchFamily="34" charset="0"/>
              <a:buChar char="•"/>
            </a:pPr>
            <a:r>
              <a:rPr lang="en-US" sz="1100" b="1" noProof="0" dirty="0"/>
              <a:t>Timeframe: </a:t>
            </a:r>
            <a:r>
              <a:rPr lang="en-US" sz="1100" noProof="0" dirty="0"/>
              <a:t>15 Jul 2017 – 15 Feb 2019 | 3 rounds (pre-move, post-move +6 months, +12 months)</a:t>
            </a:r>
          </a:p>
        </p:txBody>
      </p:sp>
    </p:spTree>
    <p:extLst>
      <p:ext uri="{BB962C8B-B14F-4D97-AF65-F5344CB8AC3E}">
        <p14:creationId xmlns:p14="http://schemas.microsoft.com/office/powerpoint/2010/main" val="7276509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9542-4293-40DA-A994-6ECB05971E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A9C01B-E821-0AB6-FBC1-7CB1ED02EF27}"/>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FA44E8D6-8C34-F41D-690C-C43CBC7EE5A8}"/>
              </a:ext>
            </a:extLst>
          </p:cNvPr>
          <p:cNvSpPr/>
          <p:nvPr/>
        </p:nvSpPr>
        <p:spPr>
          <a:xfrm>
            <a:off x="155050" y="1069848"/>
            <a:ext cx="7680960" cy="457200"/>
          </a:xfrm>
          <a:prstGeom prst="rect">
            <a:avLst/>
          </a:prstGeom>
          <a:noFill/>
          <a:ln/>
        </p:spPr>
        <p:txBody>
          <a:bodyPr wrap="square" rtlCol="0" anchor="ctr"/>
          <a:lstStyle/>
          <a:p>
            <a:pPr marL="0" indent="0">
              <a:buNone/>
            </a:pPr>
            <a:r>
              <a:rPr lang="en-US" sz="2000" b="1" noProof="0" dirty="0">
                <a:solidFill>
                  <a:srgbClr val="E39A12"/>
                </a:solidFill>
                <a:cs typeface="Arial" pitchFamily="34" charset="-120"/>
              </a:rPr>
              <a:t>Sick building syndrome</a:t>
            </a:r>
          </a:p>
        </p:txBody>
      </p:sp>
      <p:sp>
        <p:nvSpPr>
          <p:cNvPr id="4" name="Text 2">
            <a:extLst>
              <a:ext uri="{FF2B5EF4-FFF2-40B4-BE49-F238E27FC236}">
                <a16:creationId xmlns:a16="http://schemas.microsoft.com/office/drawing/2014/main" id="{458AF7C4-3534-E3E2-6109-BF8422E2EDCC}"/>
              </a:ext>
            </a:extLst>
          </p:cNvPr>
          <p:cNvSpPr/>
          <p:nvPr/>
        </p:nvSpPr>
        <p:spPr>
          <a:xfrm>
            <a:off x="731520" y="1554480"/>
            <a:ext cx="7680960" cy="914400"/>
          </a:xfrm>
          <a:prstGeom prst="rect">
            <a:avLst/>
          </a:prstGeom>
          <a:noFill/>
          <a:ln/>
        </p:spPr>
        <p:txBody>
          <a:bodyPr wrap="square" rtlCol="0" anchor="ctr"/>
          <a:lstStyle/>
          <a:p>
            <a:pPr marL="0" indent="0">
              <a:buNone/>
            </a:pPr>
            <a:endParaRPr lang="en-US" sz="3600" noProof="0" dirty="0"/>
          </a:p>
        </p:txBody>
      </p:sp>
      <p:sp>
        <p:nvSpPr>
          <p:cNvPr id="6" name="Shape 4">
            <a:extLst>
              <a:ext uri="{FF2B5EF4-FFF2-40B4-BE49-F238E27FC236}">
                <a16:creationId xmlns:a16="http://schemas.microsoft.com/office/drawing/2014/main" id="{DE2A9BC6-07E7-1329-2BE3-8124612685DF}"/>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C707FEF6-E937-1A2F-B791-7489DF300699}"/>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
        <p:nvSpPr>
          <p:cNvPr id="12" name="TextBox 11">
            <a:extLst>
              <a:ext uri="{FF2B5EF4-FFF2-40B4-BE49-F238E27FC236}">
                <a16:creationId xmlns:a16="http://schemas.microsoft.com/office/drawing/2014/main" id="{9795D262-D003-2854-59C7-EFEB2D6150F1}"/>
              </a:ext>
            </a:extLst>
          </p:cNvPr>
          <p:cNvSpPr txBox="1"/>
          <p:nvPr/>
        </p:nvSpPr>
        <p:spPr>
          <a:xfrm>
            <a:off x="155050" y="344746"/>
            <a:ext cx="4572000" cy="523220"/>
          </a:xfrm>
          <a:prstGeom prst="rect">
            <a:avLst/>
          </a:prstGeom>
          <a:noFill/>
        </p:spPr>
        <p:txBody>
          <a:bodyPr wrap="square">
            <a:spAutoFit/>
          </a:bodyPr>
          <a:lstStyle/>
          <a:p>
            <a:r>
              <a:rPr lang="en-US" sz="2800" b="1" noProof="0" dirty="0"/>
              <a:t>EVALUATION</a:t>
            </a:r>
          </a:p>
        </p:txBody>
      </p:sp>
      <p:sp>
        <p:nvSpPr>
          <p:cNvPr id="13" name="Shape 2">
            <a:extLst>
              <a:ext uri="{FF2B5EF4-FFF2-40B4-BE49-F238E27FC236}">
                <a16:creationId xmlns:a16="http://schemas.microsoft.com/office/drawing/2014/main" id="{8DFC32C3-F679-01DA-50B3-BE85DBEB1CCD}"/>
              </a:ext>
            </a:extLst>
          </p:cNvPr>
          <p:cNvSpPr/>
          <p:nvPr/>
        </p:nvSpPr>
        <p:spPr>
          <a:xfrm>
            <a:off x="234231" y="1698498"/>
            <a:ext cx="8606790" cy="2111502"/>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14" name="Shape 3">
            <a:extLst>
              <a:ext uri="{FF2B5EF4-FFF2-40B4-BE49-F238E27FC236}">
                <a16:creationId xmlns:a16="http://schemas.microsoft.com/office/drawing/2014/main" id="{F5F0C162-10EA-6C2A-A6B4-9A7AC37F7E8A}"/>
              </a:ext>
            </a:extLst>
          </p:cNvPr>
          <p:cNvSpPr/>
          <p:nvPr/>
        </p:nvSpPr>
        <p:spPr>
          <a:xfrm>
            <a:off x="254805" y="1780793"/>
            <a:ext cx="48006" cy="1879043"/>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15" name="Text 4">
            <a:extLst>
              <a:ext uri="{FF2B5EF4-FFF2-40B4-BE49-F238E27FC236}">
                <a16:creationId xmlns:a16="http://schemas.microsoft.com/office/drawing/2014/main" id="{8ADA8CAD-C528-0424-A528-54BE31F5721D}"/>
              </a:ext>
            </a:extLst>
          </p:cNvPr>
          <p:cNvSpPr/>
          <p:nvPr/>
        </p:nvSpPr>
        <p:spPr>
          <a:xfrm>
            <a:off x="357675" y="1753361"/>
            <a:ext cx="8414766" cy="213087"/>
          </a:xfrm>
          <a:prstGeom prst="rect">
            <a:avLst/>
          </a:prstGeom>
          <a:noFill/>
          <a:ln/>
        </p:spPr>
        <p:txBody>
          <a:bodyPr wrap="square" lIns="0" tIns="0" rIns="0" bIns="0" rtlCol="0" anchor="ctr"/>
          <a:lstStyle/>
          <a:p>
            <a:endParaRPr lang="en-US" sz="1050" noProof="0" dirty="0"/>
          </a:p>
        </p:txBody>
      </p:sp>
      <p:sp>
        <p:nvSpPr>
          <p:cNvPr id="16" name="Text 12">
            <a:extLst>
              <a:ext uri="{FF2B5EF4-FFF2-40B4-BE49-F238E27FC236}">
                <a16:creationId xmlns:a16="http://schemas.microsoft.com/office/drawing/2014/main" id="{39694430-CEA0-B587-264F-E96F3609CEBC}"/>
              </a:ext>
            </a:extLst>
          </p:cNvPr>
          <p:cNvSpPr/>
          <p:nvPr/>
        </p:nvSpPr>
        <p:spPr>
          <a:xfrm>
            <a:off x="439971" y="1904238"/>
            <a:ext cx="8161020" cy="172407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noProof="0" dirty="0"/>
              <a:t>There are quite a lot of data. </a:t>
            </a:r>
          </a:p>
          <a:p>
            <a:pPr marL="171450" indent="-171450">
              <a:buFont typeface="Arial" panose="020B0604020202020204" pitchFamily="34" charset="0"/>
              <a:buChar char="•"/>
            </a:pPr>
            <a:endParaRPr lang="en-US" sz="1100" noProof="0" dirty="0"/>
          </a:p>
          <a:p>
            <a:pPr marL="171450" indent="-171450">
              <a:buFont typeface="Arial" panose="020B0604020202020204" pitchFamily="34" charset="0"/>
              <a:buChar char="•"/>
            </a:pPr>
            <a:r>
              <a:rPr lang="en-US" sz="1100" noProof="0" dirty="0"/>
              <a:t>PREDICT CHRONICAL SYMPTOMS (like </a:t>
            </a:r>
            <a:r>
              <a:rPr lang="en-US" sz="1100" noProof="0" dirty="0" err="1"/>
              <a:t>caugh</a:t>
            </a:r>
            <a:r>
              <a:rPr lang="en-US" sz="1100" noProof="0" dirty="0"/>
              <a:t>, dizziness, watery eyes, runny nose) FROM IEQ PARAMETERS AND SEE WHICH PARAMETERS AFFECT THE PROBLEMS THE MOST</a:t>
            </a:r>
          </a:p>
          <a:p>
            <a:endParaRPr lang="en-US" sz="1100" noProof="0" dirty="0">
              <a:sym typeface="Wingdings" panose="05000000000000000000" pitchFamily="2" charset="2"/>
            </a:endParaRPr>
          </a:p>
        </p:txBody>
      </p:sp>
      <p:sp>
        <p:nvSpPr>
          <p:cNvPr id="17" name="Text 14">
            <a:extLst>
              <a:ext uri="{FF2B5EF4-FFF2-40B4-BE49-F238E27FC236}">
                <a16:creationId xmlns:a16="http://schemas.microsoft.com/office/drawing/2014/main" id="{4B324866-F08E-412D-AEFE-D19CD08E52DA}"/>
              </a:ext>
            </a:extLst>
          </p:cNvPr>
          <p:cNvSpPr/>
          <p:nvPr/>
        </p:nvSpPr>
        <p:spPr>
          <a:xfrm>
            <a:off x="439971" y="2802635"/>
            <a:ext cx="8161020" cy="329317"/>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7143737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2B6B9E9B-2008-76C2-3694-07CC01A055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FEE432-527D-0C7C-61CE-087576712E90}"/>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DB17E53C-C4B6-BCE1-7DE8-0888AF26827B}"/>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7B17D2E3-653E-9258-7ADF-357DB8F26DCF}"/>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Energy</a:t>
            </a:r>
            <a:endParaRPr lang="en-US" sz="3600" noProof="0" dirty="0"/>
          </a:p>
        </p:txBody>
      </p:sp>
      <p:sp>
        <p:nvSpPr>
          <p:cNvPr id="5" name="Text 3">
            <a:extLst>
              <a:ext uri="{FF2B5EF4-FFF2-40B4-BE49-F238E27FC236}">
                <a16:creationId xmlns:a16="http://schemas.microsoft.com/office/drawing/2014/main" id="{1B801256-A46F-F0D9-7300-CB4ED6ED311B}"/>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04B9BE54-563C-E18A-60F8-6077950A33E4}"/>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12439E48-5180-584D-5DD0-B603EF5BC7D1}"/>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34550105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2F9DA-E760-32DA-A783-1EA3020ED832}"/>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95E428A-F490-E995-32C5-DB3666BF9786}"/>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78</a:t>
            </a:fld>
            <a:endParaRPr lang="en-US" noProof="0" dirty="0">
              <a:latin typeface="+mn-lt"/>
            </a:endParaRPr>
          </a:p>
        </p:txBody>
      </p:sp>
      <p:sp>
        <p:nvSpPr>
          <p:cNvPr id="26" name="Shape 2">
            <a:extLst>
              <a:ext uri="{FF2B5EF4-FFF2-40B4-BE49-F238E27FC236}">
                <a16:creationId xmlns:a16="http://schemas.microsoft.com/office/drawing/2014/main" id="{F7B97AEF-2FEF-5127-81D9-C0C6A22BDB73}"/>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8C4B4C6F-6DFF-34CA-E077-D72D27C19F54}"/>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3A010875-DBBE-1B98-E006-C0C97421863E}"/>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2C4BB528-6D63-C99D-2890-D6B221AEA99D}"/>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3CDF1F7B-EB93-21C1-42B3-8E51254441B7}"/>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7AF93FDB-49D9-CD92-222D-50FD9032CA31}"/>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7A1A0DB2-6962-9C4D-4D4A-E2B0DE327F84}"/>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FE4DC610-9ACC-300F-B196-B008684DD2D0}"/>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FF934001-038F-831E-3D6B-C43D2806D3A8}"/>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220418D8-0858-5E64-69F4-364D163D77D2}"/>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err="1">
                <a:solidFill>
                  <a:srgbClr val="FFFFFF"/>
                </a:solidFill>
                <a:cs typeface="Arial" pitchFamily="34" charset="-120"/>
              </a:rPr>
              <a:t>HouseZero</a:t>
            </a:r>
            <a:r>
              <a:rPr lang="en-US" sz="1350" b="1" noProof="0" dirty="0">
                <a:solidFill>
                  <a:srgbClr val="FFFFFF"/>
                </a:solidFill>
                <a:cs typeface="Arial" pitchFamily="34" charset="-120"/>
              </a:rPr>
              <a:t> Ultra-Low-Energy Office Dataset</a:t>
            </a:r>
          </a:p>
        </p:txBody>
      </p:sp>
      <p:sp>
        <p:nvSpPr>
          <p:cNvPr id="36" name="Text 12">
            <a:extLst>
              <a:ext uri="{FF2B5EF4-FFF2-40B4-BE49-F238E27FC236}">
                <a16:creationId xmlns:a16="http://schemas.microsoft.com/office/drawing/2014/main" id="{36363AAD-A7ED-7B68-B4FC-4E6BDC351FEC}"/>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2 years hourly data | 189 released sensors/meters | 1 office building | Cambridge, MA</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energy end-uses | zone IEQ | facade / microclimate | HVAC/system operations | missing-data report</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Jun 2022-May 2024</a:t>
            </a:r>
          </a:p>
        </p:txBody>
      </p:sp>
      <p:sp>
        <p:nvSpPr>
          <p:cNvPr id="38" name="Text 14">
            <a:extLst>
              <a:ext uri="{FF2B5EF4-FFF2-40B4-BE49-F238E27FC236}">
                <a16:creationId xmlns:a16="http://schemas.microsoft.com/office/drawing/2014/main" id="{388C11A9-AD96-1FBB-2627-AB3B7FF8219D}"/>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603E8E5D-2081-CA3A-C173-3FE01C4B11C3}"/>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endParaRPr lang="en-US" sz="1050" b="1" noProof="0" dirty="0"/>
          </a:p>
          <a:p>
            <a:pPr marL="171450" indent="-171450">
              <a:lnSpc>
                <a:spcPct val="100000"/>
              </a:lnSpc>
              <a:spcBef>
                <a:spcPts val="0"/>
              </a:spcBef>
              <a:spcAft>
                <a:spcPts val="0"/>
              </a:spcAft>
              <a:buFont typeface="Arial" panose="020B0604020202020204" pitchFamily="34" charset="0"/>
              <a:buChar char="•"/>
            </a:pPr>
            <a:r>
              <a:rPr lang="en-US" sz="1050" b="1" noProof="0" dirty="0"/>
              <a:t>Zone IEQ: </a:t>
            </a:r>
            <a:r>
              <a:rPr lang="en-US" sz="1050" noProof="0" dirty="0"/>
              <a:t>air temperature, CO2, RH</a:t>
            </a:r>
          </a:p>
          <a:p>
            <a:pPr marL="171450" indent="-171450">
              <a:lnSpc>
                <a:spcPct val="100000"/>
              </a:lnSpc>
              <a:spcBef>
                <a:spcPts val="0"/>
              </a:spcBef>
              <a:spcAft>
                <a:spcPts val="0"/>
              </a:spcAft>
              <a:buFont typeface="Arial" panose="020B0604020202020204" pitchFamily="34" charset="0"/>
              <a:buChar char="•"/>
            </a:pPr>
            <a:r>
              <a:rPr lang="en-US" sz="1050" b="1" noProof="0" dirty="0"/>
              <a:t>Envelope / weather: </a:t>
            </a:r>
            <a:r>
              <a:rPr lang="en-US" sz="1050" noProof="0" dirty="0"/>
              <a:t>facade temperatures, outdoor microclimate, wind speed and direction, rain, solar radiation</a:t>
            </a:r>
          </a:p>
          <a:p>
            <a:pPr marL="171450" indent="-171450">
              <a:lnSpc>
                <a:spcPct val="100000"/>
              </a:lnSpc>
              <a:spcBef>
                <a:spcPts val="0"/>
              </a:spcBef>
              <a:spcAft>
                <a:spcPts val="0"/>
              </a:spcAft>
              <a:buFont typeface="Arial" panose="020B0604020202020204" pitchFamily="34" charset="0"/>
              <a:buChar char="•"/>
            </a:pPr>
            <a:r>
              <a:rPr lang="en-US" sz="1050" b="1" noProof="0" dirty="0"/>
              <a:t>Energy and systems: </a:t>
            </a:r>
            <a:r>
              <a:rPr lang="en-US" sz="1050" noProof="0" dirty="0"/>
              <a:t>end-use electricity, BTU meters, PV, heat pump, geothermal wells</a:t>
            </a:r>
          </a:p>
          <a:p>
            <a:pPr marL="171450" indent="-171450">
              <a:lnSpc>
                <a:spcPct val="100000"/>
              </a:lnSpc>
              <a:spcBef>
                <a:spcPts val="0"/>
              </a:spcBef>
              <a:spcAft>
                <a:spcPts val="0"/>
              </a:spcAft>
              <a:buFont typeface="Arial" panose="020B0604020202020204" pitchFamily="34" charset="0"/>
              <a:buChar char="•"/>
            </a:pPr>
            <a:r>
              <a:rPr lang="en-US" sz="1050" b="1" noProof="0" dirty="0"/>
              <a:t>Operation states: </a:t>
            </a:r>
            <a:r>
              <a:rPr lang="en-US" sz="1050" noProof="0" dirty="0"/>
              <a:t>valves, slab temperatures, window / skylight status</a:t>
            </a:r>
          </a:p>
        </p:txBody>
      </p:sp>
      <p:sp>
        <p:nvSpPr>
          <p:cNvPr id="40" name="Text 16">
            <a:extLst>
              <a:ext uri="{FF2B5EF4-FFF2-40B4-BE49-F238E27FC236}">
                <a16:creationId xmlns:a16="http://schemas.microsoft.com/office/drawing/2014/main" id="{9712A428-F680-4F6D-8D55-80CB703AA8D4}"/>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IEQ forecasting: </a:t>
            </a:r>
            <a:r>
              <a:rPr lang="en-US" sz="1050" noProof="0" dirty="0"/>
              <a:t>temperature, RH, CO2, TVOC, PM2.5, PM10</a:t>
            </a:r>
          </a:p>
          <a:p>
            <a:pPr marL="171450" indent="-171450">
              <a:lnSpc>
                <a:spcPct val="100000"/>
              </a:lnSpc>
              <a:spcBef>
                <a:spcPts val="0"/>
              </a:spcBef>
              <a:spcAft>
                <a:spcPts val="0"/>
              </a:spcAft>
              <a:buFont typeface="Arial" panose="020B0604020202020204" pitchFamily="34" charset="0"/>
              <a:buChar char="•"/>
            </a:pPr>
            <a:r>
              <a:rPr lang="en-US" sz="1050" b="1" noProof="0" dirty="0"/>
              <a:t>Energy targets: </a:t>
            </a:r>
            <a:r>
              <a:rPr lang="en-US" sz="1050" noProof="0" dirty="0"/>
              <a:t>whole-building or unit energy use</a:t>
            </a:r>
          </a:p>
          <a:p>
            <a:pPr marL="171450" indent="-171450">
              <a:lnSpc>
                <a:spcPct val="100000"/>
              </a:lnSpc>
              <a:spcBef>
                <a:spcPts val="0"/>
              </a:spcBef>
              <a:spcAft>
                <a:spcPts val="0"/>
              </a:spcAft>
              <a:buFont typeface="Arial" panose="020B0604020202020204" pitchFamily="34" charset="0"/>
              <a:buChar char="•"/>
            </a:pPr>
            <a:r>
              <a:rPr lang="en-US" sz="1050" b="1" noProof="0" dirty="0" err="1"/>
              <a:t>Behaviour</a:t>
            </a:r>
            <a:r>
              <a:rPr lang="en-US" sz="1050" b="1" noProof="0" dirty="0"/>
              <a:t> targets: </a:t>
            </a:r>
            <a:r>
              <a:rPr lang="en-US" sz="1050" noProof="0" dirty="0"/>
              <a:t>motion and door / window events</a:t>
            </a:r>
          </a:p>
          <a:p>
            <a:pPr marL="171450" indent="-171450">
              <a:lnSpc>
                <a:spcPct val="100000"/>
              </a:lnSpc>
              <a:spcBef>
                <a:spcPts val="0"/>
              </a:spcBef>
              <a:spcAft>
                <a:spcPts val="0"/>
              </a:spcAft>
              <a:buFont typeface="Arial" panose="020B0604020202020204" pitchFamily="34" charset="0"/>
              <a:buChar char="•"/>
            </a:pPr>
            <a:r>
              <a:rPr lang="en-US" sz="1050" b="1" noProof="0" dirty="0"/>
              <a:t>Envelope targets: </a:t>
            </a:r>
            <a:r>
              <a:rPr lang="en-US" sz="1050" noProof="0" dirty="0"/>
              <a:t>heat-flux / surface-temperature response</a:t>
            </a:r>
          </a:p>
        </p:txBody>
      </p:sp>
    </p:spTree>
    <p:extLst>
      <p:ext uri="{BB962C8B-B14F-4D97-AF65-F5344CB8AC3E}">
        <p14:creationId xmlns:p14="http://schemas.microsoft.com/office/powerpoint/2010/main" val="161909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E4B9C-A320-EADC-C107-E5374CE6A82A}"/>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61914649-F8E6-6A3C-B952-A6000B4FE49C}"/>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79</a:t>
            </a:fld>
            <a:endParaRPr lang="en-US" noProof="0" dirty="0">
              <a:latin typeface="+mn-lt"/>
            </a:endParaRPr>
          </a:p>
        </p:txBody>
      </p:sp>
      <p:sp>
        <p:nvSpPr>
          <p:cNvPr id="26" name="Shape 2">
            <a:extLst>
              <a:ext uri="{FF2B5EF4-FFF2-40B4-BE49-F238E27FC236}">
                <a16:creationId xmlns:a16="http://schemas.microsoft.com/office/drawing/2014/main" id="{DB9E75A8-74A6-3C96-CB98-E822D8DB0B25}"/>
              </a:ext>
            </a:extLst>
          </p:cNvPr>
          <p:cNvSpPr/>
          <p:nvPr/>
        </p:nvSpPr>
        <p:spPr>
          <a:xfrm>
            <a:off x="260604" y="720090"/>
            <a:ext cx="8606790" cy="1495044"/>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D1B39D31-C9AA-7060-AF33-1B7401BD5FBC}"/>
              </a:ext>
            </a:extLst>
          </p:cNvPr>
          <p:cNvSpPr/>
          <p:nvPr/>
        </p:nvSpPr>
        <p:spPr>
          <a:xfrm>
            <a:off x="281178" y="802386"/>
            <a:ext cx="48006" cy="1330452"/>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7E0A6D26-1BE8-94E5-51A7-35A5C974ABAE}"/>
              </a:ext>
            </a:extLst>
          </p:cNvPr>
          <p:cNvSpPr/>
          <p:nvPr/>
        </p:nvSpPr>
        <p:spPr>
          <a:xfrm>
            <a:off x="384048" y="774954"/>
            <a:ext cx="8414766" cy="150876"/>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1-4. NAME | SCALE | DATA FIELDS | TIMEFRAME</a:t>
            </a:r>
            <a:endParaRPr lang="en-US" sz="1050" noProof="0" dirty="0"/>
          </a:p>
        </p:txBody>
      </p:sp>
      <p:sp>
        <p:nvSpPr>
          <p:cNvPr id="29" name="Shape 5">
            <a:extLst>
              <a:ext uri="{FF2B5EF4-FFF2-40B4-BE49-F238E27FC236}">
                <a16:creationId xmlns:a16="http://schemas.microsoft.com/office/drawing/2014/main" id="{60EDF8CD-DC4E-EA7C-5673-A02BF4FCEA45}"/>
              </a:ext>
            </a:extLst>
          </p:cNvPr>
          <p:cNvSpPr/>
          <p:nvPr/>
        </p:nvSpPr>
        <p:spPr>
          <a:xfrm>
            <a:off x="260604" y="2345436"/>
            <a:ext cx="4197096"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0" name="Shape 6">
            <a:extLst>
              <a:ext uri="{FF2B5EF4-FFF2-40B4-BE49-F238E27FC236}">
                <a16:creationId xmlns:a16="http://schemas.microsoft.com/office/drawing/2014/main" id="{479F4561-751C-0081-684B-2D3DF630BEAB}"/>
              </a:ext>
            </a:extLst>
          </p:cNvPr>
          <p:cNvSpPr/>
          <p:nvPr/>
        </p:nvSpPr>
        <p:spPr>
          <a:xfrm>
            <a:off x="281178" y="2427732"/>
            <a:ext cx="48006" cy="2386584"/>
          </a:xfrm>
          <a:prstGeom prst="rect">
            <a:avLst/>
          </a:prstGeom>
          <a:solidFill>
            <a:srgbClr val="19A58C"/>
          </a:solidFill>
          <a:ln w="12700">
            <a:solidFill>
              <a:srgbClr val="19A58C">
                <a:alpha val="0"/>
              </a:srgbClr>
            </a:solidFill>
            <a:prstDash val="solid"/>
          </a:ln>
        </p:spPr>
        <p:txBody>
          <a:bodyPr/>
          <a:lstStyle/>
          <a:p>
            <a:endParaRPr lang="en-US" sz="1050" noProof="0" dirty="0"/>
          </a:p>
        </p:txBody>
      </p:sp>
      <p:sp>
        <p:nvSpPr>
          <p:cNvPr id="31" name="Text 7">
            <a:extLst>
              <a:ext uri="{FF2B5EF4-FFF2-40B4-BE49-F238E27FC236}">
                <a16:creationId xmlns:a16="http://schemas.microsoft.com/office/drawing/2014/main" id="{6F32684B-D4FA-8754-62AD-C45A82290D04}"/>
              </a:ext>
            </a:extLst>
          </p:cNvPr>
          <p:cNvSpPr/>
          <p:nvPr/>
        </p:nvSpPr>
        <p:spPr>
          <a:xfrm>
            <a:off x="384048" y="2400300"/>
            <a:ext cx="4005072" cy="150876"/>
          </a:xfrm>
          <a:prstGeom prst="rect">
            <a:avLst/>
          </a:prstGeom>
          <a:noFill/>
          <a:ln/>
        </p:spPr>
        <p:txBody>
          <a:bodyPr wrap="square" lIns="0" tIns="0" rIns="0" bIns="0" rtlCol="0" anchor="ctr"/>
          <a:lstStyle/>
          <a:p>
            <a:r>
              <a:rPr lang="en-US" sz="1050" b="1" noProof="0" dirty="0">
                <a:solidFill>
                  <a:srgbClr val="19A58C"/>
                </a:solidFill>
                <a:ea typeface="Arial" pitchFamily="34" charset="-122"/>
                <a:cs typeface="Arial" pitchFamily="34" charset="-120"/>
              </a:rPr>
              <a:t>5. INPUTS (ALL AVAILABLE VARIABLES)</a:t>
            </a:r>
            <a:endParaRPr lang="en-US" sz="1050" noProof="0" dirty="0"/>
          </a:p>
        </p:txBody>
      </p:sp>
      <p:sp>
        <p:nvSpPr>
          <p:cNvPr id="32" name="Shape 8">
            <a:extLst>
              <a:ext uri="{FF2B5EF4-FFF2-40B4-BE49-F238E27FC236}">
                <a16:creationId xmlns:a16="http://schemas.microsoft.com/office/drawing/2014/main" id="{C1EA8977-526C-9D89-A353-C43AB76FDA1F}"/>
              </a:ext>
            </a:extLst>
          </p:cNvPr>
          <p:cNvSpPr/>
          <p:nvPr/>
        </p:nvSpPr>
        <p:spPr>
          <a:xfrm>
            <a:off x="4677156" y="2345436"/>
            <a:ext cx="4190238" cy="2551176"/>
          </a:xfrm>
          <a:prstGeom prst="roundRect">
            <a:avLst>
              <a:gd name="adj" fmla="val 107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050" noProof="0" dirty="0"/>
          </a:p>
        </p:txBody>
      </p:sp>
      <p:sp>
        <p:nvSpPr>
          <p:cNvPr id="33" name="Shape 9">
            <a:extLst>
              <a:ext uri="{FF2B5EF4-FFF2-40B4-BE49-F238E27FC236}">
                <a16:creationId xmlns:a16="http://schemas.microsoft.com/office/drawing/2014/main" id="{73AC31A6-4704-0BD0-37CF-BEA7F9112562}"/>
              </a:ext>
            </a:extLst>
          </p:cNvPr>
          <p:cNvSpPr/>
          <p:nvPr/>
        </p:nvSpPr>
        <p:spPr>
          <a:xfrm>
            <a:off x="4697730" y="2427732"/>
            <a:ext cx="48006" cy="2386584"/>
          </a:xfrm>
          <a:prstGeom prst="rect">
            <a:avLst/>
          </a:prstGeom>
          <a:solidFill>
            <a:srgbClr val="3454A5"/>
          </a:solidFill>
          <a:ln w="12700">
            <a:solidFill>
              <a:srgbClr val="3454A5">
                <a:alpha val="0"/>
              </a:srgbClr>
            </a:solidFill>
            <a:prstDash val="solid"/>
          </a:ln>
        </p:spPr>
        <p:txBody>
          <a:bodyPr/>
          <a:lstStyle/>
          <a:p>
            <a:endParaRPr lang="en-US" sz="1050" noProof="0" dirty="0"/>
          </a:p>
        </p:txBody>
      </p:sp>
      <p:sp>
        <p:nvSpPr>
          <p:cNvPr id="34" name="Text 10">
            <a:extLst>
              <a:ext uri="{FF2B5EF4-FFF2-40B4-BE49-F238E27FC236}">
                <a16:creationId xmlns:a16="http://schemas.microsoft.com/office/drawing/2014/main" id="{C60F042C-8EA7-9576-42ED-AB4A9358BE90}"/>
              </a:ext>
            </a:extLst>
          </p:cNvPr>
          <p:cNvSpPr/>
          <p:nvPr/>
        </p:nvSpPr>
        <p:spPr>
          <a:xfrm>
            <a:off x="4800600" y="2400300"/>
            <a:ext cx="3998214" cy="150876"/>
          </a:xfrm>
          <a:prstGeom prst="rect">
            <a:avLst/>
          </a:prstGeom>
          <a:noFill/>
          <a:ln/>
        </p:spPr>
        <p:txBody>
          <a:bodyPr wrap="square" lIns="0" tIns="0" rIns="0" bIns="0" rtlCol="0" anchor="ctr"/>
          <a:lstStyle/>
          <a:p>
            <a:r>
              <a:rPr lang="en-US" sz="1050" b="1" noProof="0" dirty="0">
                <a:solidFill>
                  <a:srgbClr val="3454A5"/>
                </a:solidFill>
                <a:ea typeface="Arial" pitchFamily="34" charset="-122"/>
                <a:cs typeface="Arial" pitchFamily="34" charset="-120"/>
              </a:rPr>
              <a:t>6. OUTPUTS (NON-OVERLAPPING TARGETS)</a:t>
            </a:r>
            <a:endParaRPr lang="en-US" sz="1050" noProof="0" dirty="0"/>
          </a:p>
        </p:txBody>
      </p:sp>
      <p:sp>
        <p:nvSpPr>
          <p:cNvPr id="35" name="Text 11">
            <a:extLst>
              <a:ext uri="{FF2B5EF4-FFF2-40B4-BE49-F238E27FC236}">
                <a16:creationId xmlns:a16="http://schemas.microsoft.com/office/drawing/2014/main" id="{FF15C82B-011F-4B29-5EA7-578128B6B022}"/>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Dormitory Retrofit Dataset</a:t>
            </a:r>
          </a:p>
        </p:txBody>
      </p:sp>
      <p:sp>
        <p:nvSpPr>
          <p:cNvPr id="36" name="Text 12">
            <a:extLst>
              <a:ext uri="{FF2B5EF4-FFF2-40B4-BE49-F238E27FC236}">
                <a16:creationId xmlns:a16="http://schemas.microsoft.com/office/drawing/2014/main" id="{36DBE454-F052-1322-107E-31DE09165F13}"/>
              </a:ext>
            </a:extLst>
          </p:cNvPr>
          <p:cNvSpPr/>
          <p:nvPr/>
        </p:nvSpPr>
        <p:spPr>
          <a:xfrm>
            <a:off x="466344" y="925830"/>
            <a:ext cx="8161020" cy="1220724"/>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100" b="1" noProof="0" dirty="0"/>
              <a:t>Scale: </a:t>
            </a:r>
            <a:r>
              <a:rPr lang="en-US" sz="1100" noProof="0" dirty="0"/>
              <a:t>2 years | 16 student apartments in 2 dorm buildings | pre/post retrofit | Syracuse, NY</a:t>
            </a:r>
            <a:endParaRPr lang="en-US" sz="1100" noProof="0" dirty="0">
              <a:solidFill>
                <a:srgbClr val="364B5F"/>
              </a:solidFill>
              <a:ea typeface="Arial" pitchFamily="34" charset="-122"/>
              <a:cs typeface="Arial" pitchFamily="34" charset="-120"/>
            </a:endParaRPr>
          </a:p>
          <a:p>
            <a:pPr marL="171450" indent="-171450">
              <a:lnSpc>
                <a:spcPct val="100000"/>
              </a:lnSpc>
              <a:spcBef>
                <a:spcPts val="0"/>
              </a:spcBef>
              <a:spcAft>
                <a:spcPts val="0"/>
              </a:spcAft>
              <a:buFont typeface="Arial" panose="020B0604020202020204" pitchFamily="34" charset="0"/>
              <a:buChar char="•"/>
            </a:pPr>
            <a:r>
              <a:rPr lang="en-US" sz="1100" b="1" noProof="0" dirty="0"/>
              <a:t>Data fields: </a:t>
            </a:r>
            <a:r>
              <a:rPr lang="en-US" sz="1100" noProof="0" dirty="0"/>
              <a:t>occupant behavior | IEQ | detailed energy use | weather</a:t>
            </a:r>
          </a:p>
          <a:p>
            <a:pPr marL="171450" indent="-171450">
              <a:lnSpc>
                <a:spcPct val="100000"/>
              </a:lnSpc>
              <a:spcBef>
                <a:spcPts val="0"/>
              </a:spcBef>
              <a:spcAft>
                <a:spcPts val="0"/>
              </a:spcAft>
              <a:buFont typeface="Arial" panose="020B0604020202020204" pitchFamily="34" charset="0"/>
              <a:buChar char="•"/>
            </a:pPr>
            <a:r>
              <a:rPr lang="en-US" sz="1100" b="1" noProof="0" dirty="0"/>
              <a:t>Timeframe: </a:t>
            </a:r>
            <a:r>
              <a:rPr lang="en-US" sz="1100" noProof="0" dirty="0"/>
              <a:t>two monitored years spanning pre- and post-retrofit operation</a:t>
            </a:r>
          </a:p>
          <a:p>
            <a:pPr marL="171450" indent="-171450">
              <a:buFont typeface="Arial" panose="020B0604020202020204" pitchFamily="34" charset="0"/>
              <a:buChar char="•"/>
            </a:pPr>
            <a:endParaRPr lang="en-US" sz="1100" noProof="0" dirty="0"/>
          </a:p>
        </p:txBody>
      </p:sp>
      <p:sp>
        <p:nvSpPr>
          <p:cNvPr id="38" name="Text 14">
            <a:extLst>
              <a:ext uri="{FF2B5EF4-FFF2-40B4-BE49-F238E27FC236}">
                <a16:creationId xmlns:a16="http://schemas.microsoft.com/office/drawing/2014/main" id="{42F41FA5-7C5B-58CC-D332-4E32DBD517BE}"/>
              </a:ext>
            </a:extLst>
          </p:cNvPr>
          <p:cNvSpPr/>
          <p:nvPr/>
        </p:nvSpPr>
        <p:spPr>
          <a:xfrm>
            <a:off x="466344" y="1824228"/>
            <a:ext cx="8161020" cy="233172"/>
          </a:xfrm>
          <a:prstGeom prst="rect">
            <a:avLst/>
          </a:prstGeom>
          <a:noFill/>
          <a:ln/>
        </p:spPr>
        <p:txBody>
          <a:bodyPr wrap="square" lIns="0" tIns="0" rIns="0" bIns="0" rtlCol="0" anchor="ctr"/>
          <a:lstStyle/>
          <a:p>
            <a:endParaRPr lang="en-US" sz="1100" noProof="0" dirty="0"/>
          </a:p>
        </p:txBody>
      </p:sp>
      <p:sp>
        <p:nvSpPr>
          <p:cNvPr id="39" name="Text 15">
            <a:extLst>
              <a:ext uri="{FF2B5EF4-FFF2-40B4-BE49-F238E27FC236}">
                <a16:creationId xmlns:a16="http://schemas.microsoft.com/office/drawing/2014/main" id="{825666A4-E523-2647-2DD0-5F57FDD87635}"/>
              </a:ext>
            </a:extLst>
          </p:cNvPr>
          <p:cNvSpPr/>
          <p:nvPr/>
        </p:nvSpPr>
        <p:spPr>
          <a:xfrm>
            <a:off x="466344" y="2626614"/>
            <a:ext cx="3806190" cy="205740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Occupant behavior: </a:t>
            </a:r>
            <a:r>
              <a:rPr lang="en-US" sz="1050" noProof="0" dirty="0"/>
              <a:t>window state, door state, opening frequency / duration</a:t>
            </a:r>
          </a:p>
          <a:p>
            <a:pPr marL="171450" indent="-171450">
              <a:lnSpc>
                <a:spcPct val="100000"/>
              </a:lnSpc>
              <a:spcBef>
                <a:spcPts val="0"/>
              </a:spcBef>
              <a:spcAft>
                <a:spcPts val="0"/>
              </a:spcAft>
              <a:buFont typeface="Arial" panose="020B0604020202020204" pitchFamily="34" charset="0"/>
              <a:buChar char="•"/>
            </a:pPr>
            <a:r>
              <a:rPr lang="en-US" sz="1050" b="1" noProof="0" dirty="0"/>
              <a:t>IEQ: </a:t>
            </a:r>
            <a:r>
              <a:rPr lang="en-US" sz="1050" noProof="0" dirty="0"/>
              <a:t>CO2, TVOC, temperature, RH, lighting, illuminance, </a:t>
            </a:r>
          </a:p>
          <a:p>
            <a:pPr marL="171450" indent="-171450">
              <a:lnSpc>
                <a:spcPct val="100000"/>
              </a:lnSpc>
              <a:spcBef>
                <a:spcPts val="0"/>
              </a:spcBef>
              <a:spcAft>
                <a:spcPts val="0"/>
              </a:spcAft>
              <a:buFont typeface="Arial" panose="020B0604020202020204" pitchFamily="34" charset="0"/>
              <a:buChar char="•"/>
            </a:pPr>
            <a:r>
              <a:rPr lang="en-US" sz="1050" b="1" noProof="0" dirty="0"/>
              <a:t>Energy: </a:t>
            </a:r>
            <a:r>
              <a:rPr lang="en-US" sz="1050" noProof="0" dirty="0"/>
              <a:t>16 channels incl. HVAC by zone, HP, water heater, refrigerator, stove, hood, lighting, plug loads</a:t>
            </a:r>
          </a:p>
          <a:p>
            <a:pPr marL="171450" indent="-171450">
              <a:lnSpc>
                <a:spcPct val="100000"/>
              </a:lnSpc>
              <a:spcBef>
                <a:spcPts val="0"/>
              </a:spcBef>
              <a:spcAft>
                <a:spcPts val="0"/>
              </a:spcAft>
              <a:buFont typeface="Arial" panose="020B0604020202020204" pitchFamily="34" charset="0"/>
              <a:buChar char="•"/>
            </a:pPr>
            <a:r>
              <a:rPr lang="en-US" sz="1050" b="1" noProof="0" dirty="0"/>
              <a:t>Outdoor context: </a:t>
            </a:r>
            <a:r>
              <a:rPr lang="en-US" sz="1050" noProof="0" dirty="0"/>
              <a:t>temperature, RH, dewpoint, rain, wind speed and direction, solar radiation</a:t>
            </a:r>
            <a:r>
              <a:rPr lang="en-US" sz="1050" b="1" noProof="0" dirty="0"/>
              <a:t> </a:t>
            </a:r>
            <a:endParaRPr lang="en-US" sz="1050" noProof="0" dirty="0"/>
          </a:p>
        </p:txBody>
      </p:sp>
      <p:sp>
        <p:nvSpPr>
          <p:cNvPr id="40" name="Text 16">
            <a:extLst>
              <a:ext uri="{FF2B5EF4-FFF2-40B4-BE49-F238E27FC236}">
                <a16:creationId xmlns:a16="http://schemas.microsoft.com/office/drawing/2014/main" id="{216FFE34-6EA4-634D-16ED-1BBC18AB575F}"/>
              </a:ext>
            </a:extLst>
          </p:cNvPr>
          <p:cNvSpPr/>
          <p:nvPr/>
        </p:nvSpPr>
        <p:spPr>
          <a:xfrm>
            <a:off x="4882896" y="2626614"/>
            <a:ext cx="3737610" cy="1577340"/>
          </a:xfrm>
          <a:prstGeom prst="rect">
            <a:avLst/>
          </a:prstGeom>
          <a:noFill/>
          <a:ln/>
        </p:spPr>
        <p:txBody>
          <a:bodyPr wrap="square" lIns="0" tIns="0" rIns="0" bIns="0" rtlCol="0" anchor="t">
            <a:noAutofit/>
          </a:bodyPr>
          <a:lstStyle/>
          <a:p>
            <a:pPr marL="171450" indent="-171450">
              <a:lnSpc>
                <a:spcPct val="100000"/>
              </a:lnSpc>
              <a:spcBef>
                <a:spcPts val="0"/>
              </a:spcBef>
              <a:spcAft>
                <a:spcPts val="0"/>
              </a:spcAft>
              <a:buFont typeface="Arial" panose="020B0604020202020204" pitchFamily="34" charset="0"/>
              <a:buChar char="•"/>
            </a:pPr>
            <a:r>
              <a:rPr lang="en-US" sz="1050" b="1" noProof="0" dirty="0"/>
              <a:t>Energy use predictions</a:t>
            </a:r>
          </a:p>
          <a:p>
            <a:pPr>
              <a:lnSpc>
                <a:spcPct val="100000"/>
              </a:lnSpc>
              <a:spcBef>
                <a:spcPts val="0"/>
              </a:spcBef>
              <a:spcAft>
                <a:spcPts val="0"/>
              </a:spcAft>
            </a:pPr>
            <a:endParaRPr lang="en-US" sz="1050" b="1" noProof="0" dirty="0"/>
          </a:p>
        </p:txBody>
      </p:sp>
    </p:spTree>
    <p:extLst>
      <p:ext uri="{BB962C8B-B14F-4D97-AF65-F5344CB8AC3E}">
        <p14:creationId xmlns:p14="http://schemas.microsoft.com/office/powerpoint/2010/main" val="22491502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rgbClr val="0B1D35"/>
        </a:solidFill>
        <a:effectLst/>
      </p:bgPr>
    </p:bg>
    <p:spTree>
      <p:nvGrpSpPr>
        <p:cNvPr id="1" name="">
          <a:extLst>
            <a:ext uri="{FF2B5EF4-FFF2-40B4-BE49-F238E27FC236}">
              <a16:creationId xmlns:a16="http://schemas.microsoft.com/office/drawing/2014/main" id="{FE9BD911-9F05-8B33-B53E-75D86B238B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87B733-B972-9A31-FB6B-D582D978E938}"/>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BE0D9BA1-F3CB-45A6-D6D0-DE6779715F66}"/>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FE28A7A9-FFC4-A381-7B62-C3CD0D7CBCB3}"/>
              </a:ext>
            </a:extLst>
          </p:cNvPr>
          <p:cNvSpPr/>
          <p:nvPr/>
        </p:nvSpPr>
        <p:spPr>
          <a:xfrm>
            <a:off x="731520" y="1554480"/>
            <a:ext cx="7680960" cy="914400"/>
          </a:xfrm>
          <a:prstGeom prst="rect">
            <a:avLst/>
          </a:prstGeom>
          <a:noFill/>
          <a:ln/>
        </p:spPr>
        <p:txBody>
          <a:bodyPr wrap="square" rtlCol="0" anchor="ctr"/>
          <a:lstStyle/>
          <a:p>
            <a:pPr marL="0" indent="0">
              <a:buNone/>
            </a:pPr>
            <a:r>
              <a:rPr lang="en-US" sz="3600" b="1" noProof="0" dirty="0">
                <a:solidFill>
                  <a:srgbClr val="FFFFFF"/>
                </a:solidFill>
                <a:latin typeface="Trebuchet MS" pitchFamily="34" charset="0"/>
              </a:rPr>
              <a:t>Infection risk</a:t>
            </a:r>
            <a:endParaRPr lang="en-US" sz="3600" noProof="0" dirty="0"/>
          </a:p>
        </p:txBody>
      </p:sp>
      <p:sp>
        <p:nvSpPr>
          <p:cNvPr id="5" name="Text 3">
            <a:extLst>
              <a:ext uri="{FF2B5EF4-FFF2-40B4-BE49-F238E27FC236}">
                <a16:creationId xmlns:a16="http://schemas.microsoft.com/office/drawing/2014/main" id="{05543F00-8A6D-4106-73C9-675FF6CABE59}"/>
              </a:ext>
            </a:extLst>
          </p:cNvPr>
          <p:cNvSpPr/>
          <p:nvPr/>
        </p:nvSpPr>
        <p:spPr>
          <a:xfrm>
            <a:off x="731520" y="2468880"/>
            <a:ext cx="7680960" cy="457200"/>
          </a:xfrm>
          <a:prstGeom prst="rect">
            <a:avLst/>
          </a:prstGeom>
          <a:noFill/>
          <a:ln/>
        </p:spPr>
        <p:txBody>
          <a:bodyPr wrap="square" rtlCol="0" anchor="ctr"/>
          <a:lstStyle/>
          <a:p>
            <a:pPr marL="0" indent="0">
              <a:buNone/>
            </a:pPr>
            <a:r>
              <a:rPr lang="en-US" sz="1800" noProof="0" dirty="0">
                <a:solidFill>
                  <a:srgbClr val="64748B"/>
                </a:solidFill>
                <a:latin typeface="Calibri" pitchFamily="34" charset="0"/>
                <a:ea typeface="Calibri" pitchFamily="34" charset="-122"/>
                <a:cs typeface="Calibri" pitchFamily="34" charset="-120"/>
              </a:rPr>
              <a:t>ML &amp; Indoor Building Environments</a:t>
            </a:r>
            <a:endParaRPr lang="en-US" sz="1800" noProof="0" dirty="0"/>
          </a:p>
        </p:txBody>
      </p:sp>
      <p:sp>
        <p:nvSpPr>
          <p:cNvPr id="6" name="Shape 4">
            <a:extLst>
              <a:ext uri="{FF2B5EF4-FFF2-40B4-BE49-F238E27FC236}">
                <a16:creationId xmlns:a16="http://schemas.microsoft.com/office/drawing/2014/main" id="{10547E3A-4DE9-542C-935D-92D8DB06C040}"/>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E99F6246-555A-6B88-4E18-9E91505AD044}"/>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2</a:t>
            </a:r>
            <a:endParaRPr lang="en-US" sz="1200" noProof="0" dirty="0"/>
          </a:p>
        </p:txBody>
      </p:sp>
    </p:spTree>
    <p:extLst>
      <p:ext uri="{BB962C8B-B14F-4D97-AF65-F5344CB8AC3E}">
        <p14:creationId xmlns:p14="http://schemas.microsoft.com/office/powerpoint/2010/main" val="27710293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8D505-7455-7F1B-4345-441EDA2E51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A9BD2C-4123-2157-771B-2AB8C5E36E88}"/>
              </a:ext>
            </a:extLst>
          </p:cNvPr>
          <p:cNvSpPr/>
          <p:nvPr/>
        </p:nvSpPr>
        <p:spPr>
          <a:xfrm>
            <a:off x="0" y="0"/>
            <a:ext cx="9144000" cy="877824"/>
          </a:xfrm>
          <a:prstGeom prst="rect">
            <a:avLst/>
          </a:prstGeom>
          <a:solidFill>
            <a:srgbClr val="126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TextBox 2">
            <a:extLst>
              <a:ext uri="{FF2B5EF4-FFF2-40B4-BE49-F238E27FC236}">
                <a16:creationId xmlns:a16="http://schemas.microsoft.com/office/drawing/2014/main" id="{31B33329-1353-C8C2-FE3E-2761D60E0287}"/>
              </a:ext>
            </a:extLst>
          </p:cNvPr>
          <p:cNvSpPr txBox="1"/>
          <p:nvPr/>
        </p:nvSpPr>
        <p:spPr>
          <a:xfrm>
            <a:off x="411480" y="210312"/>
            <a:ext cx="8313420" cy="400110"/>
          </a:xfrm>
          <a:prstGeom prst="rect">
            <a:avLst/>
          </a:prstGeom>
          <a:noFill/>
        </p:spPr>
        <p:txBody>
          <a:bodyPr wrap="square">
            <a:spAutoFit/>
          </a:bodyPr>
          <a:lstStyle/>
          <a:p>
            <a:r>
              <a:rPr lang="en-US" sz="2000" b="1" noProof="0" dirty="0">
                <a:solidFill>
                  <a:srgbClr val="FAFAFA"/>
                </a:solidFill>
                <a:latin typeface="Aptos"/>
              </a:rPr>
              <a:t>OTHER DATASETS</a:t>
            </a:r>
          </a:p>
        </p:txBody>
      </p:sp>
      <p:sp>
        <p:nvSpPr>
          <p:cNvPr id="7" name="Rectangle 6">
            <a:extLst>
              <a:ext uri="{FF2B5EF4-FFF2-40B4-BE49-F238E27FC236}">
                <a16:creationId xmlns:a16="http://schemas.microsoft.com/office/drawing/2014/main" id="{AE6D4D51-D0DA-8C93-7060-9164F4B6F424}"/>
              </a:ext>
            </a:extLst>
          </p:cNvPr>
          <p:cNvSpPr/>
          <p:nvPr/>
        </p:nvSpPr>
        <p:spPr>
          <a:xfrm>
            <a:off x="571881" y="1010829"/>
            <a:ext cx="69840" cy="3904526"/>
          </a:xfrm>
          <a:prstGeom prst="rect">
            <a:avLst/>
          </a:prstGeom>
          <a:solidFill>
            <a:srgbClr val="E3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9191D267-14D6-4A44-1CF5-C8BB7A8CAD2F}"/>
              </a:ext>
            </a:extLst>
          </p:cNvPr>
          <p:cNvSpPr txBox="1"/>
          <p:nvPr/>
        </p:nvSpPr>
        <p:spPr>
          <a:xfrm>
            <a:off x="699897" y="877824"/>
            <a:ext cx="8045623" cy="338554"/>
          </a:xfrm>
          <a:prstGeom prst="rect">
            <a:avLst/>
          </a:prstGeom>
          <a:noFill/>
        </p:spPr>
        <p:txBody>
          <a:bodyPr wrap="square">
            <a:spAutoFit/>
          </a:bodyPr>
          <a:lstStyle/>
          <a:p>
            <a:r>
              <a:rPr lang="en-US" sz="1600" b="1" noProof="0" dirty="0">
                <a:solidFill>
                  <a:srgbClr val="E39100"/>
                </a:solidFill>
                <a:latin typeface="Aptos"/>
              </a:rPr>
              <a:t>Review list</a:t>
            </a:r>
          </a:p>
        </p:txBody>
      </p:sp>
      <p:sp>
        <p:nvSpPr>
          <p:cNvPr id="9" name="TextBox 8">
            <a:extLst>
              <a:ext uri="{FF2B5EF4-FFF2-40B4-BE49-F238E27FC236}">
                <a16:creationId xmlns:a16="http://schemas.microsoft.com/office/drawing/2014/main" id="{9DC5382A-E3FA-B7DF-F48A-47B19C9AEA38}"/>
              </a:ext>
            </a:extLst>
          </p:cNvPr>
          <p:cNvSpPr txBox="1"/>
          <p:nvPr/>
        </p:nvSpPr>
        <p:spPr>
          <a:xfrm>
            <a:off x="699898" y="1299114"/>
            <a:ext cx="7989750" cy="184666"/>
          </a:xfrm>
          <a:prstGeom prst="rect">
            <a:avLst/>
          </a:prstGeom>
          <a:noFill/>
        </p:spPr>
        <p:txBody>
          <a:bodyPr wrap="square" lIns="0" tIns="0" rIns="0" bIns="0">
            <a:spAutoFit/>
          </a:bodyPr>
          <a:lstStyle/>
          <a:p>
            <a:r>
              <a:rPr lang="en-US" sz="1200" noProof="0" dirty="0">
                <a:hlinkClick r:id="rId2"/>
              </a:rPr>
              <a:t>https://zenodo.org/records/16810954</a:t>
            </a:r>
            <a:r>
              <a:rPr lang="en-US" sz="1200" noProof="0" dirty="0"/>
              <a:t> - IEQ --&gt; needs access, but should be granted to us</a:t>
            </a:r>
          </a:p>
        </p:txBody>
      </p:sp>
    </p:spTree>
    <p:extLst>
      <p:ext uri="{BB962C8B-B14F-4D97-AF65-F5344CB8AC3E}">
        <p14:creationId xmlns:p14="http://schemas.microsoft.com/office/powerpoint/2010/main" val="37200465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70BAE44D-B856-6222-BE9C-9A295B7D48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6D27AF5-68D5-FBB2-E61C-1D84DA84E7BB}"/>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9DDC21CD-EF1A-3CBC-A0FC-38CB9D2F6252}"/>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11CF5DDD-7292-C3EA-DBEC-7D50EA0C99C6}"/>
              </a:ext>
            </a:extLst>
          </p:cNvPr>
          <p:cNvSpPr/>
          <p:nvPr/>
        </p:nvSpPr>
        <p:spPr>
          <a:xfrm>
            <a:off x="731520" y="1554480"/>
            <a:ext cx="7680960" cy="914400"/>
          </a:xfrm>
          <a:prstGeom prst="rect">
            <a:avLst/>
          </a:prstGeom>
          <a:noFill/>
          <a:ln/>
        </p:spPr>
        <p:txBody>
          <a:bodyPr wrap="square" rtlCol="0" anchor="ctr"/>
          <a:lstStyle/>
          <a:p>
            <a:pPr marL="0" indent="0">
              <a:buNone/>
            </a:pPr>
            <a:r>
              <a:rPr lang="en-US" sz="3200" b="1" noProof="0" dirty="0">
                <a:solidFill>
                  <a:srgbClr val="FFFFFF"/>
                </a:solidFill>
                <a:latin typeface="Trebuchet MS" pitchFamily="34" charset="0"/>
              </a:rPr>
              <a:t>Focus on Belgian classroom dataset</a:t>
            </a:r>
            <a:endParaRPr lang="en-US" sz="3200" noProof="0" dirty="0"/>
          </a:p>
        </p:txBody>
      </p:sp>
      <p:sp>
        <p:nvSpPr>
          <p:cNvPr id="5" name="Text 3">
            <a:extLst>
              <a:ext uri="{FF2B5EF4-FFF2-40B4-BE49-F238E27FC236}">
                <a16:creationId xmlns:a16="http://schemas.microsoft.com/office/drawing/2014/main" id="{1D544F68-2A34-7B23-2868-36EA705763E9}"/>
              </a:ext>
            </a:extLst>
          </p:cNvPr>
          <p:cNvSpPr/>
          <p:nvPr/>
        </p:nvSpPr>
        <p:spPr>
          <a:xfrm>
            <a:off x="731520" y="2468880"/>
            <a:ext cx="7680960" cy="457200"/>
          </a:xfrm>
          <a:prstGeom prst="rect">
            <a:avLst/>
          </a:prstGeom>
          <a:noFill/>
          <a:ln/>
        </p:spPr>
        <p:txBody>
          <a:bodyPr wrap="square" rtlCol="0" anchor="ctr"/>
          <a:lstStyle/>
          <a:p>
            <a:pPr marL="0" indent="0">
              <a:buNone/>
            </a:pPr>
            <a:endParaRPr lang="en-US" sz="1800" noProof="0" dirty="0"/>
          </a:p>
        </p:txBody>
      </p:sp>
      <p:sp>
        <p:nvSpPr>
          <p:cNvPr id="6" name="Shape 4">
            <a:extLst>
              <a:ext uri="{FF2B5EF4-FFF2-40B4-BE49-F238E27FC236}">
                <a16:creationId xmlns:a16="http://schemas.microsoft.com/office/drawing/2014/main" id="{A4ACA2DC-315B-9317-1D8A-5BBA048380DD}"/>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96A30AD5-9726-A581-2D4B-22D44104161E}"/>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3</a:t>
            </a:r>
            <a:endParaRPr lang="en-US" sz="1200" noProof="0" dirty="0"/>
          </a:p>
        </p:txBody>
      </p:sp>
    </p:spTree>
    <p:extLst>
      <p:ext uri="{BB962C8B-B14F-4D97-AF65-F5344CB8AC3E}">
        <p14:creationId xmlns:p14="http://schemas.microsoft.com/office/powerpoint/2010/main" val="41801736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E38B3-8855-3DFE-0EC4-4C0CCED3D4AA}"/>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69A47B2E-C50F-A082-8CAB-9B9B25B85109}"/>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83</a:t>
            </a:fld>
            <a:endParaRPr lang="en-US" noProof="0" dirty="0">
              <a:latin typeface="+mn-lt"/>
            </a:endParaRPr>
          </a:p>
        </p:txBody>
      </p:sp>
      <p:sp>
        <p:nvSpPr>
          <p:cNvPr id="35" name="Text 11">
            <a:extLst>
              <a:ext uri="{FF2B5EF4-FFF2-40B4-BE49-F238E27FC236}">
                <a16:creationId xmlns:a16="http://schemas.microsoft.com/office/drawing/2014/main" id="{D6E49CA6-BBF3-964E-6A3D-0173D759CDFA}"/>
              </a:ext>
            </a:extLst>
          </p:cNvPr>
          <p:cNvSpPr/>
          <p:nvPr/>
        </p:nvSpPr>
        <p:spPr>
          <a:xfrm>
            <a:off x="459486" y="205740"/>
            <a:ext cx="8161020" cy="192024"/>
          </a:xfrm>
          <a:prstGeom prst="rect">
            <a:avLst/>
          </a:prstGeom>
          <a:noFill/>
          <a:ln/>
        </p:spPr>
        <p:txBody>
          <a:bodyPr wrap="square" lIns="0" tIns="0" rIns="0" bIns="0" rtlCol="0" anchor="ctr"/>
          <a:lstStyle/>
          <a:p>
            <a:r>
              <a:rPr lang="en-US" sz="2000" b="1" noProof="0" dirty="0">
                <a:solidFill>
                  <a:srgbClr val="FFFFFF"/>
                </a:solidFill>
                <a:cs typeface="Arial" pitchFamily="34" charset="-120"/>
              </a:rPr>
              <a:t>Dataset evaluation</a:t>
            </a:r>
          </a:p>
        </p:txBody>
      </p:sp>
      <p:pic>
        <p:nvPicPr>
          <p:cNvPr id="5" name="Picture 4">
            <a:extLst>
              <a:ext uri="{FF2B5EF4-FFF2-40B4-BE49-F238E27FC236}">
                <a16:creationId xmlns:a16="http://schemas.microsoft.com/office/drawing/2014/main" id="{BDBE8CFA-C41F-6C51-1071-AE98F7B4F371}"/>
              </a:ext>
            </a:extLst>
          </p:cNvPr>
          <p:cNvPicPr>
            <a:picLocks noChangeAspect="1"/>
          </p:cNvPicPr>
          <p:nvPr/>
        </p:nvPicPr>
        <p:blipFill>
          <a:blip r:embed="rId3"/>
          <a:srcRect b="48094"/>
          <a:stretch>
            <a:fillRect/>
          </a:stretch>
        </p:blipFill>
        <p:spPr>
          <a:xfrm>
            <a:off x="0" y="734191"/>
            <a:ext cx="4531523" cy="4305022"/>
          </a:xfrm>
          <a:prstGeom prst="rect">
            <a:avLst/>
          </a:prstGeom>
        </p:spPr>
      </p:pic>
      <p:pic>
        <p:nvPicPr>
          <p:cNvPr id="2" name="Picture 1">
            <a:extLst>
              <a:ext uri="{FF2B5EF4-FFF2-40B4-BE49-F238E27FC236}">
                <a16:creationId xmlns:a16="http://schemas.microsoft.com/office/drawing/2014/main" id="{30B090D0-D50A-8812-B763-6A9D7EDB57CD}"/>
              </a:ext>
            </a:extLst>
          </p:cNvPr>
          <p:cNvPicPr>
            <a:picLocks noChangeAspect="1"/>
          </p:cNvPicPr>
          <p:nvPr/>
        </p:nvPicPr>
        <p:blipFill>
          <a:blip r:embed="rId3"/>
          <a:srcRect t="47267" b="827"/>
          <a:stretch>
            <a:fillRect/>
          </a:stretch>
        </p:blipFill>
        <p:spPr>
          <a:xfrm>
            <a:off x="4572000" y="734190"/>
            <a:ext cx="4531524" cy="4305023"/>
          </a:xfrm>
          <a:prstGeom prst="rect">
            <a:avLst/>
          </a:prstGeom>
        </p:spPr>
      </p:pic>
    </p:spTree>
    <p:extLst>
      <p:ext uri="{BB962C8B-B14F-4D97-AF65-F5344CB8AC3E}">
        <p14:creationId xmlns:p14="http://schemas.microsoft.com/office/powerpoint/2010/main" val="22792838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5907E-96E4-2BB9-B467-FE6B8A188AC1}"/>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C554D8A5-E8FC-DAF8-B906-E10C7173640E}"/>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84</a:t>
            </a:fld>
            <a:endParaRPr lang="en-US" noProof="0" dirty="0">
              <a:latin typeface="+mn-lt"/>
            </a:endParaRPr>
          </a:p>
        </p:txBody>
      </p:sp>
      <p:sp>
        <p:nvSpPr>
          <p:cNvPr id="35" name="Text 11">
            <a:extLst>
              <a:ext uri="{FF2B5EF4-FFF2-40B4-BE49-F238E27FC236}">
                <a16:creationId xmlns:a16="http://schemas.microsoft.com/office/drawing/2014/main" id="{12CD0A6A-71E0-8D68-33BB-CD68876555EB}"/>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Dataset evaluation</a:t>
            </a:r>
          </a:p>
        </p:txBody>
      </p:sp>
      <p:pic>
        <p:nvPicPr>
          <p:cNvPr id="8" name="Graphic 7">
            <a:extLst>
              <a:ext uri="{FF2B5EF4-FFF2-40B4-BE49-F238E27FC236}">
                <a16:creationId xmlns:a16="http://schemas.microsoft.com/office/drawing/2014/main" id="{A6D5BB53-17E5-C3B4-0172-B48C7C3D45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806" y="764781"/>
            <a:ext cx="8458200" cy="4305300"/>
          </a:xfrm>
          <a:prstGeom prst="rect">
            <a:avLst/>
          </a:prstGeom>
        </p:spPr>
      </p:pic>
    </p:spTree>
    <p:extLst>
      <p:ext uri="{BB962C8B-B14F-4D97-AF65-F5344CB8AC3E}">
        <p14:creationId xmlns:p14="http://schemas.microsoft.com/office/powerpoint/2010/main" val="9767565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A37C6-AE94-FD24-9626-13B68576EE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F067A8-0559-9AA4-6943-F3CC6EAAD350}"/>
              </a:ext>
            </a:extLst>
          </p:cNvPr>
          <p:cNvSpPr/>
          <p:nvPr/>
        </p:nvSpPr>
        <p:spPr>
          <a:xfrm>
            <a:off x="1" y="0"/>
            <a:ext cx="9143771" cy="397764"/>
          </a:xfrm>
          <a:prstGeom prst="rect">
            <a:avLst/>
          </a:prstGeom>
          <a:solidFill>
            <a:srgbClr val="0F678B"/>
          </a:solidFill>
          <a:ln w="12700">
            <a:solidFill>
              <a:srgbClr val="0F678B">
                <a:alpha val="0"/>
              </a:srgbClr>
            </a:solidFill>
            <a:prstDash val="solid"/>
          </a:ln>
        </p:spPr>
        <p:txBody>
          <a:bodyPr/>
          <a:lstStyle/>
          <a:p>
            <a:endParaRPr lang="en-US" sz="1350" noProof="0" dirty="0"/>
          </a:p>
        </p:txBody>
      </p:sp>
      <p:sp>
        <p:nvSpPr>
          <p:cNvPr id="3" name="Text 1">
            <a:extLst>
              <a:ext uri="{FF2B5EF4-FFF2-40B4-BE49-F238E27FC236}">
                <a16:creationId xmlns:a16="http://schemas.microsoft.com/office/drawing/2014/main" id="{DED300B8-D278-465C-9DCB-C4F6F290B4D3}"/>
              </a:ext>
            </a:extLst>
          </p:cNvPr>
          <p:cNvSpPr/>
          <p:nvPr/>
        </p:nvSpPr>
        <p:spPr>
          <a:xfrm>
            <a:off x="192024" y="82296"/>
            <a:ext cx="5143500" cy="150876"/>
          </a:xfrm>
          <a:prstGeom prst="rect">
            <a:avLst/>
          </a:prstGeom>
          <a:noFill/>
          <a:ln/>
        </p:spPr>
        <p:txBody>
          <a:bodyPr wrap="square" lIns="0" tIns="0" rIns="0" bIns="0" rtlCol="0" anchor="ctr"/>
          <a:lstStyle/>
          <a:p>
            <a:r>
              <a:rPr lang="en-US" sz="1275" b="1" noProof="0" dirty="0">
                <a:solidFill>
                  <a:srgbClr val="FFFFFF"/>
                </a:solidFill>
                <a:latin typeface="Aptos" pitchFamily="34" charset="0"/>
                <a:ea typeface="Aptos" pitchFamily="34" charset="-122"/>
                <a:cs typeface="Aptos" pitchFamily="34" charset="-120"/>
              </a:rPr>
              <a:t>KEY REVIEW | SUBJECTIVE IAQ &amp; OCC</a:t>
            </a:r>
            <a:endParaRPr lang="en-US" sz="1275" noProof="0" dirty="0"/>
          </a:p>
        </p:txBody>
      </p:sp>
      <p:sp>
        <p:nvSpPr>
          <p:cNvPr id="4" name="Shape 2">
            <a:extLst>
              <a:ext uri="{FF2B5EF4-FFF2-40B4-BE49-F238E27FC236}">
                <a16:creationId xmlns:a16="http://schemas.microsoft.com/office/drawing/2014/main" id="{5D9C19A3-9F59-27F7-7793-48EDDDE3DDAA}"/>
              </a:ext>
            </a:extLst>
          </p:cNvPr>
          <p:cNvSpPr/>
          <p:nvPr/>
        </p:nvSpPr>
        <p:spPr>
          <a:xfrm>
            <a:off x="171450" y="534924"/>
            <a:ext cx="8798814" cy="562356"/>
          </a:xfrm>
          <a:prstGeom prst="rect">
            <a:avLst/>
          </a:prstGeom>
          <a:solidFill>
            <a:srgbClr val="FFFFFF"/>
          </a:solidFill>
          <a:ln w="12700">
            <a:solidFill>
              <a:srgbClr val="D3D8DE"/>
            </a:solidFill>
            <a:prstDash val="solid"/>
          </a:ln>
        </p:spPr>
        <p:txBody>
          <a:bodyPr/>
          <a:lstStyle/>
          <a:p>
            <a:endParaRPr lang="en-US" sz="1350" noProof="0" dirty="0"/>
          </a:p>
        </p:txBody>
      </p:sp>
      <p:sp>
        <p:nvSpPr>
          <p:cNvPr id="5" name="Text 3">
            <a:extLst>
              <a:ext uri="{FF2B5EF4-FFF2-40B4-BE49-F238E27FC236}">
                <a16:creationId xmlns:a16="http://schemas.microsoft.com/office/drawing/2014/main" id="{8E5264C0-3F78-44D0-0AE6-080939D1C469}"/>
              </a:ext>
            </a:extLst>
          </p:cNvPr>
          <p:cNvSpPr/>
          <p:nvPr/>
        </p:nvSpPr>
        <p:spPr>
          <a:xfrm>
            <a:off x="308610" y="651510"/>
            <a:ext cx="8298180" cy="150876"/>
          </a:xfrm>
          <a:prstGeom prst="rect">
            <a:avLst/>
          </a:prstGeom>
          <a:noFill/>
          <a:ln/>
        </p:spPr>
        <p:txBody>
          <a:bodyPr wrap="square" lIns="0" tIns="0" rIns="0" bIns="0" rtlCol="0" anchor="ctr"/>
          <a:lstStyle/>
          <a:p>
            <a:r>
              <a:rPr lang="en-US" sz="1200" b="1" noProof="0" dirty="0">
                <a:solidFill>
                  <a:srgbClr val="1F2A33"/>
                </a:solidFill>
                <a:hlinkClick r:id="rId3"/>
              </a:rPr>
              <a:t>A Review of Subjective Indoor Air Quality Assessment in Non-Residential Buildings: Current Trends and Recommendations</a:t>
            </a:r>
            <a:endParaRPr lang="en-US" sz="1200" b="1" noProof="0" dirty="0"/>
          </a:p>
        </p:txBody>
      </p:sp>
      <p:sp>
        <p:nvSpPr>
          <p:cNvPr id="6" name="Text 4">
            <a:extLst>
              <a:ext uri="{FF2B5EF4-FFF2-40B4-BE49-F238E27FC236}">
                <a16:creationId xmlns:a16="http://schemas.microsoft.com/office/drawing/2014/main" id="{211D20F8-5E2E-27E1-BCC5-2C2BE8FBFDA0}"/>
              </a:ext>
            </a:extLst>
          </p:cNvPr>
          <p:cNvSpPr/>
          <p:nvPr/>
        </p:nvSpPr>
        <p:spPr>
          <a:xfrm>
            <a:off x="308610" y="871669"/>
            <a:ext cx="6515100" cy="109728"/>
          </a:xfrm>
          <a:prstGeom prst="rect">
            <a:avLst/>
          </a:prstGeom>
          <a:noFill/>
          <a:ln/>
        </p:spPr>
        <p:txBody>
          <a:bodyPr wrap="square" lIns="0" tIns="0" rIns="0" bIns="0" rtlCol="0" anchor="ctr"/>
          <a:lstStyle/>
          <a:p>
            <a:r>
              <a:rPr lang="en-US" sz="900" i="1" noProof="0" dirty="0">
                <a:solidFill>
                  <a:srgbClr val="5E9CC2"/>
                </a:solidFill>
              </a:rPr>
              <a:t>Carton, Al-Assaad, Kolarik &amp; </a:t>
            </a:r>
            <a:r>
              <a:rPr lang="en-US" sz="900" i="1" noProof="0" dirty="0" err="1">
                <a:solidFill>
                  <a:srgbClr val="5E9CC2"/>
                </a:solidFill>
              </a:rPr>
              <a:t>Breesch</a:t>
            </a:r>
            <a:r>
              <a:rPr lang="en-US" sz="900" i="1" noProof="0" dirty="0">
                <a:solidFill>
                  <a:srgbClr val="5E9CC2"/>
                </a:solidFill>
              </a:rPr>
              <a:t> | </a:t>
            </a:r>
            <a:r>
              <a:rPr lang="en-US" sz="900" b="1" i="1" noProof="0" dirty="0">
                <a:solidFill>
                  <a:srgbClr val="5E9CC2"/>
                </a:solidFill>
              </a:rPr>
              <a:t>Buildings 2026 </a:t>
            </a:r>
            <a:r>
              <a:rPr lang="en-US" sz="900" i="1" noProof="0" dirty="0">
                <a:solidFill>
                  <a:srgbClr val="5E9CC2"/>
                </a:solidFill>
              </a:rPr>
              <a:t>| systematic review | field studies only</a:t>
            </a:r>
            <a:endParaRPr lang="en-US" sz="900" i="1" noProof="0" dirty="0"/>
          </a:p>
        </p:txBody>
      </p:sp>
      <p:sp>
        <p:nvSpPr>
          <p:cNvPr id="7" name="Shape 5">
            <a:extLst>
              <a:ext uri="{FF2B5EF4-FFF2-40B4-BE49-F238E27FC236}">
                <a16:creationId xmlns:a16="http://schemas.microsoft.com/office/drawing/2014/main" id="{A553AD8B-25A0-3E27-5A57-7566323551CC}"/>
              </a:ext>
            </a:extLst>
          </p:cNvPr>
          <p:cNvSpPr/>
          <p:nvPr/>
        </p:nvSpPr>
        <p:spPr>
          <a:xfrm>
            <a:off x="192024" y="1248156"/>
            <a:ext cx="4286250" cy="1495044"/>
          </a:xfrm>
          <a:prstGeom prst="rect">
            <a:avLst/>
          </a:prstGeom>
          <a:solidFill>
            <a:srgbClr val="F7F7F7"/>
          </a:solidFill>
          <a:ln w="12700">
            <a:solidFill>
              <a:srgbClr val="D3D8DE"/>
            </a:solidFill>
            <a:prstDash val="solid"/>
          </a:ln>
        </p:spPr>
        <p:txBody>
          <a:bodyPr/>
          <a:lstStyle/>
          <a:p>
            <a:endParaRPr lang="en-US" sz="1000" noProof="0" dirty="0"/>
          </a:p>
        </p:txBody>
      </p:sp>
      <p:sp>
        <p:nvSpPr>
          <p:cNvPr id="8" name="Shape 6">
            <a:extLst>
              <a:ext uri="{FF2B5EF4-FFF2-40B4-BE49-F238E27FC236}">
                <a16:creationId xmlns:a16="http://schemas.microsoft.com/office/drawing/2014/main" id="{71DD6CA1-7CB9-FE86-5CAE-88977FBA31FE}"/>
              </a:ext>
            </a:extLst>
          </p:cNvPr>
          <p:cNvSpPr/>
          <p:nvPr/>
        </p:nvSpPr>
        <p:spPr>
          <a:xfrm>
            <a:off x="274320" y="1330452"/>
            <a:ext cx="34290" cy="1330452"/>
          </a:xfrm>
          <a:prstGeom prst="rect">
            <a:avLst/>
          </a:prstGeom>
          <a:solidFill>
            <a:srgbClr val="F5A623"/>
          </a:solidFill>
          <a:ln w="12700">
            <a:solidFill>
              <a:srgbClr val="F5A623">
                <a:alpha val="0"/>
              </a:srgbClr>
            </a:solidFill>
            <a:prstDash val="solid"/>
          </a:ln>
        </p:spPr>
        <p:txBody>
          <a:bodyPr/>
          <a:lstStyle/>
          <a:p>
            <a:endParaRPr lang="en-US" sz="1000" noProof="0" dirty="0"/>
          </a:p>
        </p:txBody>
      </p:sp>
      <p:sp>
        <p:nvSpPr>
          <p:cNvPr id="9" name="Text 7">
            <a:extLst>
              <a:ext uri="{FF2B5EF4-FFF2-40B4-BE49-F238E27FC236}">
                <a16:creationId xmlns:a16="http://schemas.microsoft.com/office/drawing/2014/main" id="{9A5AD402-5E85-0848-00B9-EDA72312A5AE}"/>
              </a:ext>
            </a:extLst>
          </p:cNvPr>
          <p:cNvSpPr/>
          <p:nvPr/>
        </p:nvSpPr>
        <p:spPr>
          <a:xfrm>
            <a:off x="384048" y="1371600"/>
            <a:ext cx="4039362" cy="96012"/>
          </a:xfrm>
          <a:prstGeom prst="rect">
            <a:avLst/>
          </a:prstGeom>
          <a:noFill/>
          <a:ln/>
        </p:spPr>
        <p:txBody>
          <a:bodyPr wrap="square" lIns="0" tIns="0" rIns="0" bIns="0" rtlCol="0" anchor="ctr"/>
          <a:lstStyle/>
          <a:p>
            <a:r>
              <a:rPr lang="en-US" sz="1000" b="1" noProof="0" dirty="0">
                <a:solidFill>
                  <a:srgbClr val="F5A623"/>
                </a:solidFill>
              </a:rPr>
              <a:t>Summary</a:t>
            </a:r>
            <a:endParaRPr lang="en-US" sz="1000" noProof="0" dirty="0"/>
          </a:p>
        </p:txBody>
      </p:sp>
      <p:sp>
        <p:nvSpPr>
          <p:cNvPr id="10" name="Text 8">
            <a:extLst>
              <a:ext uri="{FF2B5EF4-FFF2-40B4-BE49-F238E27FC236}">
                <a16:creationId xmlns:a16="http://schemas.microsoft.com/office/drawing/2014/main" id="{AED7B174-C877-9D62-CA66-39DED740AF80}"/>
              </a:ext>
            </a:extLst>
          </p:cNvPr>
          <p:cNvSpPr/>
          <p:nvPr/>
        </p:nvSpPr>
        <p:spPr>
          <a:xfrm>
            <a:off x="342900" y="1536192"/>
            <a:ext cx="4053078" cy="1152144"/>
          </a:xfrm>
          <a:prstGeom prst="rect">
            <a:avLst/>
          </a:prstGeom>
          <a:noFill/>
          <a:ln/>
        </p:spPr>
        <p:txBody>
          <a:bodyPr wrap="square" lIns="191" tIns="191" rIns="191" bIns="191" rtlCol="0" anchor="ctr">
            <a:normAutofit/>
          </a:bodyPr>
          <a:lstStyle/>
          <a:p>
            <a:pPr marL="76200" indent="-76200">
              <a:buSzPct val="100000"/>
              <a:buChar char="•"/>
            </a:pPr>
            <a:r>
              <a:rPr lang="en-US" sz="1000" noProof="0" dirty="0">
                <a:solidFill>
                  <a:srgbClr val="1F2A33"/>
                </a:solidFill>
              </a:rPr>
              <a:t>2026 review from authors of Belgian classroom dataset.</a:t>
            </a:r>
          </a:p>
          <a:p>
            <a:pPr marL="76200" indent="-76200">
              <a:buSzPct val="100000"/>
              <a:buChar char="•"/>
            </a:pPr>
            <a:r>
              <a:rPr lang="en-US" sz="1000" noProof="0" dirty="0">
                <a:solidFill>
                  <a:srgbClr val="1F2A33"/>
                </a:solidFill>
              </a:rPr>
              <a:t>Analyzed 46 papers about IAQ</a:t>
            </a:r>
          </a:p>
          <a:p>
            <a:pPr marL="76200" indent="-76200">
              <a:buSzPct val="100000"/>
              <a:buChar char="•"/>
            </a:pPr>
            <a:endParaRPr lang="en-US" sz="1000" noProof="0" dirty="0">
              <a:solidFill>
                <a:srgbClr val="1F2A33"/>
              </a:solidFill>
            </a:endParaRPr>
          </a:p>
        </p:txBody>
      </p:sp>
      <p:sp>
        <p:nvSpPr>
          <p:cNvPr id="11" name="Shape 9">
            <a:extLst>
              <a:ext uri="{FF2B5EF4-FFF2-40B4-BE49-F238E27FC236}">
                <a16:creationId xmlns:a16="http://schemas.microsoft.com/office/drawing/2014/main" id="{7F5A7F39-43A2-182F-53B9-434FDBE6A523}"/>
              </a:ext>
            </a:extLst>
          </p:cNvPr>
          <p:cNvSpPr/>
          <p:nvPr/>
        </p:nvSpPr>
        <p:spPr>
          <a:xfrm>
            <a:off x="4588002" y="1248156"/>
            <a:ext cx="4361688" cy="1495044"/>
          </a:xfrm>
          <a:prstGeom prst="rect">
            <a:avLst/>
          </a:prstGeom>
          <a:solidFill>
            <a:srgbClr val="F7F7F7"/>
          </a:solidFill>
          <a:ln w="12700">
            <a:solidFill>
              <a:srgbClr val="D3D8DE"/>
            </a:solidFill>
            <a:prstDash val="solid"/>
          </a:ln>
        </p:spPr>
        <p:txBody>
          <a:bodyPr/>
          <a:lstStyle/>
          <a:p>
            <a:endParaRPr lang="en-US" sz="1000" noProof="0" dirty="0"/>
          </a:p>
        </p:txBody>
      </p:sp>
      <p:sp>
        <p:nvSpPr>
          <p:cNvPr id="12" name="Shape 10">
            <a:extLst>
              <a:ext uri="{FF2B5EF4-FFF2-40B4-BE49-F238E27FC236}">
                <a16:creationId xmlns:a16="http://schemas.microsoft.com/office/drawing/2014/main" id="{B0353B13-5DAB-912A-1692-F10A0779EFC1}"/>
              </a:ext>
            </a:extLst>
          </p:cNvPr>
          <p:cNvSpPr/>
          <p:nvPr/>
        </p:nvSpPr>
        <p:spPr>
          <a:xfrm>
            <a:off x="4670298" y="1330452"/>
            <a:ext cx="34290" cy="1330452"/>
          </a:xfrm>
          <a:prstGeom prst="rect">
            <a:avLst/>
          </a:prstGeom>
          <a:solidFill>
            <a:srgbClr val="08B7A6"/>
          </a:solidFill>
          <a:ln w="12700">
            <a:solidFill>
              <a:srgbClr val="08B7A6">
                <a:alpha val="0"/>
              </a:srgbClr>
            </a:solidFill>
            <a:prstDash val="solid"/>
          </a:ln>
        </p:spPr>
        <p:txBody>
          <a:bodyPr/>
          <a:lstStyle/>
          <a:p>
            <a:endParaRPr lang="en-US" sz="1000" noProof="0" dirty="0"/>
          </a:p>
        </p:txBody>
      </p:sp>
      <p:sp>
        <p:nvSpPr>
          <p:cNvPr id="13" name="Text 11">
            <a:extLst>
              <a:ext uri="{FF2B5EF4-FFF2-40B4-BE49-F238E27FC236}">
                <a16:creationId xmlns:a16="http://schemas.microsoft.com/office/drawing/2014/main" id="{056F0138-5440-0FA0-5E36-20C0488B70DC}"/>
              </a:ext>
            </a:extLst>
          </p:cNvPr>
          <p:cNvSpPr/>
          <p:nvPr/>
        </p:nvSpPr>
        <p:spPr>
          <a:xfrm>
            <a:off x="4786884" y="1371600"/>
            <a:ext cx="1920240" cy="96012"/>
          </a:xfrm>
          <a:prstGeom prst="rect">
            <a:avLst/>
          </a:prstGeom>
          <a:noFill/>
          <a:ln/>
        </p:spPr>
        <p:txBody>
          <a:bodyPr wrap="square" lIns="0" tIns="0" rIns="0" bIns="0" rtlCol="0" anchor="ctr"/>
          <a:lstStyle/>
          <a:p>
            <a:r>
              <a:rPr lang="en-US" sz="1000" b="1" noProof="0" dirty="0">
                <a:solidFill>
                  <a:srgbClr val="08B7A6"/>
                </a:solidFill>
              </a:rPr>
              <a:t>RESESRCH GAPS THAT I CAN FILL</a:t>
            </a:r>
            <a:endParaRPr lang="en-US" sz="1000" noProof="0" dirty="0"/>
          </a:p>
        </p:txBody>
      </p:sp>
      <p:sp>
        <p:nvSpPr>
          <p:cNvPr id="25" name="Shape 23">
            <a:extLst>
              <a:ext uri="{FF2B5EF4-FFF2-40B4-BE49-F238E27FC236}">
                <a16:creationId xmlns:a16="http://schemas.microsoft.com/office/drawing/2014/main" id="{E40DC4B1-3572-CA4A-0FE7-DAEDF55A5548}"/>
              </a:ext>
            </a:extLst>
          </p:cNvPr>
          <p:cNvSpPr/>
          <p:nvPr/>
        </p:nvSpPr>
        <p:spPr>
          <a:xfrm>
            <a:off x="192024" y="2839212"/>
            <a:ext cx="4286250" cy="2060448"/>
          </a:xfrm>
          <a:prstGeom prst="rect">
            <a:avLst/>
          </a:prstGeom>
          <a:solidFill>
            <a:srgbClr val="F7F7F7"/>
          </a:solidFill>
          <a:ln w="12700">
            <a:solidFill>
              <a:srgbClr val="D3D8DE"/>
            </a:solidFill>
            <a:prstDash val="solid"/>
          </a:ln>
        </p:spPr>
        <p:txBody>
          <a:bodyPr/>
          <a:lstStyle/>
          <a:p>
            <a:endParaRPr lang="en-US" sz="1000" noProof="0" dirty="0"/>
          </a:p>
        </p:txBody>
      </p:sp>
      <p:sp>
        <p:nvSpPr>
          <p:cNvPr id="26" name="Shape 24">
            <a:extLst>
              <a:ext uri="{FF2B5EF4-FFF2-40B4-BE49-F238E27FC236}">
                <a16:creationId xmlns:a16="http://schemas.microsoft.com/office/drawing/2014/main" id="{F110C4FE-6DD3-D654-1C96-615A3A3625BF}"/>
              </a:ext>
            </a:extLst>
          </p:cNvPr>
          <p:cNvSpPr/>
          <p:nvPr/>
        </p:nvSpPr>
        <p:spPr>
          <a:xfrm>
            <a:off x="274320" y="2921508"/>
            <a:ext cx="34290" cy="1833610"/>
          </a:xfrm>
          <a:prstGeom prst="rect">
            <a:avLst/>
          </a:prstGeom>
          <a:solidFill>
            <a:srgbClr val="08B7A6"/>
          </a:solidFill>
          <a:ln w="12700">
            <a:solidFill>
              <a:srgbClr val="08B7A6">
                <a:alpha val="0"/>
              </a:srgbClr>
            </a:solidFill>
            <a:prstDash val="solid"/>
          </a:ln>
        </p:spPr>
        <p:txBody>
          <a:bodyPr/>
          <a:lstStyle/>
          <a:p>
            <a:endParaRPr lang="en-US" sz="1000" noProof="0" dirty="0"/>
          </a:p>
        </p:txBody>
      </p:sp>
      <p:sp>
        <p:nvSpPr>
          <p:cNvPr id="27" name="Text 25">
            <a:extLst>
              <a:ext uri="{FF2B5EF4-FFF2-40B4-BE49-F238E27FC236}">
                <a16:creationId xmlns:a16="http://schemas.microsoft.com/office/drawing/2014/main" id="{51B9385B-3317-EFD0-CB0F-806AA3E14D4C}"/>
              </a:ext>
            </a:extLst>
          </p:cNvPr>
          <p:cNvSpPr/>
          <p:nvPr/>
        </p:nvSpPr>
        <p:spPr>
          <a:xfrm>
            <a:off x="384048" y="2962656"/>
            <a:ext cx="4039362" cy="132322"/>
          </a:xfrm>
          <a:prstGeom prst="rect">
            <a:avLst/>
          </a:prstGeom>
          <a:noFill/>
          <a:ln/>
        </p:spPr>
        <p:txBody>
          <a:bodyPr wrap="square" lIns="0" tIns="0" rIns="0" bIns="0" rtlCol="0" anchor="ctr"/>
          <a:lstStyle/>
          <a:p>
            <a:r>
              <a:rPr lang="en-US" sz="1000" b="1" noProof="0" dirty="0">
                <a:solidFill>
                  <a:srgbClr val="08B7A6"/>
                </a:solidFill>
              </a:rPr>
              <a:t>MAIN FINDINGS</a:t>
            </a:r>
            <a:endParaRPr lang="en-US" sz="1000" noProof="0" dirty="0"/>
          </a:p>
        </p:txBody>
      </p:sp>
      <p:sp>
        <p:nvSpPr>
          <p:cNvPr id="28" name="Text 26">
            <a:extLst>
              <a:ext uri="{FF2B5EF4-FFF2-40B4-BE49-F238E27FC236}">
                <a16:creationId xmlns:a16="http://schemas.microsoft.com/office/drawing/2014/main" id="{63F74D06-F1CA-1A7E-5751-EBAE0A1D21FC}"/>
              </a:ext>
            </a:extLst>
          </p:cNvPr>
          <p:cNvSpPr/>
          <p:nvPr/>
        </p:nvSpPr>
        <p:spPr>
          <a:xfrm>
            <a:off x="342900" y="3127248"/>
            <a:ext cx="4053078" cy="1587868"/>
          </a:xfrm>
          <a:prstGeom prst="rect">
            <a:avLst/>
          </a:prstGeom>
          <a:noFill/>
          <a:ln/>
        </p:spPr>
        <p:txBody>
          <a:bodyPr wrap="square" lIns="191" tIns="191" rIns="191" bIns="191" rtlCol="0" anchor="ctr">
            <a:noAutofit/>
          </a:bodyPr>
          <a:lstStyle/>
          <a:p>
            <a:pPr marL="76200" indent="-76200">
              <a:buSzPct val="100000"/>
              <a:buChar char="•"/>
            </a:pPr>
            <a:r>
              <a:rPr lang="en-US" sz="1000" noProof="0" dirty="0">
                <a:solidFill>
                  <a:srgbClr val="1F2A33"/>
                </a:solidFill>
              </a:rPr>
              <a:t>The literature is fragmented: scales, survey wording and analysis choices vary too much for meta-analysis.</a:t>
            </a:r>
            <a:endParaRPr lang="en-US" sz="1000" noProof="0" dirty="0"/>
          </a:p>
          <a:p>
            <a:pPr marL="76200" indent="-76200">
              <a:buSzPct val="100000"/>
              <a:buChar char="•"/>
            </a:pPr>
            <a:r>
              <a:rPr lang="en-US" sz="1000" noProof="0" dirty="0">
                <a:solidFill>
                  <a:srgbClr val="1F2A33"/>
                </a:solidFill>
              </a:rPr>
              <a:t>Associations are not explained by IEQ alone; personal and contextual variables repeatedly matter.</a:t>
            </a:r>
            <a:endParaRPr lang="en-US" sz="1000" noProof="0" dirty="0"/>
          </a:p>
          <a:p>
            <a:pPr marL="76200" indent="-76200">
              <a:buSzPct val="100000"/>
              <a:buChar char="•"/>
            </a:pPr>
            <a:r>
              <a:rPr lang="en-US" sz="1000" noProof="0" dirty="0">
                <a:solidFill>
                  <a:srgbClr val="1F2A33"/>
                </a:solidFill>
              </a:rPr>
              <a:t>Many studies </a:t>
            </a:r>
            <a:r>
              <a:rPr lang="en-US" sz="1000" noProof="0" dirty="0" err="1">
                <a:solidFill>
                  <a:srgbClr val="1F2A33"/>
                </a:solidFill>
              </a:rPr>
              <a:t>analyse</a:t>
            </a:r>
            <a:r>
              <a:rPr lang="en-US" sz="1000" noProof="0" dirty="0">
                <a:solidFill>
                  <a:srgbClr val="1F2A33"/>
                </a:solidFill>
              </a:rPr>
              <a:t> only 1–4 variables; 63% restrict analysis to just one variable category.</a:t>
            </a:r>
            <a:endParaRPr lang="en-US" sz="1000" noProof="0" dirty="0"/>
          </a:p>
          <a:p>
            <a:pPr marL="76200" indent="-76200">
              <a:buSzPct val="100000"/>
              <a:buChar char="•"/>
            </a:pPr>
            <a:r>
              <a:rPr lang="en-US" sz="1000" noProof="0" dirty="0">
                <a:solidFill>
                  <a:srgbClr val="1F2A33"/>
                </a:solidFill>
              </a:rPr>
              <a:t>Methodological validity is often weak: poor justification of statistical method and almost no power analysis.</a:t>
            </a:r>
          </a:p>
          <a:p>
            <a:pPr marL="76200" indent="-76200">
              <a:buSzPct val="100000"/>
              <a:buChar char="•"/>
            </a:pPr>
            <a:r>
              <a:rPr lang="en-US" sz="1000" noProof="0" dirty="0">
                <a:solidFill>
                  <a:srgbClr val="1F2A33"/>
                </a:solidFill>
              </a:rPr>
              <a:t>Only 3 of 46 studies did predictive models</a:t>
            </a:r>
            <a:endParaRPr lang="en-US" sz="1000" noProof="0" dirty="0"/>
          </a:p>
        </p:txBody>
      </p:sp>
      <p:sp>
        <p:nvSpPr>
          <p:cNvPr id="29" name="Shape 27">
            <a:extLst>
              <a:ext uri="{FF2B5EF4-FFF2-40B4-BE49-F238E27FC236}">
                <a16:creationId xmlns:a16="http://schemas.microsoft.com/office/drawing/2014/main" id="{B19F79A3-311D-5321-EAB9-63569F5A1CB2}"/>
              </a:ext>
            </a:extLst>
          </p:cNvPr>
          <p:cNvSpPr/>
          <p:nvPr/>
        </p:nvSpPr>
        <p:spPr>
          <a:xfrm>
            <a:off x="4588002" y="2839212"/>
            <a:ext cx="4361688" cy="2060448"/>
          </a:xfrm>
          <a:prstGeom prst="rect">
            <a:avLst/>
          </a:prstGeom>
          <a:solidFill>
            <a:srgbClr val="F7F7F7"/>
          </a:solidFill>
          <a:ln w="12700">
            <a:solidFill>
              <a:srgbClr val="D3D8DE"/>
            </a:solidFill>
            <a:prstDash val="solid"/>
          </a:ln>
        </p:spPr>
        <p:txBody>
          <a:bodyPr/>
          <a:lstStyle/>
          <a:p>
            <a:endParaRPr lang="en-US" sz="1000" noProof="0" dirty="0"/>
          </a:p>
        </p:txBody>
      </p:sp>
      <p:sp>
        <p:nvSpPr>
          <p:cNvPr id="30" name="Shape 28">
            <a:extLst>
              <a:ext uri="{FF2B5EF4-FFF2-40B4-BE49-F238E27FC236}">
                <a16:creationId xmlns:a16="http://schemas.microsoft.com/office/drawing/2014/main" id="{017A0936-0A6D-2ED1-6AA8-30D4BBE9BF7F}"/>
              </a:ext>
            </a:extLst>
          </p:cNvPr>
          <p:cNvSpPr/>
          <p:nvPr/>
        </p:nvSpPr>
        <p:spPr>
          <a:xfrm>
            <a:off x="4670298" y="2921508"/>
            <a:ext cx="34290" cy="1833610"/>
          </a:xfrm>
          <a:prstGeom prst="rect">
            <a:avLst/>
          </a:prstGeom>
          <a:solidFill>
            <a:srgbClr val="355BFF"/>
          </a:solidFill>
          <a:ln w="12700">
            <a:solidFill>
              <a:srgbClr val="355BFF">
                <a:alpha val="0"/>
              </a:srgbClr>
            </a:solidFill>
            <a:prstDash val="solid"/>
          </a:ln>
        </p:spPr>
        <p:txBody>
          <a:bodyPr/>
          <a:lstStyle/>
          <a:p>
            <a:endParaRPr lang="en-US" sz="1000" noProof="0" dirty="0"/>
          </a:p>
        </p:txBody>
      </p:sp>
      <p:sp>
        <p:nvSpPr>
          <p:cNvPr id="31" name="Text 29">
            <a:extLst>
              <a:ext uri="{FF2B5EF4-FFF2-40B4-BE49-F238E27FC236}">
                <a16:creationId xmlns:a16="http://schemas.microsoft.com/office/drawing/2014/main" id="{60CCFB2A-C171-83E5-C622-D07AD30C3543}"/>
              </a:ext>
            </a:extLst>
          </p:cNvPr>
          <p:cNvSpPr/>
          <p:nvPr/>
        </p:nvSpPr>
        <p:spPr>
          <a:xfrm>
            <a:off x="4780026" y="2962656"/>
            <a:ext cx="4114800" cy="132322"/>
          </a:xfrm>
          <a:prstGeom prst="rect">
            <a:avLst/>
          </a:prstGeom>
          <a:noFill/>
          <a:ln/>
        </p:spPr>
        <p:txBody>
          <a:bodyPr wrap="square" lIns="0" tIns="0" rIns="0" bIns="0" rtlCol="0" anchor="ctr"/>
          <a:lstStyle/>
          <a:p>
            <a:r>
              <a:rPr lang="en-US" sz="1000" b="1" noProof="0" dirty="0">
                <a:solidFill>
                  <a:srgbClr val="355BFF"/>
                </a:solidFill>
              </a:rPr>
              <a:t>NOTES</a:t>
            </a:r>
            <a:endParaRPr lang="en-US" sz="1000" noProof="0" dirty="0"/>
          </a:p>
        </p:txBody>
      </p:sp>
      <p:sp>
        <p:nvSpPr>
          <p:cNvPr id="32" name="Text 30">
            <a:extLst>
              <a:ext uri="{FF2B5EF4-FFF2-40B4-BE49-F238E27FC236}">
                <a16:creationId xmlns:a16="http://schemas.microsoft.com/office/drawing/2014/main" id="{B4448F3C-18C8-E43F-CBF1-55072AF7B26B}"/>
              </a:ext>
            </a:extLst>
          </p:cNvPr>
          <p:cNvSpPr/>
          <p:nvPr/>
        </p:nvSpPr>
        <p:spPr>
          <a:xfrm>
            <a:off x="4738878" y="3127248"/>
            <a:ext cx="4128516" cy="1587868"/>
          </a:xfrm>
          <a:prstGeom prst="rect">
            <a:avLst/>
          </a:prstGeom>
          <a:noFill/>
          <a:ln/>
        </p:spPr>
        <p:txBody>
          <a:bodyPr wrap="square" lIns="191" tIns="191" rIns="191" bIns="191" rtlCol="0" anchor="ctr">
            <a:noAutofit/>
          </a:bodyPr>
          <a:lstStyle/>
          <a:p>
            <a:pPr marL="76200" indent="-76200">
              <a:buSzPct val="100000"/>
              <a:buChar char="•"/>
            </a:pPr>
            <a:r>
              <a:rPr lang="en-US" sz="1000" noProof="0" dirty="0">
                <a:solidFill>
                  <a:srgbClr val="1F2A33"/>
                </a:solidFill>
              </a:rPr>
              <a:t>The best, newest and most related review I have found so far.</a:t>
            </a:r>
          </a:p>
          <a:p>
            <a:pPr marL="76200" indent="-76200">
              <a:buSzPct val="100000"/>
              <a:buChar char="•"/>
            </a:pPr>
            <a:r>
              <a:rPr lang="en-US" sz="1000" noProof="0" dirty="0">
                <a:solidFill>
                  <a:srgbClr val="1F2A33"/>
                </a:solidFill>
              </a:rPr>
              <a:t>My research exactly fill some of the research gaps.</a:t>
            </a:r>
            <a:endParaRPr lang="en-US" sz="1000" noProof="0" dirty="0"/>
          </a:p>
        </p:txBody>
      </p:sp>
      <p:sp>
        <p:nvSpPr>
          <p:cNvPr id="35" name="Text 8">
            <a:extLst>
              <a:ext uri="{FF2B5EF4-FFF2-40B4-BE49-F238E27FC236}">
                <a16:creationId xmlns:a16="http://schemas.microsoft.com/office/drawing/2014/main" id="{B29E3417-D03D-D973-8BB9-5123A0B1118D}"/>
              </a:ext>
            </a:extLst>
          </p:cNvPr>
          <p:cNvSpPr/>
          <p:nvPr/>
        </p:nvSpPr>
        <p:spPr>
          <a:xfrm>
            <a:off x="4738878" y="1502898"/>
            <a:ext cx="4053078" cy="1152144"/>
          </a:xfrm>
          <a:prstGeom prst="rect">
            <a:avLst/>
          </a:prstGeom>
          <a:noFill/>
          <a:ln/>
        </p:spPr>
        <p:txBody>
          <a:bodyPr wrap="square" lIns="191" tIns="191" rIns="191" bIns="191" rtlCol="0" anchor="ctr">
            <a:normAutofit/>
          </a:bodyPr>
          <a:lstStyle/>
          <a:p>
            <a:pPr marL="76200" indent="-76200">
              <a:buSzPct val="100000"/>
              <a:buChar char="•"/>
            </a:pPr>
            <a:r>
              <a:rPr lang="en-US" sz="1000" noProof="0" dirty="0">
                <a:solidFill>
                  <a:srgbClr val="1F2A33"/>
                </a:solidFill>
              </a:rPr>
              <a:t>Lack of IEQ prediction models</a:t>
            </a:r>
          </a:p>
          <a:p>
            <a:pPr marL="76200" indent="-76200">
              <a:buSzPct val="100000"/>
              <a:buChar char="•"/>
            </a:pPr>
            <a:r>
              <a:rPr lang="en-US" sz="1000" noProof="0" dirty="0">
                <a:solidFill>
                  <a:srgbClr val="1F2A33"/>
                </a:solidFill>
              </a:rPr>
              <a:t>Lack of personalization </a:t>
            </a:r>
            <a:r>
              <a:rPr lang="en-US" sz="1000" noProof="0" dirty="0">
                <a:solidFill>
                  <a:srgbClr val="1F2A33"/>
                </a:solidFill>
                <a:sym typeface="Wingdings" panose="05000000000000000000" pitchFamily="2" charset="2"/>
              </a:rPr>
              <a:t> I </a:t>
            </a:r>
            <a:r>
              <a:rPr lang="en-US" sz="1000" noProof="0" dirty="0" err="1">
                <a:solidFill>
                  <a:srgbClr val="1F2A33"/>
                </a:solidFill>
                <a:sym typeface="Wingdings" panose="05000000000000000000" pitchFamily="2" charset="2"/>
              </a:rPr>
              <a:t>plann</a:t>
            </a:r>
            <a:r>
              <a:rPr lang="en-US" sz="1000" noProof="0" dirty="0">
                <a:solidFill>
                  <a:srgbClr val="1F2A33"/>
                </a:solidFill>
                <a:sym typeface="Wingdings" panose="05000000000000000000" pitchFamily="2" charset="2"/>
              </a:rPr>
              <a:t> to compare general and personalized models</a:t>
            </a:r>
          </a:p>
          <a:p>
            <a:pPr marL="76200" indent="-76200">
              <a:buSzPct val="100000"/>
              <a:buChar char="•"/>
            </a:pPr>
            <a:r>
              <a:rPr lang="en-US" sz="1000" noProof="0" dirty="0">
                <a:solidFill>
                  <a:srgbClr val="1F2A33"/>
                </a:solidFill>
                <a:sym typeface="Wingdings" panose="05000000000000000000" pitchFamily="2" charset="2"/>
              </a:rPr>
              <a:t>Lack of repeated measurements on </a:t>
            </a:r>
            <a:r>
              <a:rPr lang="en-US" sz="1000" noProof="0" dirty="0" err="1">
                <a:solidFill>
                  <a:srgbClr val="1F2A33"/>
                </a:solidFill>
                <a:sym typeface="Wingdings" panose="05000000000000000000" pitchFamily="2" charset="2"/>
              </a:rPr>
              <a:t>thesame</a:t>
            </a:r>
            <a:r>
              <a:rPr lang="en-US" sz="1000" noProof="0" dirty="0">
                <a:solidFill>
                  <a:srgbClr val="1F2A33"/>
                </a:solidFill>
                <a:sym typeface="Wingdings" panose="05000000000000000000" pitchFamily="2" charset="2"/>
              </a:rPr>
              <a:t> person (Belgian </a:t>
            </a:r>
            <a:r>
              <a:rPr lang="en-US" sz="1000" noProof="0" dirty="0" err="1">
                <a:solidFill>
                  <a:srgbClr val="1F2A33"/>
                </a:solidFill>
                <a:sym typeface="Wingdings" panose="05000000000000000000" pitchFamily="2" charset="2"/>
              </a:rPr>
              <a:t>clasroom</a:t>
            </a:r>
            <a:r>
              <a:rPr lang="en-US" sz="1000" noProof="0" dirty="0">
                <a:solidFill>
                  <a:srgbClr val="1F2A33"/>
                </a:solidFill>
                <a:sym typeface="Wingdings" panose="05000000000000000000" pitchFamily="2" charset="2"/>
              </a:rPr>
              <a:t> dataset has these data)</a:t>
            </a:r>
          </a:p>
          <a:p>
            <a:pPr marL="76200" indent="-76200">
              <a:buSzPct val="100000"/>
              <a:buChar char="•"/>
            </a:pPr>
            <a:r>
              <a:rPr lang="en-US" sz="1000" noProof="0" dirty="0">
                <a:solidFill>
                  <a:srgbClr val="1F2A33"/>
                </a:solidFill>
                <a:sym typeface="Wingdings" panose="05000000000000000000" pitchFamily="2" charset="2"/>
              </a:rPr>
              <a:t>Lack of models that could be used for personalized HVAC operation</a:t>
            </a:r>
            <a:endParaRPr lang="en-US" sz="1000" noProof="0" dirty="0">
              <a:solidFill>
                <a:srgbClr val="1F2A33"/>
              </a:solidFill>
            </a:endParaRPr>
          </a:p>
        </p:txBody>
      </p:sp>
    </p:spTree>
    <p:extLst>
      <p:ext uri="{BB962C8B-B14F-4D97-AF65-F5344CB8AC3E}">
        <p14:creationId xmlns:p14="http://schemas.microsoft.com/office/powerpoint/2010/main" val="20833634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470A80-2F89-3374-4BD6-35442A56B798}"/>
              </a:ext>
            </a:extLst>
          </p:cNvPr>
          <p:cNvPicPr>
            <a:picLocks noChangeAspect="1"/>
          </p:cNvPicPr>
          <p:nvPr/>
        </p:nvPicPr>
        <p:blipFill>
          <a:blip r:embed="rId2"/>
          <a:stretch>
            <a:fillRect/>
          </a:stretch>
        </p:blipFill>
        <p:spPr>
          <a:xfrm>
            <a:off x="0" y="610925"/>
            <a:ext cx="4347452" cy="2350272"/>
          </a:xfrm>
          <a:prstGeom prst="rect">
            <a:avLst/>
          </a:prstGeom>
        </p:spPr>
      </p:pic>
      <p:pic>
        <p:nvPicPr>
          <p:cNvPr id="6" name="Picture 5">
            <a:extLst>
              <a:ext uri="{FF2B5EF4-FFF2-40B4-BE49-F238E27FC236}">
                <a16:creationId xmlns:a16="http://schemas.microsoft.com/office/drawing/2014/main" id="{F24B9156-28CD-E594-CEC3-0119A1EF74A3}"/>
              </a:ext>
            </a:extLst>
          </p:cNvPr>
          <p:cNvPicPr>
            <a:picLocks noChangeAspect="1"/>
          </p:cNvPicPr>
          <p:nvPr/>
        </p:nvPicPr>
        <p:blipFill>
          <a:blip r:embed="rId3"/>
          <a:stretch>
            <a:fillRect/>
          </a:stretch>
        </p:blipFill>
        <p:spPr>
          <a:xfrm>
            <a:off x="4347452" y="610925"/>
            <a:ext cx="4796548" cy="4308970"/>
          </a:xfrm>
          <a:prstGeom prst="rect">
            <a:avLst/>
          </a:prstGeom>
        </p:spPr>
      </p:pic>
    </p:spTree>
    <p:extLst>
      <p:ext uri="{BB962C8B-B14F-4D97-AF65-F5344CB8AC3E}">
        <p14:creationId xmlns:p14="http://schemas.microsoft.com/office/powerpoint/2010/main" val="39949111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A0F68-9B65-4A8C-6C6B-F379FF272DF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8F3DE33-A728-7945-B3B4-B07EBC8FB51D}"/>
              </a:ext>
            </a:extLst>
          </p:cNvPr>
          <p:cNvPicPr>
            <a:picLocks noChangeAspect="1"/>
          </p:cNvPicPr>
          <p:nvPr/>
        </p:nvPicPr>
        <p:blipFill>
          <a:blip r:embed="rId2"/>
          <a:stretch>
            <a:fillRect/>
          </a:stretch>
        </p:blipFill>
        <p:spPr>
          <a:xfrm>
            <a:off x="1740339" y="0"/>
            <a:ext cx="5663322" cy="5143500"/>
          </a:xfrm>
          <a:prstGeom prst="rect">
            <a:avLst/>
          </a:prstGeom>
        </p:spPr>
      </p:pic>
    </p:spTree>
    <p:extLst>
      <p:ext uri="{BB962C8B-B14F-4D97-AF65-F5344CB8AC3E}">
        <p14:creationId xmlns:p14="http://schemas.microsoft.com/office/powerpoint/2010/main" val="27593731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1BBAF-EF70-A8CB-6F2C-68F51FD0E75F}"/>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B4EBA9D8-3F4D-B2A5-3FE1-60D75B648521}"/>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88</a:t>
            </a:fld>
            <a:endParaRPr lang="en-US" noProof="0" dirty="0">
              <a:latin typeface="+mn-lt"/>
            </a:endParaRPr>
          </a:p>
        </p:txBody>
      </p:sp>
      <p:sp>
        <p:nvSpPr>
          <p:cNvPr id="26" name="Shape 2">
            <a:extLst>
              <a:ext uri="{FF2B5EF4-FFF2-40B4-BE49-F238E27FC236}">
                <a16:creationId xmlns:a16="http://schemas.microsoft.com/office/drawing/2014/main" id="{52E63605-CD1C-B384-9376-B14207DA881A}"/>
              </a:ext>
            </a:extLst>
          </p:cNvPr>
          <p:cNvSpPr/>
          <p:nvPr/>
        </p:nvSpPr>
        <p:spPr>
          <a:xfrm>
            <a:off x="260604" y="720090"/>
            <a:ext cx="8606790" cy="4089510"/>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93B64CEB-AC67-C9EB-2CF6-E86C79089E0D}"/>
              </a:ext>
            </a:extLst>
          </p:cNvPr>
          <p:cNvSpPr/>
          <p:nvPr/>
        </p:nvSpPr>
        <p:spPr>
          <a:xfrm>
            <a:off x="281178" y="802385"/>
            <a:ext cx="48006" cy="3936429"/>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9A3A49F4-8A8D-B2C0-1ACA-4CB716953A7F}"/>
              </a:ext>
            </a:extLst>
          </p:cNvPr>
          <p:cNvSpPr/>
          <p:nvPr/>
        </p:nvSpPr>
        <p:spPr>
          <a:xfrm>
            <a:off x="384048" y="774953"/>
            <a:ext cx="8414766" cy="333847"/>
          </a:xfrm>
          <a:prstGeom prst="rect">
            <a:avLst/>
          </a:prstGeom>
          <a:noFill/>
          <a:ln/>
        </p:spPr>
        <p:txBody>
          <a:bodyPr wrap="square" lIns="0" tIns="0" rIns="0" bIns="0" rtlCol="0" anchor="ctr"/>
          <a:lstStyle/>
          <a:p>
            <a:r>
              <a:rPr lang="en-US" sz="1050" b="1" noProof="0" dirty="0" err="1">
                <a:solidFill>
                  <a:srgbClr val="E39A12"/>
                </a:solidFill>
                <a:ea typeface="Arial" pitchFamily="34" charset="-122"/>
                <a:cs typeface="Arial" pitchFamily="34" charset="-120"/>
              </a:rPr>
              <a:t>Retated</a:t>
            </a:r>
            <a:r>
              <a:rPr lang="en-US" sz="1050" b="1" noProof="0" dirty="0">
                <a:solidFill>
                  <a:srgbClr val="E39A12"/>
                </a:solidFill>
                <a:ea typeface="Arial" pitchFamily="34" charset="-122"/>
                <a:cs typeface="Arial" pitchFamily="34" charset="-120"/>
              </a:rPr>
              <a:t> papers</a:t>
            </a:r>
            <a:endParaRPr lang="en-US" sz="1050" noProof="0" dirty="0"/>
          </a:p>
        </p:txBody>
      </p:sp>
      <p:sp>
        <p:nvSpPr>
          <p:cNvPr id="35" name="Text 11">
            <a:extLst>
              <a:ext uri="{FF2B5EF4-FFF2-40B4-BE49-F238E27FC236}">
                <a16:creationId xmlns:a16="http://schemas.microsoft.com/office/drawing/2014/main" id="{A276CEA1-E528-4AD2-05D5-AF7AF89CFCC5}"/>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Dataset related papers</a:t>
            </a:r>
          </a:p>
        </p:txBody>
      </p:sp>
      <p:sp>
        <p:nvSpPr>
          <p:cNvPr id="36" name="Text 12">
            <a:extLst>
              <a:ext uri="{FF2B5EF4-FFF2-40B4-BE49-F238E27FC236}">
                <a16:creationId xmlns:a16="http://schemas.microsoft.com/office/drawing/2014/main" id="{CC7DCD88-E247-DF23-7CF9-DBA4768D49C9}"/>
              </a:ext>
            </a:extLst>
          </p:cNvPr>
          <p:cNvSpPr/>
          <p:nvPr/>
        </p:nvSpPr>
        <p:spPr>
          <a:xfrm>
            <a:off x="466344" y="1108800"/>
            <a:ext cx="8211312" cy="3542400"/>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050" b="1" noProof="0" dirty="0">
                <a:hlinkClick r:id="rId3"/>
              </a:rPr>
              <a:t>Primary school:</a:t>
            </a:r>
            <a:r>
              <a:rPr lang="en-US" sz="1050" b="1" noProof="0" dirty="0"/>
              <a:t> 3 citations</a:t>
            </a:r>
          </a:p>
          <a:p>
            <a:pPr marL="1085850" lvl="2" indent="-171450">
              <a:buFont typeface="Arial" panose="020B0604020202020204" pitchFamily="34" charset="0"/>
              <a:buChar char="•"/>
            </a:pPr>
            <a:r>
              <a:rPr lang="en-US" sz="1050" noProof="0" dirty="0">
                <a:hlinkClick r:id="rId4"/>
              </a:rPr>
              <a:t>A Review of Subjective Indoor Air Quality Assessment in Non-Residential Buildings: Current Trends and Recommendations</a:t>
            </a:r>
            <a:endParaRPr lang="en-US" sz="1050" noProof="0" dirty="0"/>
          </a:p>
          <a:p>
            <a:pPr marL="1085850" lvl="2" indent="-171450">
              <a:buFont typeface="Arial" panose="020B0604020202020204" pitchFamily="34" charset="0"/>
              <a:buChar char="•"/>
            </a:pPr>
            <a:r>
              <a:rPr lang="en-US" sz="1050" noProof="0" dirty="0">
                <a:hlinkClick r:id="rId5"/>
              </a:rPr>
              <a:t>Approaches to Assessing IEQ in Urban School Classrooms: Focusing on Primary and Secondary Education</a:t>
            </a:r>
            <a:endParaRPr lang="en-US" sz="1050" noProof="0" dirty="0"/>
          </a:p>
          <a:p>
            <a:pPr marL="1543050" lvl="3" indent="-171450">
              <a:buFont typeface="Arial" panose="020B0604020202020204" pitchFamily="34" charset="0"/>
              <a:buChar char="•"/>
            </a:pPr>
            <a:r>
              <a:rPr lang="en-US" sz="1050" noProof="0" dirty="0" err="1"/>
              <a:t>Supportiv</a:t>
            </a:r>
            <a:r>
              <a:rPr lang="en-US" sz="1050" noProof="0" dirty="0"/>
              <a:t> document for IEQ in schools (does not talk about models)</a:t>
            </a:r>
            <a:endParaRPr lang="en-US" sz="1050" b="1" noProof="0" dirty="0"/>
          </a:p>
          <a:p>
            <a:pPr marL="171450" indent="-171450">
              <a:lnSpc>
                <a:spcPct val="100000"/>
              </a:lnSpc>
              <a:spcBef>
                <a:spcPts val="0"/>
              </a:spcBef>
              <a:spcAft>
                <a:spcPts val="0"/>
              </a:spcAft>
              <a:buFont typeface="Arial" panose="020B0604020202020204" pitchFamily="34" charset="0"/>
              <a:buChar char="•"/>
            </a:pPr>
            <a:r>
              <a:rPr lang="en-US" sz="1050" b="1" noProof="0" dirty="0">
                <a:hlinkClick r:id="rId6"/>
              </a:rPr>
              <a:t>Secondary schools:</a:t>
            </a:r>
            <a:r>
              <a:rPr lang="en-US" sz="1050" noProof="0" dirty="0">
                <a:hlinkClick r:id="rId6"/>
              </a:rPr>
              <a:t> </a:t>
            </a:r>
            <a:r>
              <a:rPr lang="en-US" sz="1050" b="1" noProof="0" dirty="0"/>
              <a:t>3 citations</a:t>
            </a:r>
          </a:p>
          <a:p>
            <a:pPr marL="1085850" lvl="2" indent="-171450">
              <a:buFont typeface="Arial" panose="020B0604020202020204" pitchFamily="34" charset="0"/>
              <a:buChar char="•"/>
            </a:pPr>
            <a:r>
              <a:rPr lang="en-US" sz="1050" noProof="0" dirty="0">
                <a:hlinkClick r:id="rId7"/>
              </a:rPr>
              <a:t>Indoor environmental quality for comfort learning environments: case study of Palestinian school buildings</a:t>
            </a:r>
            <a:endParaRPr lang="en-US" sz="1050" noProof="0" dirty="0"/>
          </a:p>
          <a:p>
            <a:pPr marL="1543050" lvl="3" indent="-171450">
              <a:buFont typeface="Arial" panose="020B0604020202020204" pitchFamily="34" charset="0"/>
              <a:buChar char="•"/>
            </a:pPr>
            <a:r>
              <a:rPr lang="en-US" sz="1050" noProof="0" dirty="0"/>
              <a:t>Dataset is not public</a:t>
            </a:r>
          </a:p>
          <a:p>
            <a:pPr marL="1543050" lvl="3" indent="-171450">
              <a:buFont typeface="Arial" panose="020B0604020202020204" pitchFamily="34" charset="0"/>
              <a:buChar char="•"/>
            </a:pPr>
            <a:r>
              <a:rPr lang="en-US" sz="1050" noProof="0" dirty="0">
                <a:hlinkClick r:id="rId8"/>
              </a:rPr>
              <a:t>Evaluation of indoor environmental quality and pupils' satisfaction in Flemish primary schools </a:t>
            </a:r>
            <a:endParaRPr lang="en-US" sz="1050" noProof="0" dirty="0"/>
          </a:p>
          <a:p>
            <a:pPr marL="1543050" lvl="3" indent="-171450">
              <a:buFont typeface="Arial" panose="020B0604020202020204" pitchFamily="34" charset="0"/>
              <a:buChar char="•"/>
            </a:pPr>
            <a:r>
              <a:rPr lang="en-US" sz="1050" noProof="0" dirty="0"/>
              <a:t>Part of the full dataset</a:t>
            </a:r>
          </a:p>
          <a:p>
            <a:pPr marL="1085850" lvl="2" indent="-171450">
              <a:buFont typeface="Arial" panose="020B0604020202020204" pitchFamily="34" charset="0"/>
              <a:buChar char="•"/>
            </a:pPr>
            <a:r>
              <a:rPr lang="en-US" sz="1050" noProof="0" dirty="0">
                <a:hlinkClick r:id="rId9"/>
              </a:rPr>
              <a:t>Occupant-centric control in non-residential buildings</a:t>
            </a:r>
            <a:endParaRPr lang="en-US" sz="1050" noProof="0" dirty="0"/>
          </a:p>
          <a:p>
            <a:pPr marL="1543050" lvl="3" indent="-171450">
              <a:buFont typeface="Arial" panose="020B0604020202020204" pitchFamily="34" charset="0"/>
              <a:buChar char="•"/>
            </a:pPr>
            <a:r>
              <a:rPr lang="en-US" sz="1050" noProof="0" dirty="0"/>
              <a:t>Conference  abstract (They proposed to study: relationship between IEQ and satisfaction, develop personalized satisfaction models, integrate them into an HVAC-based occupant-centric control framework, and define a consensus strategy for shared spaces such as classrooms and open-plan offices.)</a:t>
            </a:r>
          </a:p>
          <a:p>
            <a:pPr marL="171450" indent="-171450">
              <a:buFont typeface="Arial" panose="020B0604020202020204" pitchFamily="34" charset="0"/>
              <a:buChar char="•"/>
            </a:pPr>
            <a:r>
              <a:rPr lang="en-US" sz="1050" b="1" noProof="0" dirty="0">
                <a:solidFill>
                  <a:srgbClr val="1C263C"/>
                </a:solidFill>
                <a:latin typeface="Aptos" pitchFamily="34" charset="0"/>
                <a:ea typeface="Aptos" pitchFamily="34" charset="-122"/>
                <a:cs typeface="Aptos" pitchFamily="34" charset="-120"/>
                <a:hlinkClick r:id="rId10"/>
              </a:rPr>
              <a:t>Lecture rooms: </a:t>
            </a:r>
            <a:r>
              <a:rPr lang="en-US" sz="1050" b="1" noProof="0" dirty="0">
                <a:solidFill>
                  <a:srgbClr val="1C263C"/>
                </a:solidFill>
                <a:latin typeface="Aptos" pitchFamily="34" charset="0"/>
                <a:ea typeface="Aptos" pitchFamily="34" charset="-122"/>
                <a:cs typeface="Aptos" pitchFamily="34" charset="-120"/>
              </a:rPr>
              <a:t>7 citations</a:t>
            </a:r>
          </a:p>
          <a:p>
            <a:pPr marL="1085850" lvl="2" indent="-171450">
              <a:buFont typeface="Arial" panose="020B0604020202020204" pitchFamily="34" charset="0"/>
              <a:buChar char="•"/>
            </a:pPr>
            <a:r>
              <a:rPr lang="en-US" sz="1050" noProof="0" dirty="0">
                <a:hlinkClick r:id="rId11"/>
              </a:rPr>
              <a:t>Predicting individual thermal preferences in an office: Assessing the performance of mixed-effects models</a:t>
            </a:r>
            <a:endParaRPr lang="en-US" sz="1050" noProof="0" dirty="0"/>
          </a:p>
          <a:p>
            <a:pPr marL="1543050" lvl="3" indent="-171450">
              <a:buFont typeface="Arial" panose="020B0604020202020204" pitchFamily="34" charset="0"/>
              <a:buChar char="•"/>
            </a:pPr>
            <a:r>
              <a:rPr lang="en-US" sz="1050" noProof="0" dirty="0"/>
              <a:t>Only thermal preference; they have proved that mixed-effects models improve accuracy</a:t>
            </a:r>
          </a:p>
          <a:p>
            <a:pPr marL="1085850" lvl="2" indent="-171450">
              <a:buFont typeface="Arial" panose="020B0604020202020204" pitchFamily="34" charset="0"/>
              <a:buChar char="•"/>
            </a:pPr>
            <a:r>
              <a:rPr lang="en-US" sz="1050" noProof="0" dirty="0">
                <a:hlinkClick r:id="rId12"/>
              </a:rPr>
              <a:t>Analyzing the Impact of Occupancy Patterns on Indoor Air Quality in University Classrooms Using a Real-Time Monitoring System.</a:t>
            </a:r>
            <a:endParaRPr lang="en-US" sz="1050" noProof="0" dirty="0"/>
          </a:p>
          <a:p>
            <a:pPr marL="171450" indent="-171450">
              <a:buFont typeface="Arial" panose="020B0604020202020204" pitchFamily="34" charset="0"/>
              <a:buChar char="•"/>
            </a:pPr>
            <a:r>
              <a:rPr lang="en-US" sz="1050" b="1" noProof="0" dirty="0">
                <a:hlinkClick r:id="rId13"/>
              </a:rPr>
              <a:t>Full dataset</a:t>
            </a:r>
            <a:r>
              <a:rPr lang="en-US" sz="1050" b="1" noProof="0" dirty="0"/>
              <a:t>: 0</a:t>
            </a:r>
            <a:r>
              <a:rPr lang="en-US" sz="1050" noProof="0" dirty="0"/>
              <a:t> citations</a:t>
            </a:r>
          </a:p>
        </p:txBody>
      </p:sp>
      <p:sp>
        <p:nvSpPr>
          <p:cNvPr id="38" name="Text 14">
            <a:extLst>
              <a:ext uri="{FF2B5EF4-FFF2-40B4-BE49-F238E27FC236}">
                <a16:creationId xmlns:a16="http://schemas.microsoft.com/office/drawing/2014/main" id="{3D5CA5A8-CEE2-5D61-EBCC-CE9A62583F53}"/>
              </a:ext>
            </a:extLst>
          </p:cNvPr>
          <p:cNvSpPr/>
          <p:nvPr/>
        </p:nvSpPr>
        <p:spPr>
          <a:xfrm>
            <a:off x="466344" y="1824228"/>
            <a:ext cx="8161020" cy="689890"/>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33532708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37DF6-B528-F1B8-D6D8-C044702BF15F}"/>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78DD797-4FF5-B8C1-8C55-30AE54083AC2}"/>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89</a:t>
            </a:fld>
            <a:endParaRPr lang="en-US" noProof="0" dirty="0">
              <a:latin typeface="+mn-lt"/>
            </a:endParaRPr>
          </a:p>
        </p:txBody>
      </p:sp>
      <p:sp>
        <p:nvSpPr>
          <p:cNvPr id="26" name="Shape 2">
            <a:extLst>
              <a:ext uri="{FF2B5EF4-FFF2-40B4-BE49-F238E27FC236}">
                <a16:creationId xmlns:a16="http://schemas.microsoft.com/office/drawing/2014/main" id="{F1F7D877-005F-060B-C661-6D17E4C1613C}"/>
              </a:ext>
            </a:extLst>
          </p:cNvPr>
          <p:cNvSpPr/>
          <p:nvPr/>
        </p:nvSpPr>
        <p:spPr>
          <a:xfrm>
            <a:off x="260604" y="720090"/>
            <a:ext cx="8606790" cy="4089510"/>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0C537F68-7DCE-79B1-D0F0-1EE6979CC99F}"/>
              </a:ext>
            </a:extLst>
          </p:cNvPr>
          <p:cNvSpPr/>
          <p:nvPr/>
        </p:nvSpPr>
        <p:spPr>
          <a:xfrm>
            <a:off x="281178" y="802385"/>
            <a:ext cx="48006" cy="3936429"/>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ED7FD252-C52D-959B-3440-F8424AE0143F}"/>
              </a:ext>
            </a:extLst>
          </p:cNvPr>
          <p:cNvSpPr/>
          <p:nvPr/>
        </p:nvSpPr>
        <p:spPr>
          <a:xfrm>
            <a:off x="384048" y="774953"/>
            <a:ext cx="8414766" cy="333847"/>
          </a:xfrm>
          <a:prstGeom prst="rect">
            <a:avLst/>
          </a:prstGeom>
          <a:noFill/>
          <a:ln/>
        </p:spPr>
        <p:txBody>
          <a:bodyPr wrap="square" lIns="0" tIns="0" rIns="0" bIns="0" rtlCol="0" anchor="ctr"/>
          <a:lstStyle/>
          <a:p>
            <a:r>
              <a:rPr lang="en-US" sz="1050" b="1" noProof="0" dirty="0" err="1">
                <a:solidFill>
                  <a:srgbClr val="E39A12"/>
                </a:solidFill>
                <a:ea typeface="Arial" pitchFamily="34" charset="-122"/>
                <a:cs typeface="Arial" pitchFamily="34" charset="-120"/>
              </a:rPr>
              <a:t>Retated</a:t>
            </a:r>
            <a:r>
              <a:rPr lang="en-US" sz="1050" b="1" noProof="0" dirty="0">
                <a:solidFill>
                  <a:srgbClr val="E39A12"/>
                </a:solidFill>
                <a:ea typeface="Arial" pitchFamily="34" charset="-122"/>
                <a:cs typeface="Arial" pitchFamily="34" charset="-120"/>
              </a:rPr>
              <a:t> papers</a:t>
            </a:r>
            <a:endParaRPr lang="en-US" sz="1050" noProof="0" dirty="0"/>
          </a:p>
        </p:txBody>
      </p:sp>
      <p:sp>
        <p:nvSpPr>
          <p:cNvPr id="35" name="Text 11">
            <a:extLst>
              <a:ext uri="{FF2B5EF4-FFF2-40B4-BE49-F238E27FC236}">
                <a16:creationId xmlns:a16="http://schemas.microsoft.com/office/drawing/2014/main" id="{D26B65E4-4D4D-3644-06F7-2F3DAE7C1223}"/>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Similar papers to ours</a:t>
            </a:r>
          </a:p>
        </p:txBody>
      </p:sp>
      <p:sp>
        <p:nvSpPr>
          <p:cNvPr id="36" name="Text 12">
            <a:extLst>
              <a:ext uri="{FF2B5EF4-FFF2-40B4-BE49-F238E27FC236}">
                <a16:creationId xmlns:a16="http://schemas.microsoft.com/office/drawing/2014/main" id="{C0258DDD-4A61-7781-B7F4-74B23BAA4CB6}"/>
              </a:ext>
            </a:extLst>
          </p:cNvPr>
          <p:cNvSpPr/>
          <p:nvPr/>
        </p:nvSpPr>
        <p:spPr>
          <a:xfrm>
            <a:off x="466344" y="1108800"/>
            <a:ext cx="8211312" cy="3542400"/>
          </a:xfrm>
          <a:prstGeom prst="rect">
            <a:avLst/>
          </a:prstGeom>
          <a:noFill/>
          <a:ln/>
        </p:spPr>
        <p:txBody>
          <a:bodyPr wrap="square" lIns="0" tIns="0" rIns="0" bIns="0" rtlCol="0" anchor="ctr"/>
          <a:lstStyle/>
          <a:p>
            <a:pPr marL="171450" indent="-171450">
              <a:lnSpc>
                <a:spcPct val="100000"/>
              </a:lnSpc>
              <a:spcBef>
                <a:spcPts val="0"/>
              </a:spcBef>
              <a:spcAft>
                <a:spcPts val="0"/>
              </a:spcAft>
              <a:buFont typeface="Arial" panose="020B0604020202020204" pitchFamily="34" charset="0"/>
              <a:buChar char="•"/>
            </a:pPr>
            <a:r>
              <a:rPr lang="en-US" sz="1050" noProof="0" dirty="0">
                <a:hlinkClick r:id="rId3"/>
              </a:rPr>
              <a:t>Predicting the student’s perceptions of multi-domain environmental factors in a Norwegian school building: Machine learning approach</a:t>
            </a:r>
            <a:endParaRPr lang="en-US" sz="1050" noProof="0" dirty="0"/>
          </a:p>
          <a:p>
            <a:pPr marL="628650" lvl="1" indent="-171450">
              <a:buFont typeface="Arial" panose="020B0604020202020204" pitchFamily="34" charset="0"/>
              <a:buChar char="•"/>
            </a:pPr>
            <a:r>
              <a:rPr lang="en-US" sz="1050" noProof="0" dirty="0"/>
              <a:t>1437 responses </a:t>
            </a:r>
            <a:r>
              <a:rPr lang="en-US" sz="1050" noProof="0" dirty="0">
                <a:sym typeface="Wingdings" panose="05000000000000000000" pitchFamily="2" charset="2"/>
              </a:rPr>
              <a:t> ML multi-domain IEQ prediction  The best was Random Forest with R</a:t>
            </a:r>
            <a:r>
              <a:rPr lang="en-US" sz="1050" baseline="30000" noProof="0" dirty="0">
                <a:sym typeface="Wingdings" panose="05000000000000000000" pitchFamily="2" charset="2"/>
              </a:rPr>
              <a:t>2</a:t>
            </a:r>
            <a:r>
              <a:rPr lang="en-US" sz="1050" noProof="0" dirty="0">
                <a:sym typeface="Wingdings" panose="05000000000000000000" pitchFamily="2" charset="2"/>
              </a:rPr>
              <a:t> = 0,91 and accuracy &gt; 80 %  shows that even 1/3 of our data was enough to train a model.</a:t>
            </a:r>
          </a:p>
          <a:p>
            <a:pPr marL="628650" lvl="1" indent="-171450">
              <a:buFont typeface="Arial" panose="020B0604020202020204" pitchFamily="34" charset="0"/>
              <a:buChar char="•"/>
            </a:pPr>
            <a:r>
              <a:rPr lang="en-US" sz="1050" b="1" noProof="0" dirty="0">
                <a:sym typeface="Wingdings" panose="05000000000000000000" pitchFamily="2" charset="2"/>
              </a:rPr>
              <a:t>This paper is direct competitor, but </a:t>
            </a:r>
            <a:r>
              <a:rPr lang="en-US" sz="1050" b="1" noProof="0" dirty="0" err="1">
                <a:sym typeface="Wingdings" panose="05000000000000000000" pitchFamily="2" charset="2"/>
              </a:rPr>
              <a:t>stil</a:t>
            </a:r>
            <a:r>
              <a:rPr lang="en-US" sz="1050" b="1" noProof="0" dirty="0">
                <a:sym typeface="Wingdings" panose="05000000000000000000" pitchFamily="2" charset="2"/>
              </a:rPr>
              <a:t> leaves unfilled gaps:</a:t>
            </a:r>
          </a:p>
          <a:p>
            <a:pPr marL="1085850" lvl="2" indent="-171450">
              <a:buFont typeface="Arial" panose="020B0604020202020204" pitchFamily="34" charset="0"/>
              <a:buChar char="•"/>
            </a:pPr>
            <a:r>
              <a:rPr lang="en-US" sz="1050" noProof="0" dirty="0">
                <a:sym typeface="Wingdings" panose="05000000000000000000" pitchFamily="2" charset="2"/>
              </a:rPr>
              <a:t>Sample is smaller</a:t>
            </a:r>
          </a:p>
          <a:p>
            <a:pPr marL="1085850" lvl="2" indent="-171450">
              <a:buFont typeface="Arial" panose="020B0604020202020204" pitchFamily="34" charset="0"/>
              <a:buChar char="•"/>
            </a:pPr>
            <a:r>
              <a:rPr lang="en-US" sz="1050" noProof="0" dirty="0">
                <a:sym typeface="Wingdings" panose="05000000000000000000" pitchFamily="2" charset="2"/>
              </a:rPr>
              <a:t>Does not contain </a:t>
            </a:r>
            <a:r>
              <a:rPr lang="en-US" sz="1050" noProof="0" dirty="0" err="1">
                <a:sym typeface="Wingdings" panose="05000000000000000000" pitchFamily="2" charset="2"/>
              </a:rPr>
              <a:t>accustics</a:t>
            </a:r>
            <a:endParaRPr lang="en-US" sz="1050" noProof="0" dirty="0">
              <a:sym typeface="Wingdings" panose="05000000000000000000" pitchFamily="2" charset="2"/>
            </a:endParaRPr>
          </a:p>
          <a:p>
            <a:pPr marL="1085850" lvl="2" indent="-171450">
              <a:buFont typeface="Arial" panose="020B0604020202020204" pitchFamily="34" charset="0"/>
              <a:buChar char="•"/>
            </a:pPr>
            <a:r>
              <a:rPr lang="en-US" sz="1050" noProof="0" dirty="0">
                <a:sym typeface="Wingdings" panose="05000000000000000000" pitchFamily="2" charset="2"/>
              </a:rPr>
              <a:t>Does not compare generalized vs personalized models</a:t>
            </a:r>
          </a:p>
          <a:p>
            <a:pPr marL="1085850" lvl="2" indent="-171450">
              <a:buFont typeface="Arial" panose="020B0604020202020204" pitchFamily="34" charset="0"/>
              <a:buChar char="•"/>
            </a:pPr>
            <a:r>
              <a:rPr lang="en-US" sz="1050" noProof="0" dirty="0">
                <a:sym typeface="Wingdings" panose="05000000000000000000" pitchFamily="2" charset="2"/>
              </a:rPr>
              <a:t>Does not compare hierarchical vs direct models</a:t>
            </a:r>
          </a:p>
          <a:p>
            <a:pPr marL="628650" lvl="1" indent="-171450">
              <a:buFont typeface="Arial" panose="020B0604020202020204" pitchFamily="34" charset="0"/>
              <a:buChar char="•"/>
            </a:pPr>
            <a:r>
              <a:rPr lang="en-US" sz="1050" noProof="0" dirty="0">
                <a:sym typeface="Wingdings" panose="05000000000000000000" pitchFamily="2" charset="2"/>
              </a:rPr>
              <a:t>Authors state: </a:t>
            </a:r>
            <a:r>
              <a:rPr lang="en-US" sz="1050" b="1" noProof="0" dirty="0"/>
              <a:t>“Data will be made available on request.” </a:t>
            </a:r>
            <a:r>
              <a:rPr lang="en-US" sz="1050" b="1" noProof="0" dirty="0">
                <a:sym typeface="Wingdings" panose="05000000000000000000" pitchFamily="2" charset="2"/>
              </a:rPr>
              <a:t> </a:t>
            </a:r>
            <a:r>
              <a:rPr lang="en-US" sz="1050" noProof="0" dirty="0">
                <a:sym typeface="Wingdings" panose="05000000000000000000" pitchFamily="2" charset="2"/>
              </a:rPr>
              <a:t>can be combined with our dataset</a:t>
            </a:r>
          </a:p>
          <a:p>
            <a:pPr lvl="1"/>
            <a:endParaRPr lang="en-US" sz="1050" noProof="0" dirty="0">
              <a:sym typeface="Wingdings" panose="05000000000000000000" pitchFamily="2" charset="2"/>
            </a:endParaRPr>
          </a:p>
          <a:p>
            <a:pPr marL="171450" indent="-171450">
              <a:buFont typeface="Arial" panose="020B0604020202020204" pitchFamily="34" charset="0"/>
              <a:buChar char="•"/>
            </a:pPr>
            <a:r>
              <a:rPr lang="en-US" sz="1050" noProof="0" dirty="0">
                <a:hlinkClick r:id="rId3"/>
              </a:rPr>
              <a:t>Machine Learning Prediction of Student Satisfaction on Indoor Air Quality and Thermal Environment in a Norwegian Secondary School</a:t>
            </a:r>
            <a:endParaRPr lang="en-US" sz="1050" noProof="0" dirty="0"/>
          </a:p>
          <a:p>
            <a:pPr marL="628650" lvl="1" indent="-171450">
              <a:buFont typeface="Arial" panose="020B0604020202020204" pitchFamily="34" charset="0"/>
              <a:buChar char="•"/>
            </a:pPr>
            <a:r>
              <a:rPr lang="en-US" sz="1050" noProof="0" dirty="0"/>
              <a:t>1473 responses → ML prediction of dissatisfaction with IAQ and thermal → accuracy &gt; 80% → SHAP used for interpretation. </a:t>
            </a:r>
          </a:p>
          <a:p>
            <a:pPr marL="628650" lvl="1" indent="-171450">
              <a:buFont typeface="Arial" panose="020B0604020202020204" pitchFamily="34" charset="0"/>
              <a:buChar char="•"/>
            </a:pPr>
            <a:r>
              <a:rPr lang="en-US" sz="1050" b="1" noProof="0" dirty="0"/>
              <a:t>This paper is a competitor, but it still leaves unfilled gaps:</a:t>
            </a:r>
            <a:endParaRPr lang="en-US" sz="1050" noProof="0" dirty="0"/>
          </a:p>
          <a:p>
            <a:pPr marL="1085850" lvl="2" indent="-171450">
              <a:buFont typeface="Arial" panose="020B0604020202020204" pitchFamily="34" charset="0"/>
              <a:buChar char="•"/>
            </a:pPr>
            <a:r>
              <a:rPr lang="en-US" sz="1050" noProof="0" dirty="0"/>
              <a:t>covers only 2 domains (IAQ + thermal)</a:t>
            </a:r>
          </a:p>
          <a:p>
            <a:pPr marL="1085850" lvl="2" indent="-171450">
              <a:buFont typeface="Arial" panose="020B0604020202020204" pitchFamily="34" charset="0"/>
              <a:buChar char="•"/>
            </a:pPr>
            <a:r>
              <a:rPr lang="en-US" sz="1050" noProof="0" dirty="0"/>
              <a:t>does not compare generalized vs personalized models, </a:t>
            </a:r>
          </a:p>
          <a:p>
            <a:pPr marL="1085850" lvl="2" indent="-171450">
              <a:buFont typeface="Arial" panose="020B0604020202020204" pitchFamily="34" charset="0"/>
              <a:buChar char="•"/>
            </a:pPr>
            <a:r>
              <a:rPr lang="en-US" sz="1050" noProof="0" dirty="0"/>
              <a:t>does not compare hierarchical vs direct models, </a:t>
            </a:r>
          </a:p>
          <a:p>
            <a:pPr marL="1085850" lvl="2" indent="-171450">
              <a:buFont typeface="Arial" panose="020B0604020202020204" pitchFamily="34" charset="0"/>
              <a:buChar char="•"/>
            </a:pPr>
            <a:r>
              <a:rPr lang="en-US" sz="1050" noProof="0" dirty="0"/>
              <a:t>no openly downloadable dataset is visible from the record, unlike your Belgian classroom line.</a:t>
            </a:r>
          </a:p>
          <a:p>
            <a:pPr lvl="1"/>
            <a:endParaRPr lang="en-US" sz="1050" b="1" noProof="0" dirty="0">
              <a:sym typeface="Wingdings" panose="05000000000000000000" pitchFamily="2" charset="2"/>
            </a:endParaRPr>
          </a:p>
          <a:p>
            <a:endParaRPr lang="en-US" sz="1050" noProof="0" dirty="0"/>
          </a:p>
        </p:txBody>
      </p:sp>
      <p:sp>
        <p:nvSpPr>
          <p:cNvPr id="38" name="Text 14">
            <a:extLst>
              <a:ext uri="{FF2B5EF4-FFF2-40B4-BE49-F238E27FC236}">
                <a16:creationId xmlns:a16="http://schemas.microsoft.com/office/drawing/2014/main" id="{B441C408-F7D4-7318-4EB5-BD59DB70618D}"/>
              </a:ext>
            </a:extLst>
          </p:cNvPr>
          <p:cNvSpPr/>
          <p:nvPr/>
        </p:nvSpPr>
        <p:spPr>
          <a:xfrm>
            <a:off x="466344" y="1824228"/>
            <a:ext cx="8161020" cy="689890"/>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21886296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0EA6E-296C-2D56-18DC-2BBC721FAE46}"/>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9DF6A679-1ECA-CC52-F8CD-8BB90818C76A}"/>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90</a:t>
            </a:fld>
            <a:endParaRPr lang="en-US" noProof="0" dirty="0">
              <a:latin typeface="+mn-lt"/>
            </a:endParaRPr>
          </a:p>
        </p:txBody>
      </p:sp>
      <p:sp>
        <p:nvSpPr>
          <p:cNvPr id="26" name="Shape 2">
            <a:extLst>
              <a:ext uri="{FF2B5EF4-FFF2-40B4-BE49-F238E27FC236}">
                <a16:creationId xmlns:a16="http://schemas.microsoft.com/office/drawing/2014/main" id="{A92914EA-8400-3BE0-8CCE-A733E2AF7BF5}"/>
              </a:ext>
            </a:extLst>
          </p:cNvPr>
          <p:cNvSpPr/>
          <p:nvPr/>
        </p:nvSpPr>
        <p:spPr>
          <a:xfrm>
            <a:off x="260604" y="720090"/>
            <a:ext cx="8606790" cy="4089510"/>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D2082D94-4291-180F-EED6-16B81C3CBDE8}"/>
              </a:ext>
            </a:extLst>
          </p:cNvPr>
          <p:cNvSpPr/>
          <p:nvPr/>
        </p:nvSpPr>
        <p:spPr>
          <a:xfrm>
            <a:off x="281178" y="802385"/>
            <a:ext cx="48006" cy="3936429"/>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8F36EB61-9502-DE0A-FFE6-9225244D3FF4}"/>
              </a:ext>
            </a:extLst>
          </p:cNvPr>
          <p:cNvSpPr/>
          <p:nvPr/>
        </p:nvSpPr>
        <p:spPr>
          <a:xfrm>
            <a:off x="384048" y="774953"/>
            <a:ext cx="8414766" cy="333847"/>
          </a:xfrm>
          <a:prstGeom prst="rect">
            <a:avLst/>
          </a:prstGeom>
          <a:noFill/>
          <a:ln/>
        </p:spPr>
        <p:txBody>
          <a:bodyPr wrap="square" lIns="0" tIns="0" rIns="0" bIns="0" rtlCol="0" anchor="ctr"/>
          <a:lstStyle/>
          <a:p>
            <a:r>
              <a:rPr lang="en-US" sz="1050" b="1" noProof="0" dirty="0" err="1">
                <a:solidFill>
                  <a:srgbClr val="E39A12"/>
                </a:solidFill>
                <a:ea typeface="Arial" pitchFamily="34" charset="-122"/>
                <a:cs typeface="Arial" pitchFamily="34" charset="-120"/>
              </a:rPr>
              <a:t>Retated</a:t>
            </a:r>
            <a:r>
              <a:rPr lang="en-US" sz="1050" b="1" noProof="0" dirty="0">
                <a:solidFill>
                  <a:srgbClr val="E39A12"/>
                </a:solidFill>
                <a:ea typeface="Arial" pitchFamily="34" charset="-122"/>
                <a:cs typeface="Arial" pitchFamily="34" charset="-120"/>
              </a:rPr>
              <a:t> papers</a:t>
            </a:r>
            <a:endParaRPr lang="en-US" sz="1050" noProof="0" dirty="0"/>
          </a:p>
        </p:txBody>
      </p:sp>
      <p:sp>
        <p:nvSpPr>
          <p:cNvPr id="35" name="Text 11">
            <a:extLst>
              <a:ext uri="{FF2B5EF4-FFF2-40B4-BE49-F238E27FC236}">
                <a16:creationId xmlns:a16="http://schemas.microsoft.com/office/drawing/2014/main" id="{1B467CBE-A587-7A84-5DB3-606F0E711588}"/>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Similar papers to ours</a:t>
            </a:r>
          </a:p>
        </p:txBody>
      </p:sp>
      <p:sp>
        <p:nvSpPr>
          <p:cNvPr id="36" name="Text 12">
            <a:extLst>
              <a:ext uri="{FF2B5EF4-FFF2-40B4-BE49-F238E27FC236}">
                <a16:creationId xmlns:a16="http://schemas.microsoft.com/office/drawing/2014/main" id="{24D92FC5-EDFF-7469-A8F6-6E44F97B7036}"/>
              </a:ext>
            </a:extLst>
          </p:cNvPr>
          <p:cNvSpPr/>
          <p:nvPr/>
        </p:nvSpPr>
        <p:spPr>
          <a:xfrm>
            <a:off x="466344" y="1108800"/>
            <a:ext cx="8211312" cy="354240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noProof="0" dirty="0">
                <a:hlinkClick r:id="rId3"/>
              </a:rPr>
              <a:t>Assessing the perception of overall indoor environmental quality: Model validation and interpretation</a:t>
            </a:r>
            <a:endParaRPr lang="en-US" sz="1050" noProof="0" dirty="0"/>
          </a:p>
          <a:p>
            <a:pPr marL="628650" lvl="1" indent="-171450">
              <a:buFont typeface="Arial" panose="020B0604020202020204" pitchFamily="34" charset="0"/>
              <a:buChar char="•"/>
            </a:pPr>
            <a:r>
              <a:rPr lang="en-US" sz="1050" noProof="0" dirty="0"/>
              <a:t>1869 responses </a:t>
            </a:r>
            <a:r>
              <a:rPr lang="en-US" sz="1050" noProof="0" dirty="0">
                <a:sym typeface="Wingdings" panose="05000000000000000000" pitchFamily="2" charset="2"/>
              </a:rPr>
              <a:t> overall IEQ satisfaction prediction from 4 domain satisfactions  regression + ML + external validation on a second dataset  prediction error increased by 21% when generalized to a new dataset  one unsatisfying factor often dominates overall IEQ.</a:t>
            </a:r>
          </a:p>
          <a:p>
            <a:pPr marL="628650" lvl="1" indent="-171450">
              <a:buFont typeface="Arial" panose="020B0604020202020204" pitchFamily="34" charset="0"/>
              <a:buChar char="•"/>
            </a:pPr>
            <a:r>
              <a:rPr lang="en-US" sz="1050" b="1" noProof="0" dirty="0"/>
              <a:t>This paper is a very direct competitor, but it still leaves unfilled gaps:</a:t>
            </a:r>
          </a:p>
          <a:p>
            <a:pPr marL="1085850" lvl="2" indent="-171450">
              <a:buFont typeface="Arial" panose="020B0604020202020204" pitchFamily="34" charset="0"/>
              <a:buChar char="•"/>
            </a:pPr>
            <a:r>
              <a:rPr lang="en-US" sz="1050" noProof="0" dirty="0"/>
              <a:t>does not use a classroom data (previous research has proven that models are not well transferable from non-</a:t>
            </a:r>
            <a:r>
              <a:rPr lang="en-US" sz="1050" noProof="0" dirty="0" err="1"/>
              <a:t>shool</a:t>
            </a:r>
            <a:r>
              <a:rPr lang="en-US" sz="1050" noProof="0" dirty="0"/>
              <a:t> environment to schools)</a:t>
            </a:r>
          </a:p>
          <a:p>
            <a:pPr marL="1085850" lvl="2" indent="-171450">
              <a:buFont typeface="Arial" panose="020B0604020202020204" pitchFamily="34" charset="0"/>
              <a:buChar char="•"/>
            </a:pPr>
            <a:r>
              <a:rPr lang="en-US" sz="1050" noProof="0" dirty="0"/>
              <a:t>does not compare generalized vs personalized models</a:t>
            </a:r>
          </a:p>
          <a:p>
            <a:pPr marL="1085850" lvl="2" indent="-171450">
              <a:buFont typeface="Arial" panose="020B0604020202020204" pitchFamily="34" charset="0"/>
              <a:buChar char="•"/>
            </a:pPr>
            <a:r>
              <a:rPr lang="en-US" sz="1050" noProof="0" dirty="0"/>
              <a:t>does not compare hierarchical vs direct deployable models</a:t>
            </a:r>
          </a:p>
          <a:p>
            <a:pPr marL="1085850" lvl="2" indent="-171450">
              <a:buFont typeface="Arial" panose="020B0604020202020204" pitchFamily="34" charset="0"/>
              <a:buChar char="•"/>
            </a:pPr>
            <a:r>
              <a:rPr lang="en-US" sz="1050" noProof="0" dirty="0"/>
              <a:t>models overall satisfaction from domain satisfactions, not from the full classroom sensor/context pipeline</a:t>
            </a:r>
          </a:p>
          <a:p>
            <a:pPr marL="1085850" lvl="2" indent="-171450">
              <a:buFont typeface="Arial" panose="020B0604020202020204" pitchFamily="34" charset="0"/>
              <a:buChar char="•"/>
            </a:pPr>
            <a:r>
              <a:rPr lang="en-US" sz="1050" noProof="0" dirty="0"/>
              <a:t>does not benchmark unseen occupants vs unseen classrooms the way you propose.</a:t>
            </a:r>
          </a:p>
          <a:p>
            <a:endParaRPr lang="en-US" sz="1050" noProof="0" dirty="0">
              <a:hlinkClick r:id="rId4"/>
            </a:endParaRPr>
          </a:p>
          <a:p>
            <a:pPr marL="171450" indent="-171450">
              <a:buFont typeface="Arial" panose="020B0604020202020204" pitchFamily="34" charset="0"/>
              <a:buChar char="•"/>
            </a:pPr>
            <a:r>
              <a:rPr lang="en-US" sz="1050" noProof="0" dirty="0">
                <a:hlinkClick r:id="rId4"/>
              </a:rPr>
              <a:t>Quinten Carton – </a:t>
            </a:r>
            <a:r>
              <a:rPr lang="en-US" sz="1050" noProof="0" dirty="0" err="1">
                <a:hlinkClick r:id="rId4"/>
              </a:rPr>
              <a:t>Personalised</a:t>
            </a:r>
            <a:r>
              <a:rPr lang="en-US" sz="1050" noProof="0" dirty="0">
                <a:hlinkClick r:id="rId4"/>
              </a:rPr>
              <a:t> occupant satisfaction models for HVAC control in educational buildings (2025)</a:t>
            </a:r>
            <a:endParaRPr lang="en-US" sz="1050" noProof="0" dirty="0"/>
          </a:p>
          <a:p>
            <a:pPr marL="628650" lvl="1" indent="-171450">
              <a:buFont typeface="Arial" panose="020B0604020202020204" pitchFamily="34" charset="0"/>
              <a:buChar char="•"/>
            </a:pPr>
            <a:r>
              <a:rPr lang="en-US" sz="1050" noProof="0" dirty="0"/>
              <a:t>Belgian classrooms dataset → </a:t>
            </a:r>
            <a:r>
              <a:rPr lang="en-US" sz="1050" noProof="0" dirty="0" err="1"/>
              <a:t>personalised</a:t>
            </a:r>
            <a:r>
              <a:rPr lang="en-US" sz="1050" noProof="0" dirty="0"/>
              <a:t> </a:t>
            </a:r>
            <a:r>
              <a:rPr lang="en-US" sz="1050" b="1" noProof="0" dirty="0"/>
              <a:t>mixed-effects (ME)</a:t>
            </a:r>
            <a:r>
              <a:rPr lang="en-US" sz="1050" noProof="0" dirty="0"/>
              <a:t> models for </a:t>
            </a:r>
            <a:r>
              <a:rPr lang="en-US" sz="1050" b="1" noProof="0" dirty="0"/>
              <a:t>thermal and IAQ</a:t>
            </a:r>
            <a:r>
              <a:rPr lang="en-US" sz="1050" noProof="0" dirty="0"/>
              <a:t> → personalized models are better </a:t>
            </a:r>
            <a:r>
              <a:rPr lang="en-US" sz="1050" noProof="0" dirty="0">
                <a:sym typeface="Wingdings" panose="05000000000000000000" pitchFamily="2" charset="2"/>
              </a:rPr>
              <a:t> </a:t>
            </a:r>
            <a:r>
              <a:rPr lang="en-US" sz="1050" b="1" noProof="0" dirty="0"/>
              <a:t>10 occupant feedback votes</a:t>
            </a:r>
            <a:r>
              <a:rPr lang="en-US" sz="1050" noProof="0" dirty="0"/>
              <a:t> may be enough → simple ME models using only </a:t>
            </a:r>
            <a:r>
              <a:rPr lang="en-US" sz="1050" b="1" noProof="0" dirty="0"/>
              <a:t>room temperature</a:t>
            </a:r>
            <a:r>
              <a:rPr lang="en-US" sz="1050" noProof="0" dirty="0"/>
              <a:t> performed similarly to more complex models → the models were then integrated into an </a:t>
            </a:r>
            <a:r>
              <a:rPr lang="en-US" sz="1050" b="1" noProof="0" dirty="0"/>
              <a:t>occupant-centric HVAC control</a:t>
            </a:r>
            <a:r>
              <a:rPr lang="en-US" sz="1050" noProof="0" dirty="0"/>
              <a:t> framework and tested in simulation.</a:t>
            </a:r>
          </a:p>
          <a:p>
            <a:pPr marL="628650" lvl="1" indent="-171450">
              <a:buFont typeface="Arial" panose="020B0604020202020204" pitchFamily="34" charset="0"/>
              <a:buChar char="•"/>
            </a:pPr>
            <a:r>
              <a:rPr lang="en-US" sz="1050" b="1" noProof="0" dirty="0"/>
              <a:t>This dissertation is a strong competitor, but it still leaves key gaps unfilled:</a:t>
            </a:r>
          </a:p>
          <a:p>
            <a:pPr marL="1085850" lvl="2" indent="-171450">
              <a:buFont typeface="Arial" panose="020B0604020202020204" pitchFamily="34" charset="0"/>
              <a:buChar char="•"/>
            </a:pPr>
            <a:r>
              <a:rPr lang="en-US" sz="1050" noProof="0" dirty="0"/>
              <a:t>does </a:t>
            </a:r>
            <a:r>
              <a:rPr lang="en-US" sz="1050" b="1" noProof="0" dirty="0"/>
              <a:t>not</a:t>
            </a:r>
            <a:r>
              <a:rPr lang="en-US" sz="1050" noProof="0" dirty="0"/>
              <a:t> model </a:t>
            </a:r>
            <a:r>
              <a:rPr lang="en-US" sz="1050" b="1" noProof="0" dirty="0"/>
              <a:t>overall IEQ satisfaction</a:t>
            </a:r>
            <a:r>
              <a:rPr lang="en-US" sz="1050" noProof="0" dirty="0"/>
              <a:t> as the main prediction target, </a:t>
            </a:r>
          </a:p>
          <a:p>
            <a:pPr marL="1085850" lvl="2" indent="-171450">
              <a:buFont typeface="Arial" panose="020B0604020202020204" pitchFamily="34" charset="0"/>
              <a:buChar char="•"/>
            </a:pPr>
            <a:r>
              <a:rPr lang="en-US" sz="1050" noProof="0" dirty="0"/>
              <a:t>does </a:t>
            </a:r>
            <a:r>
              <a:rPr lang="en-US" sz="1050" b="1" noProof="0" dirty="0"/>
              <a:t>not</a:t>
            </a:r>
            <a:r>
              <a:rPr lang="en-US" sz="1050" noProof="0" dirty="0"/>
              <a:t> compare multiple ML families such as RF / </a:t>
            </a:r>
            <a:r>
              <a:rPr lang="en-US" sz="1050" noProof="0" dirty="0" err="1"/>
              <a:t>XGBoost</a:t>
            </a:r>
            <a:r>
              <a:rPr lang="en-US" sz="1050" noProof="0" dirty="0"/>
              <a:t> / SVM / NN, </a:t>
            </a:r>
          </a:p>
          <a:p>
            <a:pPr marL="1085850" lvl="2" indent="-171450">
              <a:buFont typeface="Arial" panose="020B0604020202020204" pitchFamily="34" charset="0"/>
              <a:buChar char="•"/>
            </a:pPr>
            <a:r>
              <a:rPr lang="en-US" sz="1050" noProof="0" dirty="0"/>
              <a:t>does </a:t>
            </a:r>
            <a:r>
              <a:rPr lang="en-US" sz="1050" b="1" noProof="0" dirty="0"/>
              <a:t>not</a:t>
            </a:r>
            <a:r>
              <a:rPr lang="en-US" sz="1050" noProof="0" dirty="0"/>
              <a:t> compare </a:t>
            </a:r>
            <a:r>
              <a:rPr lang="en-US" sz="1050" b="1" noProof="0" dirty="0"/>
              <a:t>hierarchical vs direct</a:t>
            </a:r>
            <a:r>
              <a:rPr lang="en-US" sz="1050" noProof="0" dirty="0"/>
              <a:t> models, </a:t>
            </a:r>
          </a:p>
          <a:p>
            <a:pPr marL="1085850" lvl="2" indent="-171450">
              <a:buFont typeface="Arial" panose="020B0604020202020204" pitchFamily="34" charset="0"/>
              <a:buChar char="•"/>
            </a:pPr>
            <a:r>
              <a:rPr lang="en-US" sz="1050" noProof="0" dirty="0"/>
              <a:t>is framed around </a:t>
            </a:r>
            <a:r>
              <a:rPr lang="en-US" sz="1050" b="1" noProof="0" dirty="0"/>
              <a:t>HVAC control</a:t>
            </a:r>
            <a:r>
              <a:rPr lang="en-US" sz="1050" noProof="0" dirty="0"/>
              <a:t>, not around a benchmark of overall IEQ prediction.</a:t>
            </a:r>
          </a:p>
          <a:p>
            <a:endParaRPr lang="en-US" sz="1050" noProof="0" dirty="0">
              <a:hlinkClick r:id="rId4"/>
            </a:endParaRPr>
          </a:p>
        </p:txBody>
      </p:sp>
      <p:sp>
        <p:nvSpPr>
          <p:cNvPr id="38" name="Text 14">
            <a:extLst>
              <a:ext uri="{FF2B5EF4-FFF2-40B4-BE49-F238E27FC236}">
                <a16:creationId xmlns:a16="http://schemas.microsoft.com/office/drawing/2014/main" id="{A25442D4-2683-F42A-A1DF-A540EA7FD43F}"/>
              </a:ext>
            </a:extLst>
          </p:cNvPr>
          <p:cNvSpPr/>
          <p:nvPr/>
        </p:nvSpPr>
        <p:spPr>
          <a:xfrm>
            <a:off x="466344" y="1824228"/>
            <a:ext cx="8161020" cy="689890"/>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11196794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D0307403-633D-3B32-DD6C-2DA46E3B0F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63B32F-6E2D-885C-B281-70277BB5A901}"/>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3B3D3467-227C-2F17-3942-9D017B724422}"/>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09852275-1C3F-2D6B-ADB0-1B8A8480F1D1}"/>
              </a:ext>
            </a:extLst>
          </p:cNvPr>
          <p:cNvSpPr/>
          <p:nvPr/>
        </p:nvSpPr>
        <p:spPr>
          <a:xfrm>
            <a:off x="731520" y="1554480"/>
            <a:ext cx="7680960" cy="914400"/>
          </a:xfrm>
          <a:prstGeom prst="rect">
            <a:avLst/>
          </a:prstGeom>
          <a:noFill/>
          <a:ln/>
        </p:spPr>
        <p:txBody>
          <a:bodyPr wrap="square" rtlCol="0" anchor="ctr"/>
          <a:lstStyle/>
          <a:p>
            <a:pPr marL="0" indent="0">
              <a:buNone/>
            </a:pPr>
            <a:r>
              <a:rPr lang="en-US" sz="3200" b="1" noProof="0" dirty="0">
                <a:solidFill>
                  <a:srgbClr val="FFFFFF"/>
                </a:solidFill>
                <a:latin typeface="Trebuchet MS" pitchFamily="34" charset="0"/>
              </a:rPr>
              <a:t>Research proposal </a:t>
            </a:r>
            <a:r>
              <a:rPr lang="en-US" sz="3200" b="1" noProof="0" dirty="0">
                <a:solidFill>
                  <a:srgbClr val="FFFFFF"/>
                </a:solidFill>
                <a:latin typeface="Trebuchet MS" pitchFamily="34" charset="0"/>
                <a:sym typeface="Wingdings" panose="05000000000000000000" pitchFamily="2" charset="2"/>
              </a:rPr>
              <a:t> Word document</a:t>
            </a:r>
            <a:endParaRPr lang="en-US" sz="3200" noProof="0" dirty="0"/>
          </a:p>
        </p:txBody>
      </p:sp>
      <p:sp>
        <p:nvSpPr>
          <p:cNvPr id="5" name="Text 3">
            <a:extLst>
              <a:ext uri="{FF2B5EF4-FFF2-40B4-BE49-F238E27FC236}">
                <a16:creationId xmlns:a16="http://schemas.microsoft.com/office/drawing/2014/main" id="{448204B7-BDF5-90DF-3F2A-1C7111CC35DC}"/>
              </a:ext>
            </a:extLst>
          </p:cNvPr>
          <p:cNvSpPr/>
          <p:nvPr/>
        </p:nvSpPr>
        <p:spPr>
          <a:xfrm>
            <a:off x="731520" y="2468880"/>
            <a:ext cx="7680960" cy="457200"/>
          </a:xfrm>
          <a:prstGeom prst="rect">
            <a:avLst/>
          </a:prstGeom>
          <a:noFill/>
          <a:ln/>
        </p:spPr>
        <p:txBody>
          <a:bodyPr wrap="square" rtlCol="0" anchor="ctr"/>
          <a:lstStyle/>
          <a:p>
            <a:pPr marL="0" indent="0">
              <a:buNone/>
            </a:pPr>
            <a:endParaRPr lang="en-US" sz="1800" noProof="0" dirty="0"/>
          </a:p>
        </p:txBody>
      </p:sp>
      <p:sp>
        <p:nvSpPr>
          <p:cNvPr id="6" name="Shape 4">
            <a:extLst>
              <a:ext uri="{FF2B5EF4-FFF2-40B4-BE49-F238E27FC236}">
                <a16:creationId xmlns:a16="http://schemas.microsoft.com/office/drawing/2014/main" id="{94D2F43F-D060-3038-1120-C59E4B95B0A9}"/>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5524DDA9-4478-866E-35FF-251991B71C6A}"/>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3</a:t>
            </a:r>
            <a:endParaRPr lang="en-US" sz="1200" noProof="0" dirty="0"/>
          </a:p>
        </p:txBody>
      </p:sp>
    </p:spTree>
    <p:extLst>
      <p:ext uri="{BB962C8B-B14F-4D97-AF65-F5344CB8AC3E}">
        <p14:creationId xmlns:p14="http://schemas.microsoft.com/office/powerpoint/2010/main" val="11824139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B1D35"/>
        </a:solidFill>
        <a:effectLst/>
      </p:bgPr>
    </p:bg>
    <p:spTree>
      <p:nvGrpSpPr>
        <p:cNvPr id="1" name="">
          <a:extLst>
            <a:ext uri="{FF2B5EF4-FFF2-40B4-BE49-F238E27FC236}">
              <a16:creationId xmlns:a16="http://schemas.microsoft.com/office/drawing/2014/main" id="{62A85A23-1AA4-EBD2-FAF7-D148EA3BC4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F4FDD1-7743-FC70-5AF5-7D176F7FCAE7}"/>
              </a:ext>
            </a:extLst>
          </p:cNvPr>
          <p:cNvSpPr/>
          <p:nvPr/>
        </p:nvSpPr>
        <p:spPr>
          <a:xfrm>
            <a:off x="0" y="0"/>
            <a:ext cx="9144000" cy="54864"/>
          </a:xfrm>
          <a:prstGeom prst="rect">
            <a:avLst/>
          </a:prstGeom>
          <a:solidFill>
            <a:srgbClr val="1C7293"/>
          </a:solidFill>
          <a:ln/>
        </p:spPr>
        <p:txBody>
          <a:bodyPr/>
          <a:lstStyle/>
          <a:p>
            <a:endParaRPr lang="en-US" noProof="0" dirty="0"/>
          </a:p>
        </p:txBody>
      </p:sp>
      <p:sp>
        <p:nvSpPr>
          <p:cNvPr id="3" name="Text 1">
            <a:extLst>
              <a:ext uri="{FF2B5EF4-FFF2-40B4-BE49-F238E27FC236}">
                <a16:creationId xmlns:a16="http://schemas.microsoft.com/office/drawing/2014/main" id="{EC7AB359-5028-83A0-8678-7CBE09CA1C8C}"/>
              </a:ext>
            </a:extLst>
          </p:cNvPr>
          <p:cNvSpPr/>
          <p:nvPr/>
        </p:nvSpPr>
        <p:spPr>
          <a:xfrm>
            <a:off x="731520" y="1097280"/>
            <a:ext cx="7680960" cy="457200"/>
          </a:xfrm>
          <a:prstGeom prst="rect">
            <a:avLst/>
          </a:prstGeom>
          <a:noFill/>
          <a:ln/>
        </p:spPr>
        <p:txBody>
          <a:bodyPr wrap="square" rtlCol="0" anchor="ctr"/>
          <a:lstStyle/>
          <a:p>
            <a:pPr marL="0" indent="0">
              <a:buNone/>
            </a:pPr>
            <a:r>
              <a:rPr lang="en-US" sz="1400" b="1" kern="0" spc="600" noProof="0" dirty="0">
                <a:solidFill>
                  <a:srgbClr val="1C7293"/>
                </a:solidFill>
                <a:latin typeface="Trebuchet MS" pitchFamily="34" charset="0"/>
                <a:ea typeface="Trebuchet MS" pitchFamily="34" charset="-122"/>
                <a:cs typeface="Trebuchet MS" pitchFamily="34" charset="-120"/>
              </a:rPr>
              <a:t>LITERATURE REVIEW</a:t>
            </a:r>
            <a:endParaRPr lang="en-US" sz="1400" noProof="0" dirty="0"/>
          </a:p>
        </p:txBody>
      </p:sp>
      <p:sp>
        <p:nvSpPr>
          <p:cNvPr id="4" name="Text 2">
            <a:extLst>
              <a:ext uri="{FF2B5EF4-FFF2-40B4-BE49-F238E27FC236}">
                <a16:creationId xmlns:a16="http://schemas.microsoft.com/office/drawing/2014/main" id="{8F424663-7C44-BECE-1AFA-60DC07CB21E2}"/>
              </a:ext>
            </a:extLst>
          </p:cNvPr>
          <p:cNvSpPr/>
          <p:nvPr/>
        </p:nvSpPr>
        <p:spPr>
          <a:xfrm>
            <a:off x="731520" y="1554480"/>
            <a:ext cx="7680960" cy="914400"/>
          </a:xfrm>
          <a:prstGeom prst="rect">
            <a:avLst/>
          </a:prstGeom>
          <a:noFill/>
          <a:ln/>
        </p:spPr>
        <p:txBody>
          <a:bodyPr wrap="square" rtlCol="0" anchor="ctr"/>
          <a:lstStyle/>
          <a:p>
            <a:pPr marL="0" indent="0">
              <a:buNone/>
            </a:pPr>
            <a:r>
              <a:rPr lang="en-US" sz="3200" b="1" noProof="0" dirty="0">
                <a:solidFill>
                  <a:srgbClr val="FFFFFF"/>
                </a:solidFill>
                <a:latin typeface="Trebuchet MS" pitchFamily="34" charset="0"/>
              </a:rPr>
              <a:t>Do we have enough data?</a:t>
            </a:r>
            <a:endParaRPr lang="en-US" sz="3200" noProof="0" dirty="0"/>
          </a:p>
        </p:txBody>
      </p:sp>
      <p:sp>
        <p:nvSpPr>
          <p:cNvPr id="5" name="Text 3">
            <a:extLst>
              <a:ext uri="{FF2B5EF4-FFF2-40B4-BE49-F238E27FC236}">
                <a16:creationId xmlns:a16="http://schemas.microsoft.com/office/drawing/2014/main" id="{7AFD417E-3553-A4A1-7062-C31D3860DCE3}"/>
              </a:ext>
            </a:extLst>
          </p:cNvPr>
          <p:cNvSpPr/>
          <p:nvPr/>
        </p:nvSpPr>
        <p:spPr>
          <a:xfrm>
            <a:off x="731520" y="2468880"/>
            <a:ext cx="7680960" cy="457200"/>
          </a:xfrm>
          <a:prstGeom prst="rect">
            <a:avLst/>
          </a:prstGeom>
          <a:noFill/>
          <a:ln/>
        </p:spPr>
        <p:txBody>
          <a:bodyPr wrap="square" rtlCol="0" anchor="ctr"/>
          <a:lstStyle/>
          <a:p>
            <a:pPr marL="0" indent="0">
              <a:buNone/>
            </a:pPr>
            <a:endParaRPr lang="en-US" sz="1800" noProof="0" dirty="0"/>
          </a:p>
        </p:txBody>
      </p:sp>
      <p:sp>
        <p:nvSpPr>
          <p:cNvPr id="6" name="Shape 4">
            <a:extLst>
              <a:ext uri="{FF2B5EF4-FFF2-40B4-BE49-F238E27FC236}">
                <a16:creationId xmlns:a16="http://schemas.microsoft.com/office/drawing/2014/main" id="{CBF54F4F-1563-D982-ECAF-379A9CC0038B}"/>
              </a:ext>
            </a:extLst>
          </p:cNvPr>
          <p:cNvSpPr/>
          <p:nvPr/>
        </p:nvSpPr>
        <p:spPr>
          <a:xfrm>
            <a:off x="0" y="4411980"/>
            <a:ext cx="9144000" cy="731520"/>
          </a:xfrm>
          <a:prstGeom prst="rect">
            <a:avLst/>
          </a:prstGeom>
          <a:solidFill>
            <a:srgbClr val="21295C"/>
          </a:solidFill>
          <a:ln/>
        </p:spPr>
        <p:txBody>
          <a:bodyPr/>
          <a:lstStyle/>
          <a:p>
            <a:endParaRPr lang="en-US" noProof="0" dirty="0"/>
          </a:p>
        </p:txBody>
      </p:sp>
      <p:sp>
        <p:nvSpPr>
          <p:cNvPr id="7" name="Text 5">
            <a:extLst>
              <a:ext uri="{FF2B5EF4-FFF2-40B4-BE49-F238E27FC236}">
                <a16:creationId xmlns:a16="http://schemas.microsoft.com/office/drawing/2014/main" id="{BDDC882C-3DFC-2F6C-E59C-8F557F13DFD9}"/>
              </a:ext>
            </a:extLst>
          </p:cNvPr>
          <p:cNvSpPr/>
          <p:nvPr/>
        </p:nvSpPr>
        <p:spPr>
          <a:xfrm>
            <a:off x="731520" y="4411980"/>
            <a:ext cx="7680960" cy="731520"/>
          </a:xfrm>
          <a:prstGeom prst="rect">
            <a:avLst/>
          </a:prstGeom>
          <a:noFill/>
          <a:ln/>
        </p:spPr>
        <p:txBody>
          <a:bodyPr wrap="square" rtlCol="0" anchor="ctr"/>
          <a:lstStyle/>
          <a:p>
            <a:pPr marL="0" indent="0">
              <a:buNone/>
            </a:pPr>
            <a:r>
              <a:rPr lang="en-US" sz="1200" noProof="0" dirty="0">
                <a:solidFill>
                  <a:srgbClr val="64748B"/>
                </a:solidFill>
                <a:latin typeface="Calibri" pitchFamily="34" charset="0"/>
                <a:ea typeface="Calibri" pitchFamily="34" charset="-122"/>
                <a:cs typeface="Calibri" pitchFamily="34" charset="-120"/>
              </a:rPr>
              <a:t>Searching for research gaps|  Week 3</a:t>
            </a:r>
            <a:endParaRPr lang="en-US" sz="1200" noProof="0" dirty="0"/>
          </a:p>
        </p:txBody>
      </p:sp>
    </p:spTree>
    <p:extLst>
      <p:ext uri="{BB962C8B-B14F-4D97-AF65-F5344CB8AC3E}">
        <p14:creationId xmlns:p14="http://schemas.microsoft.com/office/powerpoint/2010/main" val="33735669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577AD-282B-D350-B403-120DC6041E04}"/>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3AE71415-5C66-EEE6-8577-23ACCE42A8C2}"/>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93</a:t>
            </a:fld>
            <a:endParaRPr lang="en-US" noProof="0" dirty="0">
              <a:latin typeface="+mn-lt"/>
            </a:endParaRPr>
          </a:p>
        </p:txBody>
      </p:sp>
      <p:sp>
        <p:nvSpPr>
          <p:cNvPr id="26" name="Shape 2">
            <a:extLst>
              <a:ext uri="{FF2B5EF4-FFF2-40B4-BE49-F238E27FC236}">
                <a16:creationId xmlns:a16="http://schemas.microsoft.com/office/drawing/2014/main" id="{4A064DFD-4DAC-BC4B-75FB-AB40AA900505}"/>
              </a:ext>
            </a:extLst>
          </p:cNvPr>
          <p:cNvSpPr/>
          <p:nvPr/>
        </p:nvSpPr>
        <p:spPr>
          <a:xfrm>
            <a:off x="260604" y="720090"/>
            <a:ext cx="8606790" cy="4089510"/>
          </a:xfrm>
          <a:prstGeom prst="roundRect">
            <a:avLst>
              <a:gd name="adj" fmla="val 1835"/>
            </a:avLst>
          </a:prstGeom>
          <a:solidFill>
            <a:srgbClr val="FFFFFF"/>
          </a:solidFill>
          <a:ln w="12700">
            <a:solidFill>
              <a:srgbClr val="D2D7DB"/>
            </a:solidFill>
            <a:prstDash val="solid"/>
          </a:ln>
          <a:effectLst>
            <a:outerShdw blurRad="12700" dist="50800" dir="2700000" algn="bl" rotWithShape="0">
              <a:srgbClr val="A0AAB3">
                <a:alpha val="15000"/>
              </a:srgbClr>
            </a:outerShdw>
          </a:effectLst>
        </p:spPr>
        <p:txBody>
          <a:bodyPr/>
          <a:lstStyle/>
          <a:p>
            <a:endParaRPr lang="en-US" sz="1200" noProof="0" dirty="0"/>
          </a:p>
        </p:txBody>
      </p:sp>
      <p:sp>
        <p:nvSpPr>
          <p:cNvPr id="27" name="Shape 3">
            <a:extLst>
              <a:ext uri="{FF2B5EF4-FFF2-40B4-BE49-F238E27FC236}">
                <a16:creationId xmlns:a16="http://schemas.microsoft.com/office/drawing/2014/main" id="{F5FCA872-89BF-DA62-7791-79C1E7ECFFA0}"/>
              </a:ext>
            </a:extLst>
          </p:cNvPr>
          <p:cNvSpPr/>
          <p:nvPr/>
        </p:nvSpPr>
        <p:spPr>
          <a:xfrm>
            <a:off x="281178" y="802385"/>
            <a:ext cx="48006" cy="3936429"/>
          </a:xfrm>
          <a:prstGeom prst="rect">
            <a:avLst/>
          </a:prstGeom>
          <a:solidFill>
            <a:srgbClr val="E39A12"/>
          </a:solidFill>
          <a:ln w="12700">
            <a:solidFill>
              <a:srgbClr val="E39A12">
                <a:alpha val="0"/>
              </a:srgbClr>
            </a:solidFill>
            <a:prstDash val="solid"/>
          </a:ln>
        </p:spPr>
        <p:txBody>
          <a:bodyPr/>
          <a:lstStyle/>
          <a:p>
            <a:endParaRPr lang="en-US" sz="1200" noProof="0" dirty="0"/>
          </a:p>
        </p:txBody>
      </p:sp>
      <p:sp>
        <p:nvSpPr>
          <p:cNvPr id="28" name="Text 4">
            <a:extLst>
              <a:ext uri="{FF2B5EF4-FFF2-40B4-BE49-F238E27FC236}">
                <a16:creationId xmlns:a16="http://schemas.microsoft.com/office/drawing/2014/main" id="{98DDC896-5DBA-D25F-2E18-A2EC0C9CFA25}"/>
              </a:ext>
            </a:extLst>
          </p:cNvPr>
          <p:cNvSpPr/>
          <p:nvPr/>
        </p:nvSpPr>
        <p:spPr>
          <a:xfrm>
            <a:off x="384048" y="774953"/>
            <a:ext cx="8414766" cy="333847"/>
          </a:xfrm>
          <a:prstGeom prst="rect">
            <a:avLst/>
          </a:prstGeom>
          <a:noFill/>
          <a:ln/>
        </p:spPr>
        <p:txBody>
          <a:bodyPr wrap="square" lIns="0" tIns="0" rIns="0" bIns="0" rtlCol="0" anchor="ctr"/>
          <a:lstStyle/>
          <a:p>
            <a:r>
              <a:rPr lang="en-US" sz="1050" b="1" noProof="0" dirty="0">
                <a:solidFill>
                  <a:srgbClr val="E39A12"/>
                </a:solidFill>
                <a:ea typeface="Arial" pitchFamily="34" charset="-122"/>
                <a:cs typeface="Arial" pitchFamily="34" charset="-120"/>
              </a:rPr>
              <a:t>Re</a:t>
            </a:r>
            <a:r>
              <a:rPr lang="cs-CZ" sz="1050" b="1" noProof="0" dirty="0">
                <a:solidFill>
                  <a:srgbClr val="E39A12"/>
                </a:solidFill>
                <a:ea typeface="Arial" pitchFamily="34" charset="-122"/>
                <a:cs typeface="Arial" pitchFamily="34" charset="-120"/>
              </a:rPr>
              <a:t>l</a:t>
            </a:r>
            <a:r>
              <a:rPr lang="en-US" sz="1050" b="1" noProof="0" dirty="0" err="1">
                <a:solidFill>
                  <a:srgbClr val="E39A12"/>
                </a:solidFill>
                <a:ea typeface="Arial" pitchFamily="34" charset="-122"/>
                <a:cs typeface="Arial" pitchFamily="34" charset="-120"/>
              </a:rPr>
              <a:t>ated</a:t>
            </a:r>
            <a:r>
              <a:rPr lang="en-US" sz="1050" b="1" noProof="0" dirty="0">
                <a:solidFill>
                  <a:srgbClr val="E39A12"/>
                </a:solidFill>
                <a:ea typeface="Arial" pitchFamily="34" charset="-122"/>
                <a:cs typeface="Arial" pitchFamily="34" charset="-120"/>
              </a:rPr>
              <a:t> papers</a:t>
            </a:r>
            <a:endParaRPr lang="en-US" sz="1050" noProof="0" dirty="0"/>
          </a:p>
        </p:txBody>
      </p:sp>
      <p:sp>
        <p:nvSpPr>
          <p:cNvPr id="35" name="Text 11">
            <a:extLst>
              <a:ext uri="{FF2B5EF4-FFF2-40B4-BE49-F238E27FC236}">
                <a16:creationId xmlns:a16="http://schemas.microsoft.com/office/drawing/2014/main" id="{4C4D5E20-90A0-BC4A-DF3A-956E8F576822}"/>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Do we have enough data?</a:t>
            </a:r>
          </a:p>
        </p:txBody>
      </p:sp>
      <p:sp>
        <p:nvSpPr>
          <p:cNvPr id="36" name="Text 12">
            <a:extLst>
              <a:ext uri="{FF2B5EF4-FFF2-40B4-BE49-F238E27FC236}">
                <a16:creationId xmlns:a16="http://schemas.microsoft.com/office/drawing/2014/main" id="{ED5A8FAB-4F11-4C64-95E6-05E442DDE236}"/>
              </a:ext>
            </a:extLst>
          </p:cNvPr>
          <p:cNvSpPr/>
          <p:nvPr/>
        </p:nvSpPr>
        <p:spPr>
          <a:xfrm>
            <a:off x="466344" y="1108800"/>
            <a:ext cx="8211312" cy="354240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200" noProof="0" dirty="0">
                <a:hlinkClick r:id="rId3"/>
              </a:rPr>
              <a:t>Predicting the student’s perceptions of multi-domain environmental factors in a Norwegian school building: Machine learning approach</a:t>
            </a:r>
            <a:r>
              <a:rPr lang="en-US" sz="1200" noProof="0" dirty="0"/>
              <a:t> were able to make </a:t>
            </a:r>
            <a:r>
              <a:rPr lang="en-US" sz="1200" noProof="0" dirty="0" err="1"/>
              <a:t>overal</a:t>
            </a:r>
            <a:r>
              <a:rPr lang="en-US" sz="1200" noProof="0" dirty="0"/>
              <a:t> IEQ (thermal IAQ, visual) prediction with more than 80% accuracy on only </a:t>
            </a:r>
            <a:r>
              <a:rPr lang="en-US" sz="1200" b="1" noProof="0" dirty="0"/>
              <a:t>1473 responses</a:t>
            </a:r>
          </a:p>
          <a:p>
            <a:pPr marL="171450" indent="-171450">
              <a:buFont typeface="Arial" panose="020B0604020202020204" pitchFamily="34" charset="0"/>
              <a:buChar char="•"/>
            </a:pPr>
            <a:endParaRPr lang="en-US" sz="1200" noProof="0" dirty="0"/>
          </a:p>
          <a:p>
            <a:pPr marL="171450" indent="-171450">
              <a:buFont typeface="Arial" panose="020B0604020202020204" pitchFamily="34" charset="0"/>
              <a:buChar char="•"/>
            </a:pPr>
            <a:r>
              <a:rPr lang="en-US" sz="1200" noProof="0" dirty="0"/>
              <a:t>We have </a:t>
            </a:r>
            <a:r>
              <a:rPr lang="en-US" sz="1200" b="1" noProof="0" dirty="0"/>
              <a:t>5240 responses for full IEQ</a:t>
            </a:r>
            <a:endParaRPr lang="en-US" sz="1200" noProof="0" dirty="0"/>
          </a:p>
          <a:p>
            <a:pPr marL="171450" indent="-171450">
              <a:buFont typeface="Arial" panose="020B0604020202020204" pitchFamily="34" charset="0"/>
              <a:buChar char="•"/>
            </a:pPr>
            <a:endParaRPr lang="en-US" sz="1200" noProof="0" dirty="0">
              <a:hlinkClick r:id="rId4"/>
            </a:endParaRPr>
          </a:p>
        </p:txBody>
      </p:sp>
      <p:sp>
        <p:nvSpPr>
          <p:cNvPr id="38" name="Text 14">
            <a:extLst>
              <a:ext uri="{FF2B5EF4-FFF2-40B4-BE49-F238E27FC236}">
                <a16:creationId xmlns:a16="http://schemas.microsoft.com/office/drawing/2014/main" id="{F2B7D9BC-43A9-9C64-DDAF-EAB4AE11BBB1}"/>
              </a:ext>
            </a:extLst>
          </p:cNvPr>
          <p:cNvSpPr/>
          <p:nvPr/>
        </p:nvSpPr>
        <p:spPr>
          <a:xfrm>
            <a:off x="466344" y="1824228"/>
            <a:ext cx="8161020" cy="689890"/>
          </a:xfrm>
          <a:prstGeom prst="rect">
            <a:avLst/>
          </a:prstGeom>
          <a:noFill/>
          <a:ln/>
        </p:spPr>
        <p:txBody>
          <a:bodyPr wrap="square" lIns="0" tIns="0" rIns="0" bIns="0" rtlCol="0" anchor="ctr"/>
          <a:lstStyle/>
          <a:p>
            <a:endParaRPr lang="en-US" sz="1100" noProof="0" dirty="0"/>
          </a:p>
        </p:txBody>
      </p:sp>
    </p:spTree>
    <p:extLst>
      <p:ext uri="{BB962C8B-B14F-4D97-AF65-F5344CB8AC3E}">
        <p14:creationId xmlns:p14="http://schemas.microsoft.com/office/powerpoint/2010/main" val="9922439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B364-B553-3496-17CD-2D7A8A22A969}"/>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AAD13254-2B3E-3CCF-38B7-18256FA9CE30}"/>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94</a:t>
            </a:fld>
            <a:endParaRPr lang="en-US" noProof="0" dirty="0">
              <a:latin typeface="+mn-lt"/>
            </a:endParaRPr>
          </a:p>
        </p:txBody>
      </p:sp>
      <p:pic>
        <p:nvPicPr>
          <p:cNvPr id="3" name="Picture 2">
            <a:extLst>
              <a:ext uri="{FF2B5EF4-FFF2-40B4-BE49-F238E27FC236}">
                <a16:creationId xmlns:a16="http://schemas.microsoft.com/office/drawing/2014/main" id="{1870E583-6FAE-C646-4D81-6DA3F9BD09EF}"/>
              </a:ext>
            </a:extLst>
          </p:cNvPr>
          <p:cNvPicPr>
            <a:picLocks noChangeAspect="1"/>
          </p:cNvPicPr>
          <p:nvPr/>
        </p:nvPicPr>
        <p:blipFill>
          <a:blip r:embed="rId3"/>
          <a:stretch>
            <a:fillRect/>
          </a:stretch>
        </p:blipFill>
        <p:spPr>
          <a:xfrm>
            <a:off x="987957" y="0"/>
            <a:ext cx="7168086" cy="5136687"/>
          </a:xfrm>
          <a:prstGeom prst="rect">
            <a:avLst/>
          </a:prstGeom>
        </p:spPr>
      </p:pic>
    </p:spTree>
    <p:extLst>
      <p:ext uri="{BB962C8B-B14F-4D97-AF65-F5344CB8AC3E}">
        <p14:creationId xmlns:p14="http://schemas.microsoft.com/office/powerpoint/2010/main" val="9018731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D9019-1060-F54C-A89A-B06F2DD46C7C}"/>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587F4C64-59B2-16B3-2336-22AE97C0AE1D}"/>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95</a:t>
            </a:fld>
            <a:endParaRPr lang="en-US" noProof="0" dirty="0">
              <a:latin typeface="+mn-lt"/>
            </a:endParaRPr>
          </a:p>
        </p:txBody>
      </p:sp>
      <p:pic>
        <p:nvPicPr>
          <p:cNvPr id="8" name="Picture 7">
            <a:extLst>
              <a:ext uri="{FF2B5EF4-FFF2-40B4-BE49-F238E27FC236}">
                <a16:creationId xmlns:a16="http://schemas.microsoft.com/office/drawing/2014/main" id="{33B703F4-4836-67AB-1045-C9F59933CC06}"/>
              </a:ext>
            </a:extLst>
          </p:cNvPr>
          <p:cNvPicPr>
            <a:picLocks noChangeAspect="1"/>
          </p:cNvPicPr>
          <p:nvPr/>
        </p:nvPicPr>
        <p:blipFill>
          <a:blip r:embed="rId3"/>
          <a:stretch>
            <a:fillRect/>
          </a:stretch>
        </p:blipFill>
        <p:spPr>
          <a:xfrm>
            <a:off x="0" y="814824"/>
            <a:ext cx="9144000" cy="3699192"/>
          </a:xfrm>
          <a:prstGeom prst="rect">
            <a:avLst/>
          </a:prstGeom>
        </p:spPr>
      </p:pic>
      <p:sp>
        <p:nvSpPr>
          <p:cNvPr id="9" name="Text 11">
            <a:extLst>
              <a:ext uri="{FF2B5EF4-FFF2-40B4-BE49-F238E27FC236}">
                <a16:creationId xmlns:a16="http://schemas.microsoft.com/office/drawing/2014/main" id="{5A81C548-47DD-AF17-E650-DE6560A989A0}"/>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Personalization data</a:t>
            </a:r>
          </a:p>
        </p:txBody>
      </p:sp>
    </p:spTree>
    <p:extLst>
      <p:ext uri="{BB962C8B-B14F-4D97-AF65-F5344CB8AC3E}">
        <p14:creationId xmlns:p14="http://schemas.microsoft.com/office/powerpoint/2010/main" val="29589299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6D85-ABD6-DCF6-126D-6FC6F4AAA1C4}"/>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A5DDE6D-1B1D-0831-D7E0-BB79C13C031C}"/>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96</a:t>
            </a:fld>
            <a:endParaRPr lang="en-US" noProof="0" dirty="0">
              <a:latin typeface="+mn-lt"/>
            </a:endParaRPr>
          </a:p>
        </p:txBody>
      </p:sp>
      <p:pic>
        <p:nvPicPr>
          <p:cNvPr id="6" name="Picture 5">
            <a:extLst>
              <a:ext uri="{FF2B5EF4-FFF2-40B4-BE49-F238E27FC236}">
                <a16:creationId xmlns:a16="http://schemas.microsoft.com/office/drawing/2014/main" id="{079A046D-264A-708D-0D28-D8EC1932C9AC}"/>
              </a:ext>
            </a:extLst>
          </p:cNvPr>
          <p:cNvPicPr>
            <a:picLocks noChangeAspect="1"/>
          </p:cNvPicPr>
          <p:nvPr/>
        </p:nvPicPr>
        <p:blipFill>
          <a:blip r:embed="rId3"/>
          <a:stretch>
            <a:fillRect/>
          </a:stretch>
        </p:blipFill>
        <p:spPr>
          <a:xfrm>
            <a:off x="796017" y="628020"/>
            <a:ext cx="7487957" cy="4515480"/>
          </a:xfrm>
          <a:prstGeom prst="rect">
            <a:avLst/>
          </a:prstGeom>
        </p:spPr>
      </p:pic>
      <p:sp>
        <p:nvSpPr>
          <p:cNvPr id="2" name="Text 11">
            <a:extLst>
              <a:ext uri="{FF2B5EF4-FFF2-40B4-BE49-F238E27FC236}">
                <a16:creationId xmlns:a16="http://schemas.microsoft.com/office/drawing/2014/main" id="{C2D457AF-51BA-2DE3-25FA-DDE41A743A47}"/>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Transferability between different classrooms</a:t>
            </a:r>
          </a:p>
        </p:txBody>
      </p:sp>
    </p:spTree>
    <p:extLst>
      <p:ext uri="{BB962C8B-B14F-4D97-AF65-F5344CB8AC3E}">
        <p14:creationId xmlns:p14="http://schemas.microsoft.com/office/powerpoint/2010/main" val="123055622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325E-750D-3D8D-9503-633E57CCD4CA}"/>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351D9BE9-8608-EDE9-90FC-F1E5951B64E0}"/>
              </a:ext>
            </a:extLst>
          </p:cNvPr>
          <p:cNvSpPr>
            <a:spLocks noGrp="1"/>
          </p:cNvSpPr>
          <p:nvPr>
            <p:ph type="sldNum" sz="quarter" idx="4294967295"/>
          </p:nvPr>
        </p:nvSpPr>
        <p:spPr>
          <a:xfrm>
            <a:off x="11384280" y="6473952"/>
            <a:ext cx="457200" cy="164592"/>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00" kern="1200">
                <a:solidFill>
                  <a:srgbClr val="6F7D8E"/>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noProof="0" smtClean="0">
                <a:latin typeface="+mn-lt"/>
              </a:rPr>
              <a:pPr algn="r"/>
              <a:t>97</a:t>
            </a:fld>
            <a:endParaRPr lang="en-US" noProof="0" dirty="0">
              <a:latin typeface="+mn-lt"/>
            </a:endParaRPr>
          </a:p>
        </p:txBody>
      </p:sp>
      <p:pic>
        <p:nvPicPr>
          <p:cNvPr id="4" name="Picture 3">
            <a:extLst>
              <a:ext uri="{FF2B5EF4-FFF2-40B4-BE49-F238E27FC236}">
                <a16:creationId xmlns:a16="http://schemas.microsoft.com/office/drawing/2014/main" id="{5ACC8869-76EE-EFBB-D267-DA8645FEA85E}"/>
              </a:ext>
            </a:extLst>
          </p:cNvPr>
          <p:cNvPicPr>
            <a:picLocks noChangeAspect="1"/>
          </p:cNvPicPr>
          <p:nvPr/>
        </p:nvPicPr>
        <p:blipFill>
          <a:blip r:embed="rId3"/>
          <a:stretch>
            <a:fillRect/>
          </a:stretch>
        </p:blipFill>
        <p:spPr>
          <a:xfrm>
            <a:off x="0" y="927894"/>
            <a:ext cx="9144000" cy="3699192"/>
          </a:xfrm>
          <a:prstGeom prst="rect">
            <a:avLst/>
          </a:prstGeom>
        </p:spPr>
      </p:pic>
      <p:sp>
        <p:nvSpPr>
          <p:cNvPr id="2" name="Text 11">
            <a:extLst>
              <a:ext uri="{FF2B5EF4-FFF2-40B4-BE49-F238E27FC236}">
                <a16:creationId xmlns:a16="http://schemas.microsoft.com/office/drawing/2014/main" id="{73F8ED90-0328-A0B7-A4F8-E86CF86AB888}"/>
              </a:ext>
            </a:extLst>
          </p:cNvPr>
          <p:cNvSpPr/>
          <p:nvPr/>
        </p:nvSpPr>
        <p:spPr>
          <a:xfrm>
            <a:off x="459486" y="205740"/>
            <a:ext cx="8161020" cy="192024"/>
          </a:xfrm>
          <a:prstGeom prst="rect">
            <a:avLst/>
          </a:prstGeom>
          <a:noFill/>
          <a:ln/>
        </p:spPr>
        <p:txBody>
          <a:bodyPr wrap="square" lIns="0" tIns="0" rIns="0" bIns="0" rtlCol="0" anchor="ctr"/>
          <a:lstStyle/>
          <a:p>
            <a:r>
              <a:rPr lang="en-US" sz="1350" b="1" noProof="0" dirty="0">
                <a:solidFill>
                  <a:srgbClr val="FFFFFF"/>
                </a:solidFill>
                <a:cs typeface="Arial" pitchFamily="34" charset="-120"/>
              </a:rPr>
              <a:t>Transferability between different age groups</a:t>
            </a:r>
          </a:p>
        </p:txBody>
      </p:sp>
    </p:spTree>
    <p:extLst>
      <p:ext uri="{BB962C8B-B14F-4D97-AF65-F5344CB8AC3E}">
        <p14:creationId xmlns:p14="http://schemas.microsoft.com/office/powerpoint/2010/main" val="402454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526386-FE5D-4311-8399-F906B3BA29D0}">
  <we:reference id="WA200010001" version="1.0.0.1" store="en-gb" storeType="omex"/>
  <we:alternateReferences>
    <we:reference id="WA200010001" version="1.0.0.1" store="en-gb" storeType="omex"/>
  </we:alternateReferences>
  <we:properties/>
  <we:bindings/>
  <we:snapshot xmlns:r="http://schemas.openxmlformats.org/officeDocument/2006/relationships"/>
  <we:extLst>
    <a:ext xmlns:a="http://schemas.openxmlformats.org/drawingml/2006/main" uri="{0858819E-0033-43BF-8937-05EC82904868}">
      <we:backgroundApp state="0"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02f9f3c-1e04-44e6-af98-9b092cccd43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E6F980B21957974CA99ED641ECE48580" ma:contentTypeVersion="19" ma:contentTypeDescription="Vytvoří nový dokument" ma:contentTypeScope="" ma:versionID="3973be28fe7215708ae6ee18af58e008">
  <xsd:schema xmlns:xsd="http://www.w3.org/2001/XMLSchema" xmlns:xs="http://www.w3.org/2001/XMLSchema" xmlns:p="http://schemas.microsoft.com/office/2006/metadata/properties" xmlns:ns3="70376572-ab03-4ecb-ae53-4a8768c46cf4" xmlns:ns4="702f9f3c-1e04-44e6-af98-9b092cccd435" targetNamespace="http://schemas.microsoft.com/office/2006/metadata/properties" ma:root="true" ma:fieldsID="9c435fbbac7a5c3aef6e8780400bdbea" ns3:_="" ns4:_="">
    <xsd:import namespace="70376572-ab03-4ecb-ae53-4a8768c46cf4"/>
    <xsd:import namespace="702f9f3c-1e04-44e6-af98-9b092cccd43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AutoKeyPoints" minOccurs="0"/>
                <xsd:element ref="ns4:MediaServiceKeyPoints" minOccurs="0"/>
                <xsd:element ref="ns4:MediaServiceLocation" minOccurs="0"/>
                <xsd:element ref="ns4:MediaLengthInSeconds" minOccurs="0"/>
                <xsd:element ref="ns4:MediaServiceSearchProperties" minOccurs="0"/>
                <xsd:element ref="ns4:_activity" minOccurs="0"/>
                <xsd:element ref="ns4:MediaServiceObjectDetectorVersions" minOccurs="0"/>
                <xsd:element ref="ns4:MediaServiceSystemTag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376572-ab03-4ecb-ae53-4a8768c46cf4" elementFormDefault="qualified">
    <xsd:import namespace="http://schemas.microsoft.com/office/2006/documentManagement/types"/>
    <xsd:import namespace="http://schemas.microsoft.com/office/infopath/2007/PartnerControls"/>
    <xsd:element name="SharedWithUsers" ma:index="8" nillable="true" ma:displayName="Sdílí se s"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dílené s podrobnostmi" ma:internalName="SharedWithDetails" ma:readOnly="true">
      <xsd:simpleType>
        <xsd:restriction base="dms:Note">
          <xsd:maxLength value="255"/>
        </xsd:restriction>
      </xsd:simpleType>
    </xsd:element>
    <xsd:element name="SharingHintHash" ma:index="10" nillable="true" ma:displayName="Hodnota hash upozornění na sdílení"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2f9f3c-1e04-44e6-af98-9b092cccd43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7FCAD2-C683-4F6E-B8D6-4F7A0050415A}">
  <ds:schemaRefs>
    <ds:schemaRef ds:uri="70376572-ab03-4ecb-ae53-4a8768c46cf4"/>
    <ds:schemaRef ds:uri="http://purl.org/dc/elements/1.1/"/>
    <ds:schemaRef ds:uri="http://schemas.microsoft.com/office/2006/documentManagement/types"/>
    <ds:schemaRef ds:uri="http://purl.org/dc/terms/"/>
    <ds:schemaRef ds:uri="http://schemas.microsoft.com/office/2006/metadata/properties"/>
    <ds:schemaRef ds:uri="http://schemas.microsoft.com/office/infopath/2007/PartnerControls"/>
    <ds:schemaRef ds:uri="http://purl.org/dc/dcmitype/"/>
    <ds:schemaRef ds:uri="http://schemas.openxmlformats.org/package/2006/metadata/core-properties"/>
    <ds:schemaRef ds:uri="702f9f3c-1e04-44e6-af98-9b092cccd435"/>
    <ds:schemaRef ds:uri="http://www.w3.org/XML/1998/namespace"/>
  </ds:schemaRefs>
</ds:datastoreItem>
</file>

<file path=customXml/itemProps2.xml><?xml version="1.0" encoding="utf-8"?>
<ds:datastoreItem xmlns:ds="http://schemas.openxmlformats.org/officeDocument/2006/customXml" ds:itemID="{B9AA047B-608F-4DBA-8051-7D1F02A5A4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376572-ab03-4ecb-ae53-4a8768c46cf4"/>
    <ds:schemaRef ds:uri="702f9f3c-1e04-44e6-af98-9b092cccd4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7A41722-6C7B-45EE-8023-D84CBC44B6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13745</TotalTime>
  <Words>17854</Words>
  <Application>Microsoft Office PowerPoint</Application>
  <PresentationFormat>On-screen Show (16:9)</PresentationFormat>
  <Paragraphs>1374</Paragraphs>
  <Slides>97</Slides>
  <Notes>90</Notes>
  <HiddenSlides>35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97</vt:i4>
      </vt:variant>
    </vt:vector>
  </HeadingPairs>
  <TitlesOfParts>
    <vt:vector size="103" baseType="lpstr">
      <vt:lpstr>Aptos</vt:lpstr>
      <vt:lpstr>Arial</vt:lpstr>
      <vt:lpstr>Calibri</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Review – Article Template</dc:title>
  <dc:subject>PptxGenJS Presentation</dc:subject>
  <dc:creator>ML Indoor Environment Project</dc:creator>
  <cp:lastModifiedBy>Houlík Vojtěch (226186)</cp:lastModifiedBy>
  <cp:revision>29</cp:revision>
  <dcterms:created xsi:type="dcterms:W3CDTF">2026-03-25T11:59:13Z</dcterms:created>
  <dcterms:modified xsi:type="dcterms:W3CDTF">2026-04-10T11:29:33Z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0x010100E6F980B21957974CA99ED641ECE48580</vt:lpwstr>
  </property>
</Properties>
</file>